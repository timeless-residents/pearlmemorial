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91440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4572000" cy="320040"/>
          </a:xfrm>
          <a:prstGeom prst="rect">
            <a:avLst/>
          </a:prstGeom>
          <a:noFill/>
        </p:spPr>
        <p:txBody>
          <a:bodyPr wrap="square"/>
          <a:lstStyle/>
          <a:p>
            <a:pPr algn="l">
              <a:lnSpc>
                <a:spcPct val="135000"/>
              </a:lnSpc>
              <a:spcBef>
                <a:spcPts val="0"/>
              </a:spcBef>
              <a:spcAft>
                <a:spcPts val="0"/>
              </a:spcAft>
            </a:pPr>
            <a:r>
              <a:rPr sz="1100" b="0">
                <a:solidFill>
                  <a:srgbClr val="C9A962"/>
                </a:solidFill>
                <a:latin typeface="Calibri"/>
              </a:rPr>
              <a:t>Timeless Consulting</a:t>
            </a:r>
          </a:p>
        </p:txBody>
      </p:sp>
      <p:sp>
        <p:nvSpPr>
          <p:cNvPr id="5" name="TextBox 4"/>
          <p:cNvSpPr txBox="1"/>
          <p:nvPr/>
        </p:nvSpPr>
        <p:spPr>
          <a:xfrm>
            <a:off x="914400" y="1280160"/>
            <a:ext cx="7315200" cy="1371600"/>
          </a:xfrm>
          <a:prstGeom prst="rect">
            <a:avLst/>
          </a:prstGeom>
          <a:noFill/>
        </p:spPr>
        <p:txBody>
          <a:bodyPr wrap="square"/>
          <a:lstStyle/>
          <a:p>
            <a:pPr algn="l">
              <a:lnSpc>
                <a:spcPct val="135000"/>
              </a:lnSpc>
              <a:spcBef>
                <a:spcPts val="0"/>
              </a:spcBef>
              <a:spcAft>
                <a:spcPts val="0"/>
              </a:spcAft>
            </a:pPr>
            <a:r>
              <a:rPr sz="3200" b="1">
                <a:solidFill>
                  <a:srgbClr val="FFFFFF"/>
                </a:solidFill>
                <a:latin typeface="Calibri"/>
              </a:rPr>
              <a:t>What will you preserve
for 100 years?</a:t>
            </a:r>
          </a:p>
        </p:txBody>
      </p:sp>
      <p:sp>
        <p:nvSpPr>
          <p:cNvPr id="6" name="TextBox 5"/>
          <p:cNvSpPr txBox="1"/>
          <p:nvPr/>
        </p:nvSpPr>
        <p:spPr>
          <a:xfrm>
            <a:off x="914400" y="2926080"/>
            <a:ext cx="6400800" cy="822960"/>
          </a:xfrm>
          <a:prstGeom prst="rect">
            <a:avLst/>
          </a:prstGeom>
          <a:noFill/>
        </p:spPr>
        <p:txBody>
          <a:bodyPr wrap="square"/>
          <a:lstStyle/>
          <a:p>
            <a:pPr algn="l">
              <a:lnSpc>
                <a:spcPct val="135000"/>
              </a:lnSpc>
              <a:spcBef>
                <a:spcPts val="0"/>
              </a:spcBef>
              <a:spcAft>
                <a:spcPts val="0"/>
              </a:spcAft>
            </a:pPr>
            <a:r>
              <a:rPr sz="1400" b="0">
                <a:solidFill>
                  <a:srgbClr val="BBBBCC"/>
                </a:solidFill>
                <a:latin typeface="Calibri"/>
              </a:rPr>
              <a:t>In an age where AI answers every question,
this is the one only you can answer.</a:t>
            </a:r>
          </a:p>
        </p:txBody>
      </p:sp>
      <p:sp>
        <p:nvSpPr>
          <p:cNvPr id="7" name="Rectangle 6"/>
          <p:cNvSpPr/>
          <p:nvPr/>
        </p:nvSpPr>
        <p:spPr>
          <a:xfrm>
            <a:off x="0" y="4549140"/>
            <a:ext cx="9144000" cy="27432"/>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640580"/>
            <a:ext cx="27432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Universal Need Inc.</a:t>
            </a:r>
          </a:p>
        </p:txBody>
      </p:sp>
      <p:sp>
        <p:nvSpPr>
          <p:cNvPr id="9" name="TextBox 8"/>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TokiStorage</a:t>
            </a:r>
          </a:p>
        </p:txBody>
      </p:sp>
      <p:sp>
        <p:nvSpPr>
          <p:cNvPr id="10" name="TextBox 9"/>
          <p:cNvSpPr txBox="1"/>
          <p:nvPr/>
        </p:nvSpPr>
        <p:spPr>
          <a:xfrm>
            <a:off x="7315200" y="4640580"/>
            <a:ext cx="1371600" cy="320040"/>
          </a:xfrm>
          <a:prstGeom prst="rect">
            <a:avLst/>
          </a:prstGeom>
          <a:noFill/>
        </p:spPr>
        <p:txBody>
          <a:bodyPr wrap="square"/>
          <a:lstStyle/>
          <a:p>
            <a:pPr algn="r">
              <a:lnSpc>
                <a:spcPct val="135000"/>
              </a:lnSpc>
              <a:spcBef>
                <a:spcPts val="0"/>
              </a:spcBef>
              <a:spcAft>
                <a:spcPts val="0"/>
              </a:spcAft>
            </a:pPr>
            <a:r>
              <a:rPr sz="900" b="0">
                <a:solidFill>
                  <a:srgbClr val="94A3B8"/>
                </a:solidFill>
                <a:latin typeface="Calibri"/>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AI generates optimal answers. But it cannot decide what to preserve. The choice of meaning belongs to you alone.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WHY THIS QUESTION</a:t>
            </a:r>
          </a:p>
        </p:txBody>
      </p:sp>
      <p:sp>
        <p:nvSpPr>
          <p:cNvPr id="5" name="Rectangle 4"/>
          <p:cNvSpPr/>
          <p:nvPr/>
        </p:nvSpPr>
        <p:spPr>
          <a:xfrm>
            <a:off x="457200"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01</a:t>
            </a:r>
          </a:p>
        </p:txBody>
      </p:sp>
      <p:sp>
        <p:nvSpPr>
          <p:cNvPr id="7" name="TextBox 6"/>
          <p:cNvSpPr txBox="1"/>
          <p:nvPr/>
        </p:nvSpPr>
        <p:spPr>
          <a:xfrm>
            <a:off x="594360" y="1463040"/>
            <a:ext cx="2331720" cy="6858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AI produces answers. It cannot frame the question.</a:t>
            </a:r>
          </a:p>
        </p:txBody>
      </p:sp>
      <p:sp>
        <p:nvSpPr>
          <p:cNvPr id="8" name="TextBox 7"/>
          <p:cNvSpPr txBox="1"/>
          <p:nvPr/>
        </p:nvSpPr>
        <p:spPr>
          <a:xfrm>
            <a:off x="594360" y="2240280"/>
            <a:ext cx="2331720" cy="2103120"/>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Generative AI produces research, analysis, and strategy in seconds. Yet "What will you preserve for 100 years?" can only be answered from the context of your own life.</a:t>
            </a:r>
          </a:p>
        </p:txBody>
      </p:sp>
      <p:sp>
        <p:nvSpPr>
          <p:cNvPr id="9" name="Rectangle 8"/>
          <p:cNvSpPr/>
          <p:nvPr/>
        </p:nvSpPr>
        <p:spPr>
          <a:xfrm>
            <a:off x="3273552"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02</a:t>
            </a:r>
          </a:p>
        </p:txBody>
      </p:sp>
      <p:sp>
        <p:nvSpPr>
          <p:cNvPr id="11" name="TextBox 10"/>
          <p:cNvSpPr txBox="1"/>
          <p:nvPr/>
        </p:nvSpPr>
        <p:spPr>
          <a:xfrm>
            <a:off x="3410712" y="1463040"/>
            <a:ext cx="2331720" cy="6858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Wealth transfer is solved. Meaning transfer is not.</a:t>
            </a:r>
          </a:p>
        </p:txBody>
      </p:sp>
      <p:sp>
        <p:nvSpPr>
          <p:cNvPr id="12" name="TextBox 11"/>
          <p:cNvSpPr txBox="1"/>
          <p:nvPr/>
        </p:nvSpPr>
        <p:spPr>
          <a:xfrm>
            <a:off x="3410712" y="2240280"/>
            <a:ext cx="2331720" cy="2103120"/>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Estate planning, business succession, asset management—the infrastructure for transferring what you own is mature. But the story of why you leave it cannot be designed by institutions.</a:t>
            </a:r>
          </a:p>
        </p:txBody>
      </p:sp>
      <p:sp>
        <p:nvSpPr>
          <p:cNvPr id="13" name="Rectangle 12"/>
          <p:cNvSpPr/>
          <p:nvPr/>
        </p:nvSpPr>
        <p:spPr>
          <a:xfrm>
            <a:off x="6089904"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03</a:t>
            </a:r>
          </a:p>
        </p:txBody>
      </p:sp>
      <p:sp>
        <p:nvSpPr>
          <p:cNvPr id="15" name="TextBox 14"/>
          <p:cNvSpPr txBox="1"/>
          <p:nvPr/>
        </p:nvSpPr>
        <p:spPr>
          <a:xfrm>
            <a:off x="6227064" y="1463040"/>
            <a:ext cx="2331720" cy="6858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Proof of existence is a gift to the future.</a:t>
            </a:r>
          </a:p>
        </p:txBody>
      </p:sp>
      <p:sp>
        <p:nvSpPr>
          <p:cNvPr id="16" name="TextBox 15"/>
          <p:cNvSpPr txBox="1"/>
          <p:nvPr/>
        </p:nvSpPr>
        <p:spPr>
          <a:xfrm>
            <a:off x="6227064" y="2240280"/>
            <a:ext cx="2331720" cy="2103120"/>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What you leave behind becomes a gift to someone in the future. To your family, your community, generations not yet born. The knowledge that someone was truly here becomes an anchor.</a:t>
            </a:r>
          </a:p>
        </p:txBody>
      </p:sp>
      <p:sp>
        <p:nvSpPr>
          <p:cNvPr id="17" name="Rectangle 1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Timeless Consulting</a:t>
            </a:r>
          </a:p>
        </p:txBody>
      </p:sp>
      <p:sp>
        <p:nvSpPr>
          <p:cNvPr id="19" name="TextBox 1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0" name="TextBox 1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What you're buying is not a product. It's dialogue with a person who holds a millennium perspective.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OUR APPROACH</a:t>
            </a:r>
          </a:p>
        </p:txBody>
      </p:sp>
      <p:sp>
        <p:nvSpPr>
          <p:cNvPr id="5" name="Rectangle 4"/>
          <p:cNvSpPr/>
          <p:nvPr/>
        </p:nvSpPr>
        <p:spPr>
          <a:xfrm>
            <a:off x="457200" y="1005840"/>
            <a:ext cx="7863840" cy="6858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54864" cy="685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051560"/>
            <a:ext cx="7543800" cy="594360"/>
          </a:xfrm>
          <a:prstGeom prst="rect">
            <a:avLst/>
          </a:prstGeom>
          <a:noFill/>
        </p:spPr>
        <p:txBody>
          <a:bodyPr wrap="square" anchor="ctr"/>
          <a:lstStyle/>
          <a:p>
            <a:pPr algn="l">
              <a:lnSpc>
                <a:spcPct val="135000"/>
              </a:lnSpc>
              <a:spcBef>
                <a:spcPts val="0"/>
              </a:spcBef>
              <a:spcAft>
                <a:spcPts val="0"/>
              </a:spcAft>
            </a:pPr>
            <a:r>
              <a:rPr sz="1100" b="1">
                <a:solidFill>
                  <a:srgbClr val="1E293B"/>
                </a:solidFill>
                <a:latin typeface="Calibri"/>
              </a:rPr>
              <a:t>From dialogue with a millennium perspective,
we design your proof of existence.</a:t>
            </a:r>
          </a:p>
        </p:txBody>
      </p:sp>
      <p:sp>
        <p:nvSpPr>
          <p:cNvPr id="8" name="Rectangle 7"/>
          <p:cNvSpPr/>
          <p:nvPr/>
        </p:nvSpPr>
        <p:spPr>
          <a:xfrm>
            <a:off x="457200" y="1783080"/>
            <a:ext cx="3822191"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56232"/>
            <a:ext cx="548640" cy="274320"/>
          </a:xfrm>
          <a:prstGeom prst="rect">
            <a:avLst/>
          </a:prstGeom>
          <a:noFill/>
        </p:spPr>
        <p:txBody>
          <a:bodyPr wrap="square"/>
          <a:lstStyle/>
          <a:p>
            <a:pPr algn="l">
              <a:lnSpc>
                <a:spcPct val="135000"/>
              </a:lnSpc>
              <a:spcBef>
                <a:spcPts val="0"/>
              </a:spcBef>
              <a:spcAft>
                <a:spcPts val="0"/>
              </a:spcAft>
            </a:pPr>
            <a:r>
              <a:rPr sz="1600" b="1">
                <a:solidFill>
                  <a:srgbClr val="2563EB"/>
                </a:solidFill>
                <a:latin typeface="Calibri"/>
              </a:rPr>
              <a:t>01</a:t>
            </a:r>
          </a:p>
        </p:txBody>
      </p:sp>
      <p:sp>
        <p:nvSpPr>
          <p:cNvPr id="10" name="TextBox 9"/>
          <p:cNvSpPr txBox="1"/>
          <p:nvPr/>
        </p:nvSpPr>
        <p:spPr>
          <a:xfrm>
            <a:off x="594360" y="2130552"/>
            <a:ext cx="3547871" cy="32004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Dialogue with the millennium question</a:t>
            </a:r>
          </a:p>
        </p:txBody>
      </p:sp>
      <p:sp>
        <p:nvSpPr>
          <p:cNvPr id="11" name="TextBox 10"/>
          <p:cNvSpPr txBox="1"/>
          <p:nvPr/>
        </p:nvSpPr>
        <p:spPr>
          <a:xfrm>
            <a:off x="594360" y="2496312"/>
            <a:ext cx="3547871"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"What will you preserve for 100 years?" — approached through 9 intellectual domains: psychology, religion, economics, AI, and space.</a:t>
            </a:r>
          </a:p>
        </p:txBody>
      </p:sp>
      <p:sp>
        <p:nvSpPr>
          <p:cNvPr id="12" name="Rectangle 11"/>
          <p:cNvSpPr/>
          <p:nvPr/>
        </p:nvSpPr>
        <p:spPr>
          <a:xfrm>
            <a:off x="4507991" y="1783080"/>
            <a:ext cx="3822191"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1" y="1856232"/>
            <a:ext cx="548640" cy="274320"/>
          </a:xfrm>
          <a:prstGeom prst="rect">
            <a:avLst/>
          </a:prstGeom>
          <a:noFill/>
        </p:spPr>
        <p:txBody>
          <a:bodyPr wrap="square"/>
          <a:lstStyle/>
          <a:p>
            <a:pPr algn="l">
              <a:lnSpc>
                <a:spcPct val="135000"/>
              </a:lnSpc>
              <a:spcBef>
                <a:spcPts val="0"/>
              </a:spcBef>
              <a:spcAft>
                <a:spcPts val="0"/>
              </a:spcAft>
            </a:pPr>
            <a:r>
              <a:rPr sz="1600" b="1">
                <a:solidFill>
                  <a:srgbClr val="2563EB"/>
                </a:solidFill>
                <a:latin typeface="Calibri"/>
              </a:rPr>
              <a:t>02</a:t>
            </a:r>
          </a:p>
        </p:txBody>
      </p:sp>
      <p:sp>
        <p:nvSpPr>
          <p:cNvPr id="14" name="TextBox 13"/>
          <p:cNvSpPr txBox="1"/>
          <p:nvPr/>
        </p:nvSpPr>
        <p:spPr>
          <a:xfrm>
            <a:off x="4645151" y="2130552"/>
            <a:ext cx="3547871" cy="32004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Proof of existence design</a:t>
            </a:r>
          </a:p>
        </p:txBody>
      </p:sp>
      <p:sp>
        <p:nvSpPr>
          <p:cNvPr id="15" name="TextBox 14"/>
          <p:cNvSpPr txBox="1"/>
          <p:nvPr/>
        </p:nvSpPr>
        <p:spPr>
          <a:xfrm>
            <a:off x="4645151" y="2496312"/>
            <a:ext cx="3547871"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Your life story, values, and messages structured into a "proof of existence" designed to reach a millennium into the future.</a:t>
            </a:r>
          </a:p>
        </p:txBody>
      </p:sp>
      <p:sp>
        <p:nvSpPr>
          <p:cNvPr id="16" name="Rectangle 15"/>
          <p:cNvSpPr/>
          <p:nvPr/>
        </p:nvSpPr>
        <p:spPr>
          <a:xfrm>
            <a:off x="457200" y="3172968"/>
            <a:ext cx="3822191"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246120"/>
            <a:ext cx="548640" cy="274320"/>
          </a:xfrm>
          <a:prstGeom prst="rect">
            <a:avLst/>
          </a:prstGeom>
          <a:noFill/>
        </p:spPr>
        <p:txBody>
          <a:bodyPr wrap="square"/>
          <a:lstStyle/>
          <a:p>
            <a:pPr algn="l">
              <a:lnSpc>
                <a:spcPct val="135000"/>
              </a:lnSpc>
              <a:spcBef>
                <a:spcPts val="0"/>
              </a:spcBef>
              <a:spcAft>
                <a:spcPts val="0"/>
              </a:spcAft>
            </a:pPr>
            <a:r>
              <a:rPr sz="1600" b="1">
                <a:solidFill>
                  <a:srgbClr val="2563EB"/>
                </a:solidFill>
                <a:latin typeface="Calibri"/>
              </a:rPr>
              <a:t>03</a:t>
            </a:r>
          </a:p>
        </p:txBody>
      </p:sp>
      <p:sp>
        <p:nvSpPr>
          <p:cNvPr id="18" name="TextBox 17"/>
          <p:cNvSpPr txBox="1"/>
          <p:nvPr/>
        </p:nvSpPr>
        <p:spPr>
          <a:xfrm>
            <a:off x="594360" y="3520440"/>
            <a:ext cx="3547871" cy="32004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Quartz glass inscription</a:t>
            </a:r>
          </a:p>
        </p:txBody>
      </p:sp>
      <p:sp>
        <p:nvSpPr>
          <p:cNvPr id="19" name="TextBox 18"/>
          <p:cNvSpPr txBox="1"/>
          <p:nvPr/>
        </p:nvSpPr>
        <p:spPr>
          <a:xfrm>
            <a:off x="594360" y="3886200"/>
            <a:ext cx="3547871"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No servers, no power, no institutional dependency. Guaranteed for 1,000 years. Readable with any smartphone camera.</a:t>
            </a:r>
          </a:p>
        </p:txBody>
      </p:sp>
      <p:sp>
        <p:nvSpPr>
          <p:cNvPr id="20" name="Rectangle 19"/>
          <p:cNvSpPr/>
          <p:nvPr/>
        </p:nvSpPr>
        <p:spPr>
          <a:xfrm>
            <a:off x="4507991" y="3172968"/>
            <a:ext cx="3822191"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5151" y="3246120"/>
            <a:ext cx="548640" cy="274320"/>
          </a:xfrm>
          <a:prstGeom prst="rect">
            <a:avLst/>
          </a:prstGeom>
          <a:noFill/>
        </p:spPr>
        <p:txBody>
          <a:bodyPr wrap="square"/>
          <a:lstStyle/>
          <a:p>
            <a:pPr algn="l">
              <a:lnSpc>
                <a:spcPct val="135000"/>
              </a:lnSpc>
              <a:spcBef>
                <a:spcPts val="0"/>
              </a:spcBef>
              <a:spcAft>
                <a:spcPts val="0"/>
              </a:spcAft>
            </a:pPr>
            <a:r>
              <a:rPr sz="1600" b="1">
                <a:solidFill>
                  <a:srgbClr val="2563EB"/>
                </a:solidFill>
                <a:latin typeface="Calibri"/>
              </a:rPr>
              <a:t>04</a:t>
            </a:r>
          </a:p>
        </p:txBody>
      </p:sp>
      <p:sp>
        <p:nvSpPr>
          <p:cNvPr id="22" name="TextBox 21"/>
          <p:cNvSpPr txBox="1"/>
          <p:nvPr/>
        </p:nvSpPr>
        <p:spPr>
          <a:xfrm>
            <a:off x="4645151" y="3520440"/>
            <a:ext cx="3547871" cy="32004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Ongoing curation</a:t>
            </a:r>
          </a:p>
        </p:txBody>
      </p:sp>
      <p:sp>
        <p:nvSpPr>
          <p:cNvPr id="23" name="TextBox 22"/>
          <p:cNvSpPr txBox="1"/>
          <p:nvPr/>
        </p:nvSpPr>
        <p:spPr>
          <a:xfrm>
            <a:off x="4645151" y="3886200"/>
            <a:ext cx="3547871"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A life cannot be told in a single sitting. At each milestone, we update your proof of existence and grow your archive.</a:t>
            </a:r>
          </a:p>
        </p:txBody>
      </p:sp>
      <p:sp>
        <p:nvSpPr>
          <p:cNvPr id="24" name="Rectangle 23"/>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Timeless Consulting</a:t>
            </a:r>
          </a:p>
        </p:txBody>
      </p:sp>
      <p:sp>
        <p:nvSpPr>
          <p:cNvPr id="26" name="TextBox 25"/>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7" name="TextBox 26"/>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From dialogue to a millennium. Four steps to give your proof of existence tangible form.</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PROCESS</a:t>
            </a:r>
          </a:p>
        </p:txBody>
      </p:sp>
      <p:sp>
        <p:nvSpPr>
          <p:cNvPr id="5" name="Rectangle 4"/>
          <p:cNvSpPr/>
          <p:nvPr/>
        </p:nvSpPr>
        <p:spPr>
          <a:xfrm>
            <a:off x="457200" y="1051560"/>
            <a:ext cx="7863840" cy="877824"/>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3444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234440"/>
            <a:ext cx="457200" cy="457200"/>
          </a:xfrm>
          <a:prstGeom prst="rect">
            <a:avLst/>
          </a:prstGeom>
          <a:noFill/>
        </p:spPr>
        <p:txBody>
          <a:bodyPr wrap="square" anchor="ctr"/>
          <a:lstStyle/>
          <a:p>
            <a:pPr algn="ctr">
              <a:lnSpc>
                <a:spcPct val="135000"/>
              </a:lnSpc>
              <a:spcBef>
                <a:spcPts val="0"/>
              </a:spcBef>
              <a:spcAft>
                <a:spcPts val="0"/>
              </a:spcAft>
            </a:pPr>
            <a:r>
              <a:rPr sz="1200" b="1">
                <a:solidFill>
                  <a:srgbClr val="FFFFFF"/>
                </a:solidFill>
                <a:latin typeface="Calibri"/>
              </a:rPr>
              <a:t>01</a:t>
            </a:r>
          </a:p>
        </p:txBody>
      </p:sp>
      <p:sp>
        <p:nvSpPr>
          <p:cNvPr id="8" name="TextBox 7"/>
          <p:cNvSpPr txBox="1"/>
          <p:nvPr/>
        </p:nvSpPr>
        <p:spPr>
          <a:xfrm>
            <a:off x="1234440" y="1124712"/>
            <a:ext cx="6949440" cy="27432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Initial Dialogue (90 min)</a:t>
            </a:r>
          </a:p>
        </p:txBody>
      </p:sp>
      <p:sp>
        <p:nvSpPr>
          <p:cNvPr id="9" name="TextBox 8"/>
          <p:cNvSpPr txBox="1"/>
          <p:nvPr/>
        </p:nvSpPr>
        <p:spPr>
          <a:xfrm>
            <a:off x="1234440" y="1380744"/>
            <a:ext cx="6949440"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Centered on "What do you want to preserve for 100 years?", we listen to the story of your life. For many, this dialogue becomes a profound moment of reflection.</a:t>
            </a:r>
          </a:p>
        </p:txBody>
      </p:sp>
      <p:sp>
        <p:nvSpPr>
          <p:cNvPr id="10" name="Rectangle 9"/>
          <p:cNvSpPr/>
          <p:nvPr/>
        </p:nvSpPr>
        <p:spPr>
          <a:xfrm>
            <a:off x="457200" y="1984248"/>
            <a:ext cx="7863840" cy="877824"/>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1792" y="2167128"/>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167128"/>
            <a:ext cx="457200" cy="457200"/>
          </a:xfrm>
          <a:prstGeom prst="rect">
            <a:avLst/>
          </a:prstGeom>
          <a:noFill/>
        </p:spPr>
        <p:txBody>
          <a:bodyPr wrap="square" anchor="ctr"/>
          <a:lstStyle/>
          <a:p>
            <a:pPr algn="ctr">
              <a:lnSpc>
                <a:spcPct val="135000"/>
              </a:lnSpc>
              <a:spcBef>
                <a:spcPts val="0"/>
              </a:spcBef>
              <a:spcAft>
                <a:spcPts val="0"/>
              </a:spcAft>
            </a:pPr>
            <a:r>
              <a:rPr sz="1200" b="1">
                <a:solidFill>
                  <a:srgbClr val="FFFFFF"/>
                </a:solidFill>
                <a:latin typeface="Calibri"/>
              </a:rPr>
              <a:t>02</a:t>
            </a:r>
          </a:p>
        </p:txBody>
      </p:sp>
      <p:sp>
        <p:nvSpPr>
          <p:cNvPr id="13" name="TextBox 12"/>
          <p:cNvSpPr txBox="1"/>
          <p:nvPr/>
        </p:nvSpPr>
        <p:spPr>
          <a:xfrm>
            <a:off x="1234440" y="2057400"/>
            <a:ext cx="6949440" cy="27432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Proof of Existence Design</a:t>
            </a:r>
          </a:p>
        </p:txBody>
      </p:sp>
      <p:sp>
        <p:nvSpPr>
          <p:cNvPr id="14" name="TextBox 13"/>
          <p:cNvSpPr txBox="1"/>
          <p:nvPr/>
        </p:nvSpPr>
        <p:spPr>
          <a:xfrm>
            <a:off x="1234440" y="2313432"/>
            <a:ext cx="6949440"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Based on our dialogue, we design what to preserve, for whom, in what form. Text, photos, audio, video — the optimal media and structure.</a:t>
            </a:r>
          </a:p>
        </p:txBody>
      </p:sp>
      <p:sp>
        <p:nvSpPr>
          <p:cNvPr id="15" name="Rectangle 14"/>
          <p:cNvSpPr/>
          <p:nvPr/>
        </p:nvSpPr>
        <p:spPr>
          <a:xfrm>
            <a:off x="457200" y="2916936"/>
            <a:ext cx="7863840" cy="877824"/>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099816"/>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099816"/>
            <a:ext cx="457200" cy="457200"/>
          </a:xfrm>
          <a:prstGeom prst="rect">
            <a:avLst/>
          </a:prstGeom>
          <a:noFill/>
        </p:spPr>
        <p:txBody>
          <a:bodyPr wrap="square" anchor="ctr"/>
          <a:lstStyle/>
          <a:p>
            <a:pPr algn="ctr">
              <a:lnSpc>
                <a:spcPct val="135000"/>
              </a:lnSpc>
              <a:spcBef>
                <a:spcPts val="0"/>
              </a:spcBef>
              <a:spcAft>
                <a:spcPts val="0"/>
              </a:spcAft>
            </a:pPr>
            <a:r>
              <a:rPr sz="1200" b="1">
                <a:solidFill>
                  <a:srgbClr val="FFFFFF"/>
                </a:solidFill>
                <a:latin typeface="Calibri"/>
              </a:rPr>
              <a:t>03</a:t>
            </a:r>
          </a:p>
        </p:txBody>
      </p:sp>
      <p:sp>
        <p:nvSpPr>
          <p:cNvPr id="18" name="TextBox 17"/>
          <p:cNvSpPr txBox="1"/>
          <p:nvPr/>
        </p:nvSpPr>
        <p:spPr>
          <a:xfrm>
            <a:off x="1234440" y="2990088"/>
            <a:ext cx="6949440" cy="27432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Content Creation &amp; Curation</a:t>
            </a:r>
          </a:p>
        </p:txBody>
      </p:sp>
      <p:sp>
        <p:nvSpPr>
          <p:cNvPr id="19" name="TextBox 18"/>
          <p:cNvSpPr txBox="1"/>
          <p:nvPr/>
        </p:nvSpPr>
        <p:spPr>
          <a:xfrm>
            <a:off x="1234440" y="3246120"/>
            <a:ext cx="6949440"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We produce your proof of existence. Where needed, we coordinate professional photography, recording, and editing.</a:t>
            </a:r>
          </a:p>
        </p:txBody>
      </p:sp>
      <p:sp>
        <p:nvSpPr>
          <p:cNvPr id="20" name="Rectangle 19"/>
          <p:cNvSpPr/>
          <p:nvPr/>
        </p:nvSpPr>
        <p:spPr>
          <a:xfrm>
            <a:off x="457200" y="3849624"/>
            <a:ext cx="7863840" cy="877824"/>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1792" y="4032504"/>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032504"/>
            <a:ext cx="457200" cy="457200"/>
          </a:xfrm>
          <a:prstGeom prst="rect">
            <a:avLst/>
          </a:prstGeom>
          <a:noFill/>
        </p:spPr>
        <p:txBody>
          <a:bodyPr wrap="square" anchor="ctr"/>
          <a:lstStyle/>
          <a:p>
            <a:pPr algn="ctr">
              <a:lnSpc>
                <a:spcPct val="135000"/>
              </a:lnSpc>
              <a:spcBef>
                <a:spcPts val="0"/>
              </a:spcBef>
              <a:spcAft>
                <a:spcPts val="0"/>
              </a:spcAft>
            </a:pPr>
            <a:r>
              <a:rPr sz="1200" b="1">
                <a:solidFill>
                  <a:srgbClr val="FFFFFF"/>
                </a:solidFill>
                <a:latin typeface="Calibri"/>
              </a:rPr>
              <a:t>04</a:t>
            </a:r>
          </a:p>
        </p:txBody>
      </p:sp>
      <p:sp>
        <p:nvSpPr>
          <p:cNvPr id="23" name="TextBox 22"/>
          <p:cNvSpPr txBox="1"/>
          <p:nvPr/>
        </p:nvSpPr>
        <p:spPr>
          <a:xfrm>
            <a:off x="1234440" y="3922776"/>
            <a:ext cx="6949440" cy="27432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Quartz Glass Inscription &amp; Delivery</a:t>
            </a:r>
          </a:p>
        </p:txBody>
      </p:sp>
      <p:sp>
        <p:nvSpPr>
          <p:cNvPr id="24" name="TextBox 23"/>
          <p:cNvSpPr txBox="1"/>
          <p:nvPr/>
        </p:nvSpPr>
        <p:spPr>
          <a:xfrm>
            <a:off x="1234440" y="4178808"/>
            <a:ext cx="6949440"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Inscribed on quartz glass with a QR code. A smartphone camera is all it takes for someone 1,000 years from now to encounter your story.</a:t>
            </a:r>
          </a:p>
        </p:txBody>
      </p:sp>
      <p:sp>
        <p:nvSpPr>
          <p:cNvPr id="25" name="Rectangle 24"/>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Timeless Consulting</a:t>
            </a:r>
          </a:p>
        </p:txBody>
      </p:sp>
      <p:sp>
        <p:nvSpPr>
          <p:cNvPr id="27" name="TextBox 26"/>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8" name="TextBox 27"/>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For anyone who finds meaning in leaving something behind — six high-affinity audiences</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WHO THIS IS FOR</a:t>
            </a:r>
          </a:p>
        </p:txBody>
      </p:sp>
      <p:sp>
        <p:nvSpPr>
          <p:cNvPr id="5" name="Rectangle 4"/>
          <p:cNvSpPr/>
          <p:nvPr/>
        </p:nvSpPr>
        <p:spPr>
          <a:xfrm>
            <a:off x="457200" y="11430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68196" y="1252728"/>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68196" y="1252728"/>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C</a:t>
            </a:r>
          </a:p>
        </p:txBody>
      </p:sp>
      <p:sp>
        <p:nvSpPr>
          <p:cNvPr id="8" name="TextBox 7"/>
          <p:cNvSpPr txBox="1"/>
          <p:nvPr/>
        </p:nvSpPr>
        <p:spPr>
          <a:xfrm>
            <a:off x="530352" y="1691640"/>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Founders &amp; CEOs</a:t>
            </a:r>
          </a:p>
        </p:txBody>
      </p:sp>
      <p:sp>
        <p:nvSpPr>
          <p:cNvPr id="9" name="TextBox 8"/>
          <p:cNvSpPr txBox="1"/>
          <p:nvPr/>
        </p:nvSpPr>
        <p:spPr>
          <a:xfrm>
            <a:off x="530352" y="2011680"/>
            <a:ext cx="2459736" cy="457200"/>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Your philosophy and story, beyond the company you built</a:t>
            </a:r>
          </a:p>
        </p:txBody>
      </p:sp>
      <p:sp>
        <p:nvSpPr>
          <p:cNvPr id="10" name="Rectangle 9"/>
          <p:cNvSpPr/>
          <p:nvPr/>
        </p:nvSpPr>
        <p:spPr>
          <a:xfrm>
            <a:off x="3273552" y="11430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84548" y="1252728"/>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4548" y="1252728"/>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F</a:t>
            </a:r>
          </a:p>
        </p:txBody>
      </p:sp>
      <p:sp>
        <p:nvSpPr>
          <p:cNvPr id="13" name="TextBox 12"/>
          <p:cNvSpPr txBox="1"/>
          <p:nvPr/>
        </p:nvSpPr>
        <p:spPr>
          <a:xfrm>
            <a:off x="3346704" y="1691640"/>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Family Legacy Seekers</a:t>
            </a:r>
          </a:p>
        </p:txBody>
      </p:sp>
      <p:sp>
        <p:nvSpPr>
          <p:cNvPr id="14" name="TextBox 13"/>
          <p:cNvSpPr txBox="1"/>
          <p:nvPr/>
        </p:nvSpPr>
        <p:spPr>
          <a:xfrm>
            <a:off x="3346704" y="2011680"/>
            <a:ext cx="2459736" cy="457200"/>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Family history, memories, words to pass on for a millennium</a:t>
            </a:r>
          </a:p>
        </p:txBody>
      </p:sp>
      <p:sp>
        <p:nvSpPr>
          <p:cNvPr id="15" name="Rectangle 14"/>
          <p:cNvSpPr/>
          <p:nvPr/>
        </p:nvSpPr>
        <p:spPr>
          <a:xfrm>
            <a:off x="6089904" y="11430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0900" y="1252728"/>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0900" y="1252728"/>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R</a:t>
            </a:r>
          </a:p>
        </p:txBody>
      </p:sp>
      <p:sp>
        <p:nvSpPr>
          <p:cNvPr id="18" name="TextBox 17"/>
          <p:cNvSpPr txBox="1"/>
          <p:nvPr/>
        </p:nvSpPr>
        <p:spPr>
          <a:xfrm>
            <a:off x="6163056" y="1691640"/>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Religious &amp; Cultural Leaders</a:t>
            </a:r>
          </a:p>
        </p:txBody>
      </p:sp>
      <p:sp>
        <p:nvSpPr>
          <p:cNvPr id="19" name="TextBox 18"/>
          <p:cNvSpPr txBox="1"/>
          <p:nvPr/>
        </p:nvSpPr>
        <p:spPr>
          <a:xfrm>
            <a:off x="6163056" y="2011680"/>
            <a:ext cx="2459736" cy="457200"/>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Teachings, works, spiritual heritage beyond institutions</a:t>
            </a:r>
          </a:p>
        </p:txBody>
      </p:sp>
      <p:sp>
        <p:nvSpPr>
          <p:cNvPr id="20" name="Rectangle 19"/>
          <p:cNvSpPr/>
          <p:nvPr/>
        </p:nvSpPr>
        <p:spPr>
          <a:xfrm>
            <a:off x="457200" y="26974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68196" y="2807208"/>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8196" y="2807208"/>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A</a:t>
            </a:r>
          </a:p>
        </p:txBody>
      </p:sp>
      <p:sp>
        <p:nvSpPr>
          <p:cNvPr id="23" name="TextBox 22"/>
          <p:cNvSpPr txBox="1"/>
          <p:nvPr/>
        </p:nvSpPr>
        <p:spPr>
          <a:xfrm>
            <a:off x="530352" y="3246120"/>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Artists &amp; Creators</a:t>
            </a:r>
          </a:p>
        </p:txBody>
      </p:sp>
      <p:sp>
        <p:nvSpPr>
          <p:cNvPr id="24" name="TextBox 23"/>
          <p:cNvSpPr txBox="1"/>
          <p:nvPr/>
        </p:nvSpPr>
        <p:spPr>
          <a:xfrm>
            <a:off x="530352" y="3566160"/>
            <a:ext cx="2459736" cy="457200"/>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Your work and creative intent, beyond any platform</a:t>
            </a:r>
          </a:p>
        </p:txBody>
      </p:sp>
      <p:sp>
        <p:nvSpPr>
          <p:cNvPr id="25" name="Rectangle 24"/>
          <p:cNvSpPr/>
          <p:nvPr/>
        </p:nvSpPr>
        <p:spPr>
          <a:xfrm>
            <a:off x="3273552" y="26974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384548" y="2807208"/>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4548" y="2807208"/>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L</a:t>
            </a:r>
          </a:p>
        </p:txBody>
      </p:sp>
      <p:sp>
        <p:nvSpPr>
          <p:cNvPr id="28" name="TextBox 27"/>
          <p:cNvSpPr txBox="1"/>
          <p:nvPr/>
        </p:nvSpPr>
        <p:spPr>
          <a:xfrm>
            <a:off x="3346704" y="3246120"/>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Communities</a:t>
            </a:r>
          </a:p>
        </p:txBody>
      </p:sp>
      <p:sp>
        <p:nvSpPr>
          <p:cNvPr id="29" name="TextBox 28"/>
          <p:cNvSpPr txBox="1"/>
          <p:nvPr/>
        </p:nvSpPr>
        <p:spPr>
          <a:xfrm>
            <a:off x="3346704" y="3566160"/>
            <a:ext cx="2459736" cy="457200"/>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Town memories, festivals, dialects, disaster lessons for the future</a:t>
            </a:r>
          </a:p>
        </p:txBody>
      </p:sp>
      <p:sp>
        <p:nvSpPr>
          <p:cNvPr id="30" name="Rectangle 29"/>
          <p:cNvSpPr/>
          <p:nvPr/>
        </p:nvSpPr>
        <p:spPr>
          <a:xfrm>
            <a:off x="6089904" y="26974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200900" y="2807208"/>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00900" y="2807208"/>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E</a:t>
            </a:r>
          </a:p>
        </p:txBody>
      </p:sp>
      <p:sp>
        <p:nvSpPr>
          <p:cNvPr id="33" name="TextBox 32"/>
          <p:cNvSpPr txBox="1"/>
          <p:nvPr/>
        </p:nvSpPr>
        <p:spPr>
          <a:xfrm>
            <a:off x="6163056" y="3246120"/>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Educators &amp; Researchers</a:t>
            </a:r>
          </a:p>
        </p:txBody>
      </p:sp>
      <p:sp>
        <p:nvSpPr>
          <p:cNvPr id="34" name="TextBox 33"/>
          <p:cNvSpPr txBox="1"/>
          <p:nvPr/>
        </p:nvSpPr>
        <p:spPr>
          <a:xfrm>
            <a:off x="6163056" y="3566160"/>
            <a:ext cx="2459736" cy="457200"/>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Intellectual lineage, discovery context, mentor-student narratives</a:t>
            </a:r>
          </a:p>
        </p:txBody>
      </p:sp>
      <p:sp>
        <p:nvSpPr>
          <p:cNvPr id="35" name="Rectangle 34"/>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Timeless Consulting</a:t>
            </a:r>
          </a:p>
        </p:txBody>
      </p:sp>
      <p:sp>
        <p:nvSpPr>
          <p:cNvPr id="37" name="TextBox 36"/>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38" name="TextBox 37"/>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Three tangible outcomes from a meaningful dialogue. Forms that reach a millennium.</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DELIVERABLES</a:t>
            </a:r>
          </a:p>
        </p:txBody>
      </p:sp>
      <p:sp>
        <p:nvSpPr>
          <p:cNvPr id="5" name="Rectangle 4"/>
          <p:cNvSpPr/>
          <p:nvPr/>
        </p:nvSpPr>
        <p:spPr>
          <a:xfrm>
            <a:off x="457200" y="1097280"/>
            <a:ext cx="7863840"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234440"/>
            <a:ext cx="457200" cy="4572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34440"/>
            <a:ext cx="457200" cy="457200"/>
          </a:xfrm>
          <a:prstGeom prst="rect">
            <a:avLst/>
          </a:prstGeom>
          <a:noFill/>
        </p:spPr>
        <p:txBody>
          <a:bodyPr wrap="square" anchor="ctr"/>
          <a:lstStyle/>
          <a:p>
            <a:pPr algn="ctr">
              <a:lnSpc>
                <a:spcPct val="135000"/>
              </a:lnSpc>
              <a:spcBef>
                <a:spcPts val="0"/>
              </a:spcBef>
              <a:spcAft>
                <a:spcPts val="0"/>
              </a:spcAft>
            </a:pPr>
            <a:r>
              <a:rPr sz="1400" b="1">
                <a:solidFill>
                  <a:srgbClr val="2563EB"/>
                </a:solidFill>
                <a:latin typeface="Calibri"/>
              </a:rPr>
              <a:t>Q</a:t>
            </a:r>
          </a:p>
        </p:txBody>
      </p:sp>
      <p:sp>
        <p:nvSpPr>
          <p:cNvPr id="8" name="TextBox 7"/>
          <p:cNvSpPr txBox="1"/>
          <p:nvPr/>
        </p:nvSpPr>
        <p:spPr>
          <a:xfrm>
            <a:off x="1188720" y="1207008"/>
            <a:ext cx="6949440" cy="292608"/>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Quartz Glass Proof of Existence</a:t>
            </a:r>
          </a:p>
        </p:txBody>
      </p:sp>
      <p:sp>
        <p:nvSpPr>
          <p:cNvPr id="9" name="TextBox 8"/>
          <p:cNvSpPr txBox="1"/>
          <p:nvPr/>
        </p:nvSpPr>
        <p:spPr>
          <a:xfrm>
            <a:off x="1188720" y="1517904"/>
            <a:ext cx="6949440"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Your story inscribed in quartz glass. No servers, no power needed. Guaranteed for 1,000 years. QR code readable by any smartphone.</a:t>
            </a:r>
          </a:p>
        </p:txBody>
      </p:sp>
      <p:sp>
        <p:nvSpPr>
          <p:cNvPr id="10" name="Rectangle 9"/>
          <p:cNvSpPr/>
          <p:nvPr/>
        </p:nvSpPr>
        <p:spPr>
          <a:xfrm>
            <a:off x="457200" y="2240280"/>
            <a:ext cx="7863840"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377440"/>
            <a:ext cx="457200" cy="457200"/>
          </a:xfrm>
          <a:prstGeom prst="rect">
            <a:avLst/>
          </a:prstGeom>
          <a:solidFill>
            <a:srgbClr val="FDF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77440"/>
            <a:ext cx="457200" cy="457200"/>
          </a:xfrm>
          <a:prstGeom prst="rect">
            <a:avLst/>
          </a:prstGeom>
          <a:noFill/>
        </p:spPr>
        <p:txBody>
          <a:bodyPr wrap="square" anchor="ctr"/>
          <a:lstStyle/>
          <a:p>
            <a:pPr algn="ctr">
              <a:lnSpc>
                <a:spcPct val="135000"/>
              </a:lnSpc>
              <a:spcBef>
                <a:spcPts val="0"/>
              </a:spcBef>
              <a:spcAft>
                <a:spcPts val="0"/>
              </a:spcAft>
            </a:pPr>
            <a:r>
              <a:rPr sz="1400" b="1">
                <a:solidFill>
                  <a:srgbClr val="2563EB"/>
                </a:solidFill>
                <a:latin typeface="Calibri"/>
              </a:rPr>
              <a:t>D</a:t>
            </a:r>
          </a:p>
        </p:txBody>
      </p:sp>
      <p:sp>
        <p:nvSpPr>
          <p:cNvPr id="13" name="TextBox 12"/>
          <p:cNvSpPr txBox="1"/>
          <p:nvPr/>
        </p:nvSpPr>
        <p:spPr>
          <a:xfrm>
            <a:off x="1188720" y="2350008"/>
            <a:ext cx="6949440" cy="292608"/>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Digital Companion</a:t>
            </a:r>
          </a:p>
        </p:txBody>
      </p:sp>
      <p:sp>
        <p:nvSpPr>
          <p:cNvPr id="14" name="TextBox 13"/>
          <p:cNvSpPr txBox="1"/>
          <p:nvPr/>
        </p:nvSpPr>
        <p:spPr>
          <a:xfrm>
            <a:off x="1188720" y="2660904"/>
            <a:ext cx="6949440"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A digital page accessed via QR code scan. A rich experience including text, photos, audio, and video of your proof of existence.</a:t>
            </a:r>
          </a:p>
        </p:txBody>
      </p:sp>
      <p:sp>
        <p:nvSpPr>
          <p:cNvPr id="15" name="Rectangle 14"/>
          <p:cNvSpPr/>
          <p:nvPr/>
        </p:nvSpPr>
        <p:spPr>
          <a:xfrm>
            <a:off x="457200" y="3383280"/>
            <a:ext cx="7863840"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520440"/>
            <a:ext cx="457200" cy="4572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20440"/>
            <a:ext cx="457200" cy="457200"/>
          </a:xfrm>
          <a:prstGeom prst="rect">
            <a:avLst/>
          </a:prstGeom>
          <a:noFill/>
        </p:spPr>
        <p:txBody>
          <a:bodyPr wrap="square" anchor="ctr"/>
          <a:lstStyle/>
          <a:p>
            <a:pPr algn="ctr">
              <a:lnSpc>
                <a:spcPct val="135000"/>
              </a:lnSpc>
              <a:spcBef>
                <a:spcPts val="0"/>
              </a:spcBef>
              <a:spcAft>
                <a:spcPts val="0"/>
              </a:spcAft>
            </a:pPr>
            <a:r>
              <a:rPr sz="1400" b="1">
                <a:solidFill>
                  <a:srgbClr val="2563EB"/>
                </a:solidFill>
                <a:latin typeface="Calibri"/>
              </a:rPr>
              <a:t>R</a:t>
            </a:r>
          </a:p>
        </p:txBody>
      </p:sp>
      <p:sp>
        <p:nvSpPr>
          <p:cNvPr id="18" name="TextBox 17"/>
          <p:cNvSpPr txBox="1"/>
          <p:nvPr/>
        </p:nvSpPr>
        <p:spPr>
          <a:xfrm>
            <a:off x="1188720" y="3493008"/>
            <a:ext cx="6949440" cy="292608"/>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Philosophical Framework Report</a:t>
            </a:r>
          </a:p>
        </p:txBody>
      </p:sp>
      <p:sp>
        <p:nvSpPr>
          <p:cNvPr id="19" name="TextBox 18"/>
          <p:cNvSpPr txBox="1"/>
          <p:nvPr/>
        </p:nvSpPr>
        <p:spPr>
          <a:xfrm>
            <a:off x="1188720" y="3803904"/>
            <a:ext cx="6949440" cy="475488"/>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A report placing your proof of existence in the context of 70+ philosophical essays. Intellectual grounding for "why preserve."</a:t>
            </a:r>
          </a:p>
        </p:txBody>
      </p:sp>
      <p:sp>
        <p:nvSpPr>
          <p:cNvPr id="20" name="Rectangle 19"/>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Timeless Consulting</a:t>
            </a:r>
          </a:p>
        </p:txBody>
      </p:sp>
      <p:sp>
        <p:nvSpPr>
          <p:cNvPr id="22" name="TextBox 21"/>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3" name="TextBox 22"/>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The person who engages your story with a millennium perspective — your dialogue partner</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YOUR PARTNER</a:t>
            </a:r>
          </a:p>
        </p:txBody>
      </p:sp>
      <p:pic>
        <p:nvPicPr>
          <p:cNvPr id="5" name="Picture 4" descr="_client_deck_profile.png"/>
          <p:cNvPicPr>
            <a:picLocks noChangeAspect="1"/>
          </p:cNvPicPr>
          <p:nvPr/>
        </p:nvPicPr>
        <p:blipFill>
          <a:blip r:embed="rId2"/>
          <a:stretch>
            <a:fillRect/>
          </a:stretch>
        </p:blipFill>
        <p:spPr>
          <a:xfrm>
            <a:off x="457200" y="1024128"/>
            <a:ext cx="914400" cy="914400"/>
          </a:xfrm>
          <a:prstGeom prst="rect">
            <a:avLst/>
          </a:prstGeom>
        </p:spPr>
      </p:pic>
      <p:sp>
        <p:nvSpPr>
          <p:cNvPr id="6" name="TextBox 5"/>
          <p:cNvSpPr txBox="1"/>
          <p:nvPr/>
        </p:nvSpPr>
        <p:spPr>
          <a:xfrm>
            <a:off x="1508760" y="1078992"/>
            <a:ext cx="6675120" cy="320040"/>
          </a:xfrm>
          <a:prstGeom prst="rect">
            <a:avLst/>
          </a:prstGeom>
          <a:noFill/>
        </p:spPr>
        <p:txBody>
          <a:bodyPr wrap="square"/>
          <a:lstStyle/>
          <a:p>
            <a:pPr algn="l">
              <a:lnSpc>
                <a:spcPct val="135000"/>
              </a:lnSpc>
              <a:spcBef>
                <a:spcPts val="0"/>
              </a:spcBef>
              <a:spcAft>
                <a:spcPts val="0"/>
              </a:spcAft>
            </a:pPr>
            <a:r>
              <a:rPr sz="1300" b="1">
                <a:solidFill>
                  <a:srgbClr val="1E293B"/>
                </a:solidFill>
                <a:latin typeface="Calibri"/>
              </a:rPr>
              <a:t>Takuya Sato — CEO, Universal Need Inc.</a:t>
            </a:r>
          </a:p>
        </p:txBody>
      </p:sp>
      <p:sp>
        <p:nvSpPr>
          <p:cNvPr id="7" name="TextBox 6"/>
          <p:cNvSpPr txBox="1"/>
          <p:nvPr/>
        </p:nvSpPr>
        <p:spPr>
          <a:xfrm>
            <a:off x="1508760" y="1444752"/>
            <a:ext cx="6675120" cy="1097280"/>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Former Big Four consultant — understands executive dialogue and strategic thinking from the inside. 20+ years in semiconductor manufacturing engineering. Former president of Timeless Town Shin-Urayasu residents' association (250 households). Through SoulCarrier's work with unclaimed graves, witnessed firsthand how memories vanish — and conceived TokiStorage. Validated off-grid, institution-free 1,000-year design through testing in Maui and Lake Yamanakako. Author of 70+ philosophical essays exploring proof of existence across 9 intellectual domains.</a:t>
            </a:r>
          </a:p>
        </p:txBody>
      </p:sp>
      <p:sp>
        <p:nvSpPr>
          <p:cNvPr id="8" name="Rectangle 7"/>
          <p:cNvSpPr/>
          <p:nvPr/>
        </p:nvSpPr>
        <p:spPr>
          <a:xfrm>
            <a:off x="457200" y="2651760"/>
            <a:ext cx="144018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651760"/>
            <a:ext cx="125730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Big Four Alumni</a:t>
            </a:r>
          </a:p>
        </p:txBody>
      </p:sp>
      <p:sp>
        <p:nvSpPr>
          <p:cNvPr id="10" name="Rectangle 9"/>
          <p:cNvSpPr/>
          <p:nvPr/>
        </p:nvSpPr>
        <p:spPr>
          <a:xfrm>
            <a:off x="2007108" y="2651760"/>
            <a:ext cx="267462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98548" y="2651760"/>
            <a:ext cx="249174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Semiconductor engineering 20+ yrs</a:t>
            </a:r>
          </a:p>
        </p:txBody>
      </p:sp>
      <p:sp>
        <p:nvSpPr>
          <p:cNvPr id="12" name="Rectangle 11"/>
          <p:cNvSpPr/>
          <p:nvPr/>
        </p:nvSpPr>
        <p:spPr>
          <a:xfrm>
            <a:off x="4791456" y="2651760"/>
            <a:ext cx="288036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82896" y="2651760"/>
            <a:ext cx="269748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Community president (250 households)</a:t>
            </a:r>
          </a:p>
        </p:txBody>
      </p:sp>
      <p:sp>
        <p:nvSpPr>
          <p:cNvPr id="14" name="Rectangle 13"/>
          <p:cNvSpPr/>
          <p:nvPr/>
        </p:nvSpPr>
        <p:spPr>
          <a:xfrm>
            <a:off x="457200" y="3035808"/>
            <a:ext cx="171450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035808"/>
            <a:ext cx="153162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SoulCarrier founder</a:t>
            </a:r>
          </a:p>
        </p:txBody>
      </p:sp>
      <p:sp>
        <p:nvSpPr>
          <p:cNvPr id="16" name="Rectangle 15"/>
          <p:cNvSpPr/>
          <p:nvPr/>
        </p:nvSpPr>
        <p:spPr>
          <a:xfrm>
            <a:off x="2281428" y="3035808"/>
            <a:ext cx="205740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2868" y="3035808"/>
            <a:ext cx="187452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70+ philosophical essays</a:t>
            </a:r>
          </a:p>
        </p:txBody>
      </p:sp>
      <p:sp>
        <p:nvSpPr>
          <p:cNvPr id="18" name="Rectangle 17"/>
          <p:cNvSpPr/>
          <p:nvPr/>
        </p:nvSpPr>
        <p:spPr>
          <a:xfrm>
            <a:off x="4448556" y="3035808"/>
            <a:ext cx="1645919"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9996" y="3035808"/>
            <a:ext cx="1463039"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Off-grid validated</a:t>
            </a:r>
          </a:p>
        </p:txBody>
      </p:sp>
      <p:sp>
        <p:nvSpPr>
          <p:cNvPr id="20" name="Rectangle 19"/>
          <p:cNvSpPr/>
          <p:nvPr/>
        </p:nvSpPr>
        <p:spPr>
          <a:xfrm>
            <a:off x="457200" y="3419856"/>
            <a:ext cx="308610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419856"/>
            <a:ext cx="290322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Relocating to Sado Island (Spring 2026)</a:t>
            </a:r>
          </a:p>
        </p:txBody>
      </p:sp>
      <p:sp>
        <p:nvSpPr>
          <p:cNvPr id="22" name="Rectangle 21"/>
          <p:cNvSpPr/>
          <p:nvPr/>
        </p:nvSpPr>
        <p:spPr>
          <a:xfrm>
            <a:off x="457200" y="3931920"/>
            <a:ext cx="7863840" cy="77266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931920"/>
            <a:ext cx="54864" cy="772668"/>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005072"/>
            <a:ext cx="7543800" cy="626364"/>
          </a:xfrm>
          <a:prstGeom prst="rect">
            <a:avLst/>
          </a:prstGeom>
          <a:noFill/>
        </p:spPr>
        <p:txBody>
          <a:bodyPr wrap="square"/>
          <a:lstStyle/>
          <a:p>
            <a:pPr algn="l">
              <a:lnSpc>
                <a:spcPct val="135000"/>
              </a:lnSpc>
              <a:spcBef>
                <a:spcPts val="0"/>
              </a:spcBef>
              <a:spcAft>
                <a:spcPts val="0"/>
              </a:spcAft>
            </a:pPr>
            <a:r>
              <a:rPr sz="900" b="0">
                <a:solidFill>
                  <a:srgbClr val="1E293B"/>
                </a:solidFill>
                <a:latin typeface="Calibri"/>
              </a:rPr>
              <a:t>I visited Pearl Harbor with my family, carrying a plate inscribed with a voice QR code of our prayers for peace—alongside the remains of our beloved dog, Pearl. That's when it hit me: wishes that transcend time transform into something greater—love, peace, hope. I want to share that transformation with as many people as possible. Through TokiStorage, I hope to walk that journey across time together with you.</a:t>
            </a:r>
          </a:p>
        </p:txBody>
      </p:sp>
      <p:sp>
        <p:nvSpPr>
          <p:cNvPr id="25" name="Rectangle 24"/>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Timeless Consulting</a:t>
            </a:r>
          </a:p>
        </p:txBody>
      </p:sp>
      <p:sp>
        <p:nvSpPr>
          <p:cNvPr id="27" name="TextBox 26"/>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8" name="TextBox 27"/>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3657600" cy="411480"/>
          </a:xfrm>
          <a:prstGeom prst="rect">
            <a:avLst/>
          </a:prstGeom>
          <a:noFill/>
        </p:spPr>
        <p:txBody>
          <a:bodyPr wrap="square"/>
          <a:lstStyle/>
          <a:p>
            <a:pPr algn="l">
              <a:lnSpc>
                <a:spcPct val="135000"/>
              </a:lnSpc>
              <a:spcBef>
                <a:spcPts val="0"/>
              </a:spcBef>
              <a:spcAft>
                <a:spcPts val="0"/>
              </a:spcAft>
            </a:pPr>
            <a:r>
              <a:rPr sz="1300" b="1">
                <a:solidFill>
                  <a:srgbClr val="FFFFFF"/>
                </a:solidFill>
                <a:latin typeface="Calibri"/>
              </a:rPr>
              <a:t>Next Step</a:t>
            </a:r>
          </a:p>
        </p:txBody>
      </p:sp>
      <p:sp>
        <p:nvSpPr>
          <p:cNvPr id="4" name="TextBox 3"/>
          <p:cNvSpPr txBox="1"/>
          <p:nvPr/>
        </p:nvSpPr>
        <p:spPr>
          <a:xfrm>
            <a:off x="457200" y="777240"/>
            <a:ext cx="7315200" cy="457200"/>
          </a:xfrm>
          <a:prstGeom prst="rect">
            <a:avLst/>
          </a:prstGeom>
          <a:noFill/>
        </p:spPr>
        <p:txBody>
          <a:bodyPr wrap="square"/>
          <a:lstStyle/>
          <a:p>
            <a:pPr algn="l">
              <a:lnSpc>
                <a:spcPct val="135000"/>
              </a:lnSpc>
              <a:spcBef>
                <a:spcPts val="0"/>
              </a:spcBef>
              <a:spcAft>
                <a:spcPts val="0"/>
              </a:spcAft>
            </a:pPr>
            <a:r>
              <a:rPr sz="2000" b="1">
                <a:solidFill>
                  <a:srgbClr val="FFFFFF"/>
                </a:solidFill>
                <a:latin typeface="Calibri"/>
              </a:rPr>
              <a:t>Let's start with a conversation.</a:t>
            </a:r>
          </a:p>
        </p:txBody>
      </p:sp>
      <p:sp>
        <p:nvSpPr>
          <p:cNvPr id="5" name="Oval 4"/>
          <p:cNvSpPr/>
          <p:nvPr/>
        </p:nvSpPr>
        <p:spPr>
          <a:xfrm>
            <a:off x="731520" y="1572768"/>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72768"/>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01</a:t>
            </a:r>
          </a:p>
        </p:txBody>
      </p:sp>
      <p:sp>
        <p:nvSpPr>
          <p:cNvPr id="7" name="TextBox 6"/>
          <p:cNvSpPr txBox="1"/>
          <p:nvPr/>
        </p:nvSpPr>
        <p:spPr>
          <a:xfrm>
            <a:off x="1280160" y="1517904"/>
            <a:ext cx="64008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Initial Dialogue (90 min, complimentary)</a:t>
            </a:r>
          </a:p>
        </p:txBody>
      </p:sp>
      <p:sp>
        <p:nvSpPr>
          <p:cNvPr id="8" name="TextBox 7"/>
          <p:cNvSpPr txBox="1"/>
          <p:nvPr/>
        </p:nvSpPr>
        <p:spPr>
          <a:xfrm>
            <a:off x="1280160" y="1810512"/>
            <a:ext cx="6400800" cy="274320"/>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Explore "What will you preserve for 100 years?" together</a:t>
            </a:r>
          </a:p>
        </p:txBody>
      </p:sp>
      <p:sp>
        <p:nvSpPr>
          <p:cNvPr id="9" name="Oval 8"/>
          <p:cNvSpPr/>
          <p:nvPr/>
        </p:nvSpPr>
        <p:spPr>
          <a:xfrm>
            <a:off x="731520" y="228600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86000"/>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02</a:t>
            </a:r>
          </a:p>
        </p:txBody>
      </p:sp>
      <p:sp>
        <p:nvSpPr>
          <p:cNvPr id="11" name="TextBox 10"/>
          <p:cNvSpPr txBox="1"/>
          <p:nvPr/>
        </p:nvSpPr>
        <p:spPr>
          <a:xfrm>
            <a:off x="1280160" y="2231136"/>
            <a:ext cx="64008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Design Proposal</a:t>
            </a:r>
          </a:p>
        </p:txBody>
      </p:sp>
      <p:sp>
        <p:nvSpPr>
          <p:cNvPr id="12" name="TextBox 11"/>
          <p:cNvSpPr txBox="1"/>
          <p:nvPr/>
        </p:nvSpPr>
        <p:spPr>
          <a:xfrm>
            <a:off x="1280160" y="2523744"/>
            <a:ext cx="6400800" cy="274320"/>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A personalized proof of existence plan based on our dialogue</a:t>
            </a:r>
          </a:p>
        </p:txBody>
      </p:sp>
      <p:sp>
        <p:nvSpPr>
          <p:cNvPr id="13" name="Oval 12"/>
          <p:cNvSpPr/>
          <p:nvPr/>
        </p:nvSpPr>
        <p:spPr>
          <a:xfrm>
            <a:off x="731520" y="2999232"/>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999232"/>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03</a:t>
            </a:r>
          </a:p>
        </p:txBody>
      </p:sp>
      <p:sp>
        <p:nvSpPr>
          <p:cNvPr id="15" name="TextBox 14"/>
          <p:cNvSpPr txBox="1"/>
          <p:nvPr/>
        </p:nvSpPr>
        <p:spPr>
          <a:xfrm>
            <a:off x="1280160" y="2944368"/>
            <a:ext cx="64008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Creation &amp; Inscription</a:t>
            </a:r>
          </a:p>
        </p:txBody>
      </p:sp>
      <p:sp>
        <p:nvSpPr>
          <p:cNvPr id="16" name="TextBox 15"/>
          <p:cNvSpPr txBox="1"/>
          <p:nvPr/>
        </p:nvSpPr>
        <p:spPr>
          <a:xfrm>
            <a:off x="1280160" y="3236976"/>
            <a:ext cx="6400800" cy="274320"/>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Produce and permanently inscribe in quartz glass</a:t>
            </a:r>
          </a:p>
        </p:txBody>
      </p:sp>
      <p:sp>
        <p:nvSpPr>
          <p:cNvPr id="17" name="Oval 16"/>
          <p:cNvSpPr/>
          <p:nvPr/>
        </p:nvSpPr>
        <p:spPr>
          <a:xfrm>
            <a:off x="731520" y="3712464"/>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712464"/>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04</a:t>
            </a:r>
          </a:p>
        </p:txBody>
      </p:sp>
      <p:sp>
        <p:nvSpPr>
          <p:cNvPr id="19" name="TextBox 18"/>
          <p:cNvSpPr txBox="1"/>
          <p:nvPr/>
        </p:nvSpPr>
        <p:spPr>
          <a:xfrm>
            <a:off x="1280160" y="3657600"/>
            <a:ext cx="64008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Delivery &amp; Curation</a:t>
            </a:r>
          </a:p>
        </p:txBody>
      </p:sp>
      <p:sp>
        <p:nvSpPr>
          <p:cNvPr id="20" name="TextBox 19"/>
          <p:cNvSpPr txBox="1"/>
          <p:nvPr/>
        </p:nvSpPr>
        <p:spPr>
          <a:xfrm>
            <a:off x="1280160" y="3950208"/>
            <a:ext cx="6400800" cy="274320"/>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Receive your artifact and begin ongoing curation support</a:t>
            </a:r>
          </a:p>
        </p:txBody>
      </p:sp>
      <p:sp>
        <p:nvSpPr>
          <p:cNvPr id="21" name="TextBox 20"/>
          <p:cNvSpPr txBox="1"/>
          <p:nvPr/>
        </p:nvSpPr>
        <p:spPr>
          <a:xfrm>
            <a:off x="731520" y="4229100"/>
            <a:ext cx="7315200" cy="274320"/>
          </a:xfrm>
          <a:prstGeom prst="rect">
            <a:avLst/>
          </a:prstGeom>
          <a:noFill/>
        </p:spPr>
        <p:txBody>
          <a:bodyPr wrap="square"/>
          <a:lstStyle/>
          <a:p>
            <a:pPr algn="l">
              <a:lnSpc>
                <a:spcPct val="135000"/>
              </a:lnSpc>
              <a:spcBef>
                <a:spcPts val="0"/>
              </a:spcBef>
              <a:spcAft>
                <a:spcPts val="0"/>
              </a:spcAft>
            </a:pPr>
            <a:r>
              <a:rPr sz="1000" b="0">
                <a:solidFill>
                  <a:srgbClr val="94A3B8"/>
                </a:solidFill>
                <a:latin typeface="Calibri"/>
              </a:rPr>
              <a:t>Takuya Sato — CEO, Universal Need Inc.</a:t>
            </a:r>
          </a:p>
        </p:txBody>
      </p:sp>
      <p:sp>
        <p:nvSpPr>
          <p:cNvPr id="22" name="Rectangle 21"/>
          <p:cNvSpPr/>
          <p:nvPr/>
        </p:nvSpPr>
        <p:spPr>
          <a:xfrm>
            <a:off x="0" y="4613148"/>
            <a:ext cx="9144000" cy="635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640580"/>
            <a:ext cx="36576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Universal Need Inc. — TokiStorage</a:t>
            </a:r>
          </a:p>
        </p:txBody>
      </p:sp>
      <p:sp>
        <p:nvSpPr>
          <p:cNvPr id="24" name="TextBox 23"/>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5" name="TextBox 24"/>
          <p:cNvSpPr txBox="1"/>
          <p:nvPr/>
        </p:nvSpPr>
        <p:spPr>
          <a:xfrm>
            <a:off x="8229600" y="4640580"/>
            <a:ext cx="457200" cy="32004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411480"/>
          </a:xfrm>
          <a:prstGeom prst="rect">
            <a:avLst/>
          </a:prstGeom>
          <a:noFill/>
        </p:spPr>
        <p:txBody>
          <a:bodyPr wrap="square"/>
          <a:lstStyle/>
          <a:p>
            <a:pPr algn="l">
              <a:lnSpc>
                <a:spcPct val="135000"/>
              </a:lnSpc>
              <a:spcBef>
                <a:spcPts val="0"/>
              </a:spcBef>
              <a:spcAft>
                <a:spcPts val="0"/>
              </a:spcAft>
            </a:pPr>
            <a:r>
              <a:rPr sz="1400" b="1">
                <a:solidFill>
                  <a:srgbClr val="94A3B8"/>
                </a:solidFill>
                <a:latin typeface="Calibri"/>
              </a:rPr>
              <a:t>Confidential / Disclaimer</a:t>
            </a:r>
          </a:p>
        </p:txBody>
      </p:sp>
      <p:sp>
        <p:nvSpPr>
          <p:cNvPr id="4" name="Rectangle 3"/>
          <p:cNvSpPr/>
          <p:nvPr/>
        </p:nvSpPr>
        <p:spPr>
          <a:xfrm>
            <a:off x="914400" y="1371600"/>
            <a:ext cx="73152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315200" cy="2560320"/>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This document has been prepared by Universal Need Inc. (the "Company") for the purpose of introducing our consulting services.
The information contained herein reflects the Company's current views and plans and does not constitute a guarantee of accuracy, completeness, or future outcomes.
This document is provided for informational purposes only and does not constitute legal, investment, or other professional advice.</a:t>
            </a:r>
          </a:p>
        </p:txBody>
      </p:sp>
      <p:sp>
        <p:nvSpPr>
          <p:cNvPr id="6" name="TextBox 5"/>
          <p:cNvSpPr txBox="1"/>
          <p:nvPr/>
        </p:nvSpPr>
        <p:spPr>
          <a:xfrm>
            <a:off x="914400" y="4046220"/>
            <a:ext cx="7315200" cy="274320"/>
          </a:xfrm>
          <a:prstGeom prst="rect">
            <a:avLst/>
          </a:prstGeom>
          <a:noFill/>
        </p:spPr>
        <p:txBody>
          <a:bodyPr wrap="square"/>
          <a:lstStyle/>
          <a:p>
            <a:pPr algn="l">
              <a:lnSpc>
                <a:spcPct val="135000"/>
              </a:lnSpc>
              <a:spcBef>
                <a:spcPts val="0"/>
              </a:spcBef>
              <a:spcAft>
                <a:spcPts val="0"/>
              </a:spcAft>
            </a:pPr>
            <a:r>
              <a:rPr sz="800" b="0">
                <a:solidFill>
                  <a:srgbClr val="94A3B8"/>
                </a:solidFill>
                <a:latin typeface="Calibri"/>
              </a:rPr>
              <a:t>© 2026 Universal Need Inc. All rights reserved.</a:t>
            </a:r>
          </a:p>
        </p:txBody>
      </p:sp>
      <p:sp>
        <p:nvSpPr>
          <p:cNvPr id="7" name="Rectangle 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Universal Need Inc. — TokiStorage</a:t>
            </a:r>
          </a:p>
        </p:txBody>
      </p:sp>
      <p:sp>
        <p:nvSpPr>
          <p:cNvPr id="9" name="TextBox 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10" name="TextBox 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