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4572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94A3B8"/>
                </a:solidFill>
                <a:latin typeface="Calibri"/>
              </a:rPr>
              <a:t>Partnership Proposal — 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73152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Bring your clients
1,000-year proof of existence.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51760"/>
            <a:ext cx="6400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Calibri"/>
              </a:rPr>
              <a:t>The technology is ready. Over 200 use cases mapped.
What's missing is the delivery network.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594860"/>
            <a:ext cx="9144000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668012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4A3B8"/>
                </a:solidFill>
                <a:latin typeface="Calibri"/>
              </a:rPr>
              <a:t>Universal Need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4668012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4A3B8"/>
                </a:solidFill>
                <a:latin typeface="Calibri"/>
              </a:rPr>
              <a:t>TokiStorage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4668012"/>
            <a:ext cx="1371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Existing digital services are optimized for "now" — the millennium preservation layer is structurally absent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2743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563EB"/>
                </a:solidFill>
                <a:latin typeface="Calibri"/>
              </a:rPr>
              <a:t>BACKGROUND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260604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987552"/>
            <a:ext cx="457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563EB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34440"/>
            <a:ext cx="238658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E293B"/>
                </a:solidFill>
                <a:latin typeface="Calibri"/>
              </a:rPr>
              <a:t>Digital is optimized for "now"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444752"/>
            <a:ext cx="2386584" cy="2670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75569"/>
                </a:solidFill>
                <a:latin typeface="Calibri"/>
              </a:rPr>
              <a:t>Cloud and social platforms excel at everyday recording. But 100- or 1,000-year preservation is outside their design scope. Different time horizons need different architectures.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73552" y="914400"/>
            <a:ext cx="260604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987552"/>
            <a:ext cx="457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563EB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234440"/>
            <a:ext cx="238658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E293B"/>
                </a:solidFill>
                <a:latin typeface="Calibri"/>
              </a:rPr>
              <a:t>End-of-life is now societal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444752"/>
            <a:ext cx="2386584" cy="2670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75569"/>
                </a:solidFill>
                <a:latin typeface="Calibri"/>
              </a:rPr>
              <a:t>Tens of thousands of graves go unclaimed yearly. By 2040, single-person households will exceed 40%. "Who preserves memory?" is now a social question.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9904" y="914400"/>
            <a:ext cx="260604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99632" y="987552"/>
            <a:ext cx="457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563EB"/>
                </a:solidFill>
                <a:latin typeface="Calibr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9632" y="1234440"/>
            <a:ext cx="238658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E293B"/>
                </a:solidFill>
                <a:latin typeface="Calibri"/>
              </a:rPr>
              <a:t>The millennium layer is missing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9632" y="1444752"/>
            <a:ext cx="2386584" cy="2670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75569"/>
                </a:solidFill>
                <a:latin typeface="Calibri"/>
              </a:rPr>
              <a:t>Digital estate management, AI recreations — the market is booming. Yet every solution runs on existing infrastructure. A complementary millennium layer is needed.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823460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48860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4A3B8"/>
                </a:solidFill>
                <a:latin typeface="Calibri"/>
              </a:rPr>
              <a:t>TokiStorage — Partnership 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848860"/>
            <a:ext cx="1828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848860"/>
            <a:ext cx="457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94A3B8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TokiStorage delivers technology, use cases, intellectual foundation, and distribution as a unified design philosophy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2743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563EB"/>
                </a:solidFill>
                <a:latin typeface="Calibri"/>
              </a:rPr>
              <a:t>OUR OFFERING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393192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66928" y="1024128"/>
            <a:ext cx="292608" cy="29260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024128"/>
            <a:ext cx="29260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563EB"/>
                </a:solidFill>
                <a:latin typeface="Calibri"/>
              </a:rPr>
              <a:t>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1024128"/>
            <a:ext cx="33375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E293B"/>
                </a:solidFill>
                <a:latin typeface="Calibri"/>
              </a:rPr>
              <a:t>Quartz glass recording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1225296"/>
            <a:ext cx="3337560" cy="11704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Calibri"/>
              </a:rPr>
              <a:t>QR codes inscribed via metal deposition. Zero servers, zero power. SLA 100%, guaranteed 1,000 years. Readable by any smartphone camera.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17720" y="914400"/>
            <a:ext cx="393192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727448" y="1024128"/>
            <a:ext cx="292608" cy="29260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27448" y="1024128"/>
            <a:ext cx="29260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563EB"/>
                </a:solidFill>
                <a:latin typeface="Calibri"/>
              </a:rPr>
              <a:t>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93208" y="1024128"/>
            <a:ext cx="33375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E293B"/>
                </a:solidFill>
                <a:latin typeface="Calibri"/>
              </a:rPr>
              <a:t>200+ use cases (organized by industry)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93208" y="1225296"/>
            <a:ext cx="3337560" cy="11704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Calibri"/>
              </a:rPr>
              <a:t>End-of-life, weddings, temples, schools, corporations, municipalities, NGOs, hotels, airlines. Ready for direct proposal integration.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651760"/>
            <a:ext cx="393192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66928" y="2761488"/>
            <a:ext cx="292608" cy="29260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761488"/>
            <a:ext cx="29260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563EB"/>
                </a:solidFill>
                <a:latin typeface="Calibri"/>
              </a:rPr>
              <a:t>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2761488"/>
            <a:ext cx="33375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E293B"/>
                </a:solidFill>
                <a:latin typeface="Calibri"/>
              </a:rPr>
              <a:t>70+ philosophical essays (9 domains)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2962656"/>
            <a:ext cx="3337560" cy="11704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Calibri"/>
              </a:rPr>
              <a:t>Proof of existence explored across psychology, religion, economics, AI, and space. Standalone intellectual content for client proposals.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17720" y="2651760"/>
            <a:ext cx="393192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727448" y="2761488"/>
            <a:ext cx="292608" cy="29260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27448" y="2761488"/>
            <a:ext cx="29260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563EB"/>
                </a:solidFill>
                <a:latin typeface="Calibr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93208" y="2761488"/>
            <a:ext cx="33375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E293B"/>
                </a:solidFill>
                <a:latin typeface="Calibri"/>
              </a:rPr>
              <a:t>Pearl Soap + Ambassador network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93208" y="2962656"/>
            <a:ext cx="3337560" cy="11704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Calibri"/>
              </a:rPr>
              <a:t>A gift-economy practice and decentralized workshop network ready to scale nationwide. Direct end-user touchpoint.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4823460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48860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4A3B8"/>
                </a:solidFill>
                <a:latin typeface="Calibri"/>
              </a:rPr>
              <a:t>TokiStorage — Partnership Proposal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4848860"/>
            <a:ext cx="1828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848860"/>
            <a:ext cx="457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94A3B8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TokiStorage is not a "competitor" to digital services — it is a complementary millennium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2743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563EB"/>
                </a:solidFill>
                <a:latin typeface="Calibri"/>
              </a:rPr>
              <a:t>POSITIONING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188720" cy="347472"/>
          </a:xfrm>
          <a:prstGeom prst="rect">
            <a:avLst/>
          </a:prstGeom>
          <a:solidFill>
            <a:srgbClr val="1E293B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914400"/>
            <a:ext cx="104241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914400"/>
            <a:ext cx="3291840" cy="347472"/>
          </a:xfrm>
          <a:prstGeom prst="rect">
            <a:avLst/>
          </a:prstGeom>
          <a:solidFill>
            <a:srgbClr val="1E293B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01952" y="914400"/>
            <a:ext cx="314553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FFFFFF"/>
                </a:solidFill>
                <a:latin typeface="Calibri"/>
              </a:rPr>
              <a:t>Digital services (everyday records)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914400"/>
            <a:ext cx="3383280" cy="347472"/>
          </a:xfrm>
          <a:prstGeom prst="rect">
            <a:avLst/>
          </a:prstGeom>
          <a:solidFill>
            <a:srgbClr val="1E293B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93792" y="914400"/>
            <a:ext cx="323697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FFFFFF"/>
                </a:solidFill>
                <a:latin typeface="Calibri"/>
              </a:rPr>
              <a:t>TokiStorage (millennium records)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261872"/>
            <a:ext cx="1188720" cy="347472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61872"/>
            <a:ext cx="104241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E293B"/>
                </a:solidFill>
                <a:latin typeface="Calibri"/>
              </a:rPr>
              <a:t>Medium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0" y="1261872"/>
            <a:ext cx="3291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01952" y="1261872"/>
            <a:ext cx="314553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75569"/>
                </a:solidFill>
                <a:latin typeface="Calibri"/>
              </a:rPr>
              <a:t>Cloud / HDD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1261872"/>
            <a:ext cx="3383280" cy="347472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1261872"/>
            <a:ext cx="323697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1D4ED8"/>
                </a:solidFill>
                <a:latin typeface="Calibri"/>
              </a:rPr>
              <a:t>Quartz glass (physical)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1609344"/>
            <a:ext cx="1188720" cy="347472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1609344"/>
            <a:ext cx="104241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E293B"/>
                </a:solidFill>
                <a:latin typeface="Calibri"/>
              </a:rPr>
              <a:t>Best horizon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8800" y="1609344"/>
            <a:ext cx="3291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01952" y="1609344"/>
            <a:ext cx="314553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75569"/>
                </a:solidFill>
                <a:latin typeface="Calibri"/>
              </a:rPr>
              <a:t>Now to decades (optimized for daily use)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20640" y="1609344"/>
            <a:ext cx="3383280" cy="347472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792" y="1609344"/>
            <a:ext cx="323697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1D4ED8"/>
                </a:solidFill>
                <a:latin typeface="Calibri"/>
              </a:rPr>
              <a:t>100–1,000 years (optimized for permanence)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1956816"/>
            <a:ext cx="1188720" cy="347472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1956816"/>
            <a:ext cx="104241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E293B"/>
                </a:solidFill>
                <a:latin typeface="Calibri"/>
              </a:rPr>
              <a:t>Infrastructure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28800" y="1956816"/>
            <a:ext cx="3291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01952" y="1956816"/>
            <a:ext cx="314553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75569"/>
                </a:solidFill>
                <a:latin typeface="Calibri"/>
              </a:rPr>
              <a:t>Servers &amp; power (source of convenience)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0" y="1956816"/>
            <a:ext cx="3383280" cy="347472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93792" y="1956816"/>
            <a:ext cx="323697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1D4ED8"/>
                </a:solidFill>
                <a:latin typeface="Calibri"/>
              </a:rPr>
              <a:t>None required (GitHub distributed)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2304288"/>
            <a:ext cx="1188720" cy="347472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2304288"/>
            <a:ext cx="104241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E293B"/>
                </a:solidFill>
                <a:latin typeface="Calibri"/>
              </a:rPr>
              <a:t>Reading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28800" y="2304288"/>
            <a:ext cx="3291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901952" y="2304288"/>
            <a:ext cx="314553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75569"/>
                </a:solidFill>
                <a:latin typeface="Calibri"/>
              </a:rPr>
              <a:t>App / login required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20640" y="2304288"/>
            <a:ext cx="3383280" cy="347472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93792" y="2304288"/>
            <a:ext cx="323697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1D4ED8"/>
                </a:solidFill>
                <a:latin typeface="Calibri"/>
              </a:rPr>
              <a:t>Any smartphone camera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2651760"/>
            <a:ext cx="1188720" cy="347472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2651760"/>
            <a:ext cx="104241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E293B"/>
                </a:solidFill>
                <a:latin typeface="Calibri"/>
              </a:rPr>
              <a:t>Cultural depth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828800" y="2651760"/>
            <a:ext cx="3291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901952" y="2651760"/>
            <a:ext cx="314553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75569"/>
                </a:solidFill>
                <a:latin typeface="Calibri"/>
              </a:rPr>
              <a:t>Functionality &amp; convenience at the core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120640" y="2651760"/>
            <a:ext cx="3383280" cy="347472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93792" y="2651760"/>
            <a:ext cx="323697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1D4ED8"/>
                </a:solidFill>
                <a:latin typeface="Calibri"/>
              </a:rPr>
              <a:t>70+ essays + gift economy practice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2999232"/>
            <a:ext cx="1188720" cy="347472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3232" y="2999232"/>
            <a:ext cx="104241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E293B"/>
                </a:solidFill>
                <a:latin typeface="Calibri"/>
              </a:rPr>
              <a:t>Social impact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828800" y="2999232"/>
            <a:ext cx="3291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901952" y="2999232"/>
            <a:ext cx="314553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75569"/>
                </a:solidFill>
                <a:latin typeface="Calibri"/>
              </a:rPr>
              <a:t>Platform-level contribution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120640" y="2999232"/>
            <a:ext cx="3383280" cy="347472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93792" y="2999232"/>
            <a:ext cx="323697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1D4ED8"/>
                </a:solidFill>
                <a:latin typeface="Calibri"/>
              </a:rPr>
              <a:t>SoulCarrier (unclaimed graves mission)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4823460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4848860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4A3B8"/>
                </a:solidFill>
                <a:latin typeface="Calibri"/>
              </a:rPr>
              <a:t>TokiStorage — Partnership Proposal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0" y="4848860"/>
            <a:ext cx="1828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0" y="4848860"/>
            <a:ext cx="457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94A3B8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Three partnership models tailored to your business model, with progressive escalation possible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2743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563EB"/>
                </a:solidFill>
                <a:latin typeface="Calibri"/>
              </a:rPr>
              <a:t>PARTNERSHIP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786384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005840"/>
            <a:ext cx="502920" cy="502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005840"/>
            <a:ext cx="50292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Calibri"/>
              </a:rPr>
              <a:t>Referral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987552"/>
            <a:ext cx="69951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E293B"/>
                </a:solidFill>
                <a:latin typeface="Calibri"/>
              </a:rPr>
              <a:t>A. Client Referral Partnership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170432"/>
            <a:ext cx="69951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Calibri"/>
              </a:rPr>
              <a:t>Introduce clients when TokiStorage fits. You receive a referral fee; we handle delivery end-to-end.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389888"/>
            <a:ext cx="69951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2563EB"/>
                </a:solidFill>
                <a:latin typeface="Calibri"/>
              </a:rPr>
              <a:t>E.g.: End-of-life consulting → offer proof of existence / Funeral DX → add memorial option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09928"/>
            <a:ext cx="786384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801368"/>
            <a:ext cx="502920" cy="50292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801368"/>
            <a:ext cx="50292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Calibri"/>
              </a:rPr>
              <a:t>Joint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1783080"/>
            <a:ext cx="69951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E293B"/>
                </a:solidFill>
                <a:latin typeface="Calibri"/>
              </a:rPr>
              <a:t>B. Joint Solution Partnership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1965960"/>
            <a:ext cx="69951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Calibri"/>
              </a:rPr>
              <a:t>Embed TokiStorage into your consulting engagements. Position millennium records as the "outcome layer" of ESG, revitalization, or DX projects.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185416"/>
            <a:ext cx="69951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2563EB"/>
                </a:solidFill>
                <a:latin typeface="Calibri"/>
              </a:rPr>
              <a:t>E.g.: Municipal DX → community archive / Hotel CX → guest record upgrade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505456"/>
            <a:ext cx="786384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2596896"/>
            <a:ext cx="502920" cy="5029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596896"/>
            <a:ext cx="50292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Calibri"/>
              </a:rPr>
              <a:t>Co-Create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2578608"/>
            <a:ext cx="69951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E293B"/>
                </a:solidFill>
                <a:latin typeface="Calibri"/>
              </a:rPr>
              <a:t>C. New Business Co-Creation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2761488"/>
            <a:ext cx="69951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Calibri"/>
              </a:rPr>
              <a:t>Launch a new venture together. We bring technology, philosophy, and use cases. You bring market access, credibility, and scale.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2980944"/>
            <a:ext cx="69951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2563EB"/>
                </a:solidFill>
                <a:latin typeface="Calibri"/>
              </a:rPr>
              <a:t>E.g.: Memorial-tech startup / Enterprise perpetual archive service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4823460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848860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4A3B8"/>
                </a:solidFill>
                <a:latin typeface="Calibri"/>
              </a:rPr>
              <a:t>TokiStorage — Partnership Proposal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4848860"/>
            <a:ext cx="1828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4848860"/>
            <a:ext cx="457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94A3B8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Revenue design ensures all three parties — client, partner, and TokiStorage —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2743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563EB"/>
                </a:solidFill>
                <a:latin typeface="Calibri"/>
              </a:rPr>
              <a:t>REVENUE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097280"/>
            <a:ext cx="2194560" cy="777240"/>
          </a:xfrm>
          <a:prstGeom prst="rect">
            <a:avLst/>
          </a:prstGeom>
          <a:solidFill>
            <a:srgbClr val="F0FDF4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152144"/>
            <a:ext cx="2048256" cy="20116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6A34A"/>
                </a:solidFill>
                <a:latin typeface="Calibri"/>
              </a:rPr>
              <a:t>Client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1371600"/>
            <a:ext cx="2048256" cy="44805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Calibri"/>
              </a:rPr>
              <a:t>1,000-year proof of existence
Tangible social meaning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1280160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4A3B8"/>
                </a:solidFill>
                <a:latin typeface="Calibri"/>
              </a:rPr>
              <a:t>←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1097280"/>
            <a:ext cx="2194560" cy="777240"/>
          </a:xfrm>
          <a:prstGeom prst="rect">
            <a:avLst/>
          </a:prstGeom>
          <a:solidFill>
            <a:srgbClr val="EFF6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152144"/>
            <a:ext cx="2048256" cy="20116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563EB"/>
                </a:solidFill>
                <a:latin typeface="Calibri"/>
              </a:rPr>
              <a:t>Partner (you)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371600"/>
            <a:ext cx="2048256" cy="44805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Calibri"/>
              </a:rPr>
              <a:t>Referral fee or joint revenue
Client LTV increase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1280160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4A3B8"/>
                </a:solidFill>
                <a:latin typeface="Calibri"/>
              </a:rPr>
              <a:t>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097280"/>
            <a:ext cx="2194560" cy="777240"/>
          </a:xfrm>
          <a:prstGeom prst="rect">
            <a:avLst/>
          </a:prstGeom>
          <a:solidFill>
            <a:srgbClr val="FDF8E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99632" y="1152144"/>
            <a:ext cx="2048256" cy="20116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2400E"/>
                </a:solidFill>
                <a:latin typeface="Calibri"/>
              </a:rPr>
              <a:t>TokiStorage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9632" y="1371600"/>
            <a:ext cx="2048256" cy="44805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Calibri"/>
              </a:rPr>
              <a:t>Technology &amp; delivery
Revenue → SoulCarrier mission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194560"/>
            <a:ext cx="7863840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194560"/>
            <a:ext cx="45720" cy="914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267712"/>
            <a:ext cx="7589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E293B"/>
                </a:solidFill>
                <a:latin typeface="Calibri"/>
              </a:rPr>
              <a:t>Early Partner Advantage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487168"/>
            <a:ext cx="758952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Calibri"/>
              </a:rPr>
              <a:t>We are approaching consulting firms sequentially. The first firm to partner receives preferential terms — including priority referral conditions and potential regional exclusivity. Early movers shape the partnership.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4823460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48860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4A3B8"/>
                </a:solidFill>
                <a:latin typeface="Calibri"/>
              </a:rPr>
              <a:t>TokiStorage — Partnership Proposal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4848860"/>
            <a:ext cx="1828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4848860"/>
            <a:ext cx="457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94A3B8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Six client sectors show particularly high affinity: funeral, hospitality, religious, government, ESG, and finance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2743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563EB"/>
                </a:solidFill>
                <a:latin typeface="Calibri"/>
              </a:rPr>
              <a:t>CLIENT 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7315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Calibri"/>
              </a:rPr>
              <a:t>Does your client portfolio include any of these sectors?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260604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95628" y="1261872"/>
            <a:ext cx="329184" cy="329184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95628" y="1261872"/>
            <a:ext cx="32918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563EB"/>
                </a:solidFill>
                <a:latin typeface="Calibri"/>
              </a:rPr>
              <a:t>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627632"/>
            <a:ext cx="2496312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E293B"/>
                </a:solidFill>
                <a:latin typeface="Calibri"/>
              </a:rPr>
              <a:t>Funeral &amp; Memorial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1810512"/>
            <a:ext cx="2496312" cy="65836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75569"/>
                </a:solidFill>
                <a:latin typeface="Calibri"/>
              </a:rPr>
              <a:t>Gravestone alternatives, digital perpetual care, bereavement services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3552" y="1188720"/>
            <a:ext cx="260604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411980" y="1261872"/>
            <a:ext cx="329184" cy="329184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11980" y="1261872"/>
            <a:ext cx="32918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563EB"/>
                </a:solidFill>
                <a:latin typeface="Calibri"/>
              </a:rPr>
              <a:t>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28416" y="1627632"/>
            <a:ext cx="2496312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E293B"/>
                </a:solidFill>
                <a:latin typeface="Calibri"/>
              </a:rPr>
              <a:t>Hospitality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28416" y="1810512"/>
            <a:ext cx="2496312" cy="65836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75569"/>
                </a:solidFill>
                <a:latin typeface="Calibri"/>
              </a:rPr>
              <a:t>Wedding records, hotel CX, anniversary services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89904" y="1188720"/>
            <a:ext cx="260604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228332" y="1261872"/>
            <a:ext cx="329184" cy="329184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8332" y="1261872"/>
            <a:ext cx="32918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563EB"/>
                </a:solidFill>
                <a:latin typeface="Calibri"/>
              </a:rPr>
              <a:t>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44768" y="1627632"/>
            <a:ext cx="2496312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E293B"/>
                </a:solidFill>
                <a:latin typeface="Calibri"/>
              </a:rPr>
              <a:t>Religious Institutions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44768" y="1810512"/>
            <a:ext cx="2496312" cy="65836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75569"/>
                </a:solidFill>
                <a:latin typeface="Calibri"/>
              </a:rPr>
              <a:t>Perpetual congregation records, visitor DX, cultural preservation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679192"/>
            <a:ext cx="260604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595628" y="2752344"/>
            <a:ext cx="329184" cy="329184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595628" y="2752344"/>
            <a:ext cx="32918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563EB"/>
                </a:solidFill>
                <a:latin typeface="Calibri"/>
              </a:rPr>
              <a:t>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" y="3118104"/>
            <a:ext cx="2496312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E293B"/>
                </a:solidFill>
                <a:latin typeface="Calibri"/>
              </a:rPr>
              <a:t>Government &amp; Education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" y="3300984"/>
            <a:ext cx="2496312" cy="65836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75569"/>
                </a:solidFill>
                <a:latin typeface="Calibri"/>
              </a:rPr>
              <a:t>Community archives, disaster records, school history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73552" y="2679192"/>
            <a:ext cx="260604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411980" y="2752344"/>
            <a:ext cx="329184" cy="329184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11980" y="2752344"/>
            <a:ext cx="32918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563EB"/>
                </a:solidFill>
                <a:latin typeface="Calibri"/>
              </a:rPr>
              <a:t>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28416" y="3118104"/>
            <a:ext cx="2496312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E293B"/>
                </a:solidFill>
                <a:latin typeface="Calibri"/>
              </a:rPr>
              <a:t>ESG &amp; Sustainability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28416" y="3300984"/>
            <a:ext cx="2496312" cy="65836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75569"/>
                </a:solidFill>
                <a:latin typeface="Calibri"/>
              </a:rPr>
              <a:t>1,000-year corporate purpose records, SDG impact proof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89904" y="2679192"/>
            <a:ext cx="260604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228332" y="2752344"/>
            <a:ext cx="329184" cy="329184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28332" y="2752344"/>
            <a:ext cx="32918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563EB"/>
                </a:solidFill>
                <a:latin typeface="Calibri"/>
              </a:rPr>
              <a:t>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44768" y="3118104"/>
            <a:ext cx="2496312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E293B"/>
                </a:solidFill>
                <a:latin typeface="Calibri"/>
              </a:rPr>
              <a:t>Finance &amp; Insurance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44768" y="3300984"/>
            <a:ext cx="2496312" cy="65836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75569"/>
                </a:solidFill>
                <a:latin typeface="Calibri"/>
              </a:rPr>
              <a:t>End-of-life service integration, digital estate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4823460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4848860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4A3B8"/>
                </a:solidFill>
                <a:latin typeface="Calibri"/>
              </a:rPr>
              <a:t>TokiStorage — Partnership Proposal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0" y="4848860"/>
            <a:ext cx="1828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4848860"/>
            <a:ext cx="457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94A3B8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The founder is a Big Four alumnus who designed the partnership model with full awareness of firm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2743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563EB"/>
                </a:solidFill>
                <a:latin typeface="Calibri"/>
              </a:rPr>
              <a:t>TEAM &amp; INDEPENDENCE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914400"/>
            <a:ext cx="548640" cy="548640"/>
          </a:xfrm>
          <a:prstGeom prst="ellips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914400"/>
            <a:ext cx="6400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E293B"/>
                </a:solidFill>
                <a:latin typeface="Calibri"/>
              </a:rPr>
              <a:t>Takuya Sato — CEO, Universal Need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170432"/>
            <a:ext cx="6858000" cy="8686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Calibri"/>
              </a:rPr>
              <a:t>Former Big Four consultant — understands firm culture, client engagement, and project design from the inside. 20+ years in semiconductor manufacturing engineering. Former president of Timeless Town Shin-Urayasu residents' association (250 households). Through SoulCarrier's work with unclaimed graves, witnessed firsthand how memories vanish — and conceived TokiStorage. Validated off-grid, institution-free 1,000-year design through testing in Maui and Lake Yamanakako.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2011680"/>
            <a:ext cx="1394460" cy="201168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011680"/>
            <a:ext cx="130302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475569"/>
                </a:solidFill>
                <a:latin typeface="Calibri"/>
              </a:rPr>
              <a:t>Big Four Alumni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10612" y="2011680"/>
            <a:ext cx="2793492" cy="201168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56332" y="2011680"/>
            <a:ext cx="2702052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475569"/>
                </a:solidFill>
                <a:latin typeface="Calibri"/>
              </a:rPr>
              <a:t>Semiconductor engineering 20+ yrs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77256" y="2011680"/>
            <a:ext cx="3026664" cy="201168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22976" y="2011680"/>
            <a:ext cx="2935224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475569"/>
                </a:solidFill>
                <a:latin typeface="Calibri"/>
              </a:rPr>
              <a:t>Community president (250 households)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2267712"/>
            <a:ext cx="1705356" cy="201168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2267712"/>
            <a:ext cx="1613916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475569"/>
                </a:solidFill>
                <a:latin typeface="Calibri"/>
              </a:rPr>
              <a:t>SoulCarrier founder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21508" y="2267712"/>
            <a:ext cx="1627632" cy="201168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67228" y="2267712"/>
            <a:ext cx="1536192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475569"/>
                </a:solidFill>
                <a:latin typeface="Calibri"/>
              </a:rPr>
              <a:t>Off-grid validated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22292" y="2267712"/>
            <a:ext cx="3259836" cy="201168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68012" y="2267712"/>
            <a:ext cx="3168396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475569"/>
                </a:solidFill>
                <a:latin typeface="Calibri"/>
              </a:rPr>
              <a:t>Relocating to Sado Island (Spring 2026)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377440"/>
            <a:ext cx="7863840" cy="73152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2377440"/>
            <a:ext cx="45720" cy="7315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2432304"/>
            <a:ext cx="75895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E293B"/>
                </a:solidFill>
                <a:latin typeface="Calibri"/>
              </a:rPr>
              <a:t>A note on independence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2633472"/>
            <a:ext cx="75895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Calibri"/>
              </a:rPr>
              <a:t>This is a vendor partnership — structurally identical to recommending Salesforce or SAP. No audit engagement, no equity relationship, no independence concerns. Designed with full awareness of firm compliance requirements.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4823460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48860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4A3B8"/>
                </a:solidFill>
                <a:latin typeface="Calibri"/>
              </a:rPr>
              <a:t>TokiStorage — Partnership Proposal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4848860"/>
            <a:ext cx="1828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848860"/>
            <a:ext cx="457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94A3B8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2743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7315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Let's start with a
30-minute conversation.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64008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BBBBCC"/>
                </a:solidFill>
                <a:latin typeface="Calibri"/>
              </a:rPr>
              <a:t>Partnership structure is flexible by design.
Let's reverse-engineer the right model
from your clients' actual challenges.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658868"/>
            <a:ext cx="9144000" cy="6350"/>
          </a:xfrm>
          <a:prstGeom prst="rect">
            <a:avLst/>
          </a:prstGeom>
          <a:solidFill>
            <a:srgbClr val="33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686300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4A3B8"/>
                </a:solidFill>
                <a:latin typeface="Calibri"/>
              </a:rPr>
              <a:t>Universal Need Inc. — TokiStorage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46863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468630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94A3B8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