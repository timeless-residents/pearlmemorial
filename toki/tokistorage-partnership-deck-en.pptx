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9999AA"/>
                </a:solidFill>
                <a:latin typeface="Calibri"/>
              </a:rPr>
              <a:t>Partnership Proposal —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Bring your clients
1,000-year proof of existence.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6400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The technology is ready. Over 200 use cases mapped.
What's missing is the delivery network.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594860"/>
            <a:ext cx="9144000" cy="36576"/>
          </a:xfrm>
          <a:prstGeom prst="rect">
            <a:avLst/>
          </a:prstGeom>
          <a:solidFill>
            <a:srgbClr val="1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66801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Universal Need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4668012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668012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Existing digital services are optimized for "now" — the millennium preservation layer is structurally absent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6FD9"/>
                </a:solidFill>
                <a:latin typeface="Calibri"/>
              </a:rPr>
              <a:t>BACKGROUND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2606040" cy="3291840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987552"/>
            <a:ext cx="457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6FD9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34440"/>
            <a:ext cx="238658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A1A2E"/>
                </a:solidFill>
                <a:latin typeface="Calibri"/>
              </a:rPr>
              <a:t>Digital is optimized for "now"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44752"/>
            <a:ext cx="2386584" cy="2670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55570"/>
                </a:solidFill>
                <a:latin typeface="Calibri"/>
              </a:rPr>
              <a:t>Cloud and social platforms excel at everyday recording. But 100- or 1,000-year preservation is outside their design scope. Different time horizons need different architectures.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914400"/>
            <a:ext cx="2606040" cy="3291840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987552"/>
            <a:ext cx="457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6FD9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234440"/>
            <a:ext cx="238658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A1A2E"/>
                </a:solidFill>
                <a:latin typeface="Calibri"/>
              </a:rPr>
              <a:t>End-of-life is now societal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444752"/>
            <a:ext cx="2386584" cy="2670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55570"/>
                </a:solidFill>
                <a:latin typeface="Calibri"/>
              </a:rPr>
              <a:t>Tens of thousands of graves go unclaimed yearly. By 2040, single-person households will exceed 40%. "Who preserves memory?" is now a social question.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914400"/>
            <a:ext cx="2606040" cy="3291840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987552"/>
            <a:ext cx="457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6FD9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1234440"/>
            <a:ext cx="238658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A1A2E"/>
                </a:solidFill>
                <a:latin typeface="Calibri"/>
              </a:rPr>
              <a:t>The millennium layer is missing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1444752"/>
            <a:ext cx="2386584" cy="2670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55570"/>
                </a:solidFill>
                <a:latin typeface="Calibri"/>
              </a:rPr>
              <a:t>Digital estate management, AI recreations — the market is booming. Yet every solution runs on existing infrastructure. A complementary millennium layer is needed.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999A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TokiStorage delivers technology, use cases, intellectual foundation, and distribution as a unified design philosophy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6FD9"/>
                </a:solidFill>
                <a:latin typeface="Calibri"/>
              </a:rPr>
              <a:t>OUR OFFERING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3931920" cy="1554480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3200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>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987552"/>
            <a:ext cx="33832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A1A2E"/>
                </a:solidFill>
                <a:latin typeface="Calibri"/>
              </a:rPr>
              <a:t>Quartz glass recording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188720"/>
            <a:ext cx="3383280" cy="12070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570"/>
                </a:solidFill>
                <a:latin typeface="Calibri"/>
              </a:rPr>
              <a:t>QR codes inscribed via metal deposition. Zero servers, zero power. SLA 100%, guaranteed 1,000 years. Readable by any smartphone camera.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914400"/>
            <a:ext cx="3931920" cy="1554480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987552"/>
            <a:ext cx="3200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987552"/>
            <a:ext cx="33832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A1A2E"/>
                </a:solidFill>
                <a:latin typeface="Calibri"/>
              </a:rPr>
              <a:t>200+ use cases (organized by industry)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188720"/>
            <a:ext cx="3383280" cy="12070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570"/>
                </a:solidFill>
                <a:latin typeface="Calibri"/>
              </a:rPr>
              <a:t>End-of-life, weddings, temples, schools, corporations, municipalities, NGOs, hotels, airlines. Ready for direct proposal integration.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51760"/>
            <a:ext cx="3931920" cy="1554480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724912"/>
            <a:ext cx="3200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>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724912"/>
            <a:ext cx="33832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A1A2E"/>
                </a:solidFill>
                <a:latin typeface="Calibri"/>
              </a:rPr>
              <a:t>70+ philosophical essays (9 domains)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926080"/>
            <a:ext cx="3383280" cy="12070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570"/>
                </a:solidFill>
                <a:latin typeface="Calibri"/>
              </a:rPr>
              <a:t>Proof of existence explored across psychology, religion, economics, AI, and space. Standalone intellectual content for client proposals.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17720" y="2651760"/>
            <a:ext cx="3931920" cy="1554480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2724912"/>
            <a:ext cx="3200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>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724912"/>
            <a:ext cx="33832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A1A2E"/>
                </a:solidFill>
                <a:latin typeface="Calibri"/>
              </a:rPr>
              <a:t>Pearl Soap + Ambassador network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926080"/>
            <a:ext cx="3383280" cy="12070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570"/>
                </a:solidFill>
                <a:latin typeface="Calibri"/>
              </a:rPr>
              <a:t>A gift-economy practice and decentralized workshop network ready to scale nationwide. Direct end-user touchpoint.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999A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TokiStorage is not a "competitor" to digital services — it is a complementary millennium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6FD9"/>
                </a:solidFill>
                <a:latin typeface="Calibri"/>
              </a:rPr>
              <a:t>POSITIONING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188720" cy="347472"/>
          </a:xfrm>
          <a:prstGeom prst="rect">
            <a:avLst/>
          </a:prstGeom>
          <a:solidFill>
            <a:srgbClr val="0A1628"/>
          </a:solidFill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914400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914400"/>
            <a:ext cx="3291840" cy="347472"/>
          </a:xfrm>
          <a:prstGeom prst="rect">
            <a:avLst/>
          </a:prstGeom>
          <a:solidFill>
            <a:srgbClr val="0A1628"/>
          </a:solidFill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01952" y="914400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Calibri"/>
              </a:rPr>
              <a:t>Digital services (everyday records)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914400"/>
            <a:ext cx="3383280" cy="347472"/>
          </a:xfrm>
          <a:prstGeom prst="rect">
            <a:avLst/>
          </a:prstGeom>
          <a:solidFill>
            <a:srgbClr val="0A1628"/>
          </a:solidFill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93792" y="914400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Calibri"/>
              </a:rPr>
              <a:t>TokiStorage (millennium records)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261872"/>
            <a:ext cx="1188720" cy="347472"/>
          </a:xfrm>
          <a:prstGeom prst="rect">
            <a:avLst/>
          </a:prstGeom>
          <a:solidFill>
            <a:srgbClr val="F8F9FB"/>
          </a:solidFill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61872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1A2E"/>
                </a:solidFill>
                <a:latin typeface="Calibri"/>
              </a:rPr>
              <a:t>Medium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1261872"/>
            <a:ext cx="3291840" cy="347472"/>
          </a:xfrm>
          <a:prstGeom prst="rect">
            <a:avLst/>
          </a:prstGeom>
          <a:noFill/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01952" y="1261872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55570"/>
                </a:solidFill>
                <a:latin typeface="Calibri"/>
              </a:rPr>
              <a:t>Cloud / HDD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261872"/>
            <a:ext cx="3383280" cy="347472"/>
          </a:xfrm>
          <a:prstGeom prst="rect">
            <a:avLst/>
          </a:prstGeom>
          <a:solidFill>
            <a:srgbClr val="F0F7FF"/>
          </a:solidFill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1261872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E6FD9"/>
                </a:solidFill>
                <a:latin typeface="Calibri"/>
              </a:rPr>
              <a:t>Quartz glass (physical)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1609344"/>
            <a:ext cx="1188720" cy="347472"/>
          </a:xfrm>
          <a:prstGeom prst="rect">
            <a:avLst/>
          </a:prstGeom>
          <a:solidFill>
            <a:srgbClr val="F8F9FB"/>
          </a:solidFill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609344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1A2E"/>
                </a:solidFill>
                <a:latin typeface="Calibri"/>
              </a:rPr>
              <a:t>Best horizon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1609344"/>
            <a:ext cx="3291840" cy="347472"/>
          </a:xfrm>
          <a:prstGeom prst="rect">
            <a:avLst/>
          </a:prstGeom>
          <a:noFill/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01952" y="1609344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55570"/>
                </a:solidFill>
                <a:latin typeface="Calibri"/>
              </a:rPr>
              <a:t>Now to decades (optimized for daily use)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0" y="1609344"/>
            <a:ext cx="3383280" cy="347472"/>
          </a:xfrm>
          <a:prstGeom prst="rect">
            <a:avLst/>
          </a:prstGeom>
          <a:solidFill>
            <a:srgbClr val="F0F7FF"/>
          </a:solidFill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792" y="1609344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E6FD9"/>
                </a:solidFill>
                <a:latin typeface="Calibri"/>
              </a:rPr>
              <a:t>100–1,000 years (optimized for permanence)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1956816"/>
            <a:ext cx="1188720" cy="347472"/>
          </a:xfrm>
          <a:prstGeom prst="rect">
            <a:avLst/>
          </a:prstGeom>
          <a:solidFill>
            <a:srgbClr val="F8F9FB"/>
          </a:solidFill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1956816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1A2E"/>
                </a:solidFill>
                <a:latin typeface="Calibri"/>
              </a:rPr>
              <a:t>Infrastructure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1956816"/>
            <a:ext cx="3291840" cy="347472"/>
          </a:xfrm>
          <a:prstGeom prst="rect">
            <a:avLst/>
          </a:prstGeom>
          <a:noFill/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01952" y="1956816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55570"/>
                </a:solidFill>
                <a:latin typeface="Calibri"/>
              </a:rPr>
              <a:t>Servers &amp; power (source of convenience)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1956816"/>
            <a:ext cx="3383280" cy="347472"/>
          </a:xfrm>
          <a:prstGeom prst="rect">
            <a:avLst/>
          </a:prstGeom>
          <a:solidFill>
            <a:srgbClr val="F0F7FF"/>
          </a:solidFill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1956816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E6FD9"/>
                </a:solidFill>
                <a:latin typeface="Calibri"/>
              </a:rPr>
              <a:t>None required (GitHub distributed)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2304288"/>
            <a:ext cx="1188720" cy="347472"/>
          </a:xfrm>
          <a:prstGeom prst="rect">
            <a:avLst/>
          </a:prstGeom>
          <a:solidFill>
            <a:srgbClr val="F8F9FB"/>
          </a:solidFill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304288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1A2E"/>
                </a:solidFill>
                <a:latin typeface="Calibri"/>
              </a:rPr>
              <a:t>Reading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0" y="2304288"/>
            <a:ext cx="3291840" cy="347472"/>
          </a:xfrm>
          <a:prstGeom prst="rect">
            <a:avLst/>
          </a:prstGeom>
          <a:noFill/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01952" y="2304288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55570"/>
                </a:solidFill>
                <a:latin typeface="Calibri"/>
              </a:rPr>
              <a:t>App / login required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304288"/>
            <a:ext cx="3383280" cy="347472"/>
          </a:xfrm>
          <a:prstGeom prst="rect">
            <a:avLst/>
          </a:prstGeom>
          <a:solidFill>
            <a:srgbClr val="F0F7FF"/>
          </a:solidFill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3792" y="2304288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E6FD9"/>
                </a:solidFill>
                <a:latin typeface="Calibri"/>
              </a:rPr>
              <a:t>Any smartphone camera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2651760"/>
            <a:ext cx="1188720" cy="347472"/>
          </a:xfrm>
          <a:prstGeom prst="rect">
            <a:avLst/>
          </a:prstGeom>
          <a:solidFill>
            <a:srgbClr val="F8F9FB"/>
          </a:solidFill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2651760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1A2E"/>
                </a:solidFill>
                <a:latin typeface="Calibri"/>
              </a:rPr>
              <a:t>Cultural depth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0" y="2651760"/>
            <a:ext cx="3291840" cy="347472"/>
          </a:xfrm>
          <a:prstGeom prst="rect">
            <a:avLst/>
          </a:prstGeom>
          <a:noFill/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01952" y="2651760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55570"/>
                </a:solidFill>
                <a:latin typeface="Calibri"/>
              </a:rPr>
              <a:t>Functionality &amp; convenience at the core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20640" y="2651760"/>
            <a:ext cx="3383280" cy="347472"/>
          </a:xfrm>
          <a:prstGeom prst="rect">
            <a:avLst/>
          </a:prstGeom>
          <a:solidFill>
            <a:srgbClr val="F0F7FF"/>
          </a:solidFill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93792" y="2651760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E6FD9"/>
                </a:solidFill>
                <a:latin typeface="Calibri"/>
              </a:rPr>
              <a:t>70+ essays + gift economy practice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2999232"/>
            <a:ext cx="1188720" cy="347472"/>
          </a:xfrm>
          <a:prstGeom prst="rect">
            <a:avLst/>
          </a:prstGeom>
          <a:solidFill>
            <a:srgbClr val="F8F9FB"/>
          </a:solidFill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2999232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1A2E"/>
                </a:solidFill>
                <a:latin typeface="Calibri"/>
              </a:rPr>
              <a:t>Social impact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28800" y="2999232"/>
            <a:ext cx="3291840" cy="347472"/>
          </a:xfrm>
          <a:prstGeom prst="rect">
            <a:avLst/>
          </a:prstGeom>
          <a:noFill/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901952" y="2999232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55570"/>
                </a:solidFill>
                <a:latin typeface="Calibri"/>
              </a:rPr>
              <a:t>Platform-level contribution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20640" y="2999232"/>
            <a:ext cx="3383280" cy="347472"/>
          </a:xfrm>
          <a:prstGeom prst="rect">
            <a:avLst/>
          </a:prstGeom>
          <a:solidFill>
            <a:srgbClr val="F0F7FF"/>
          </a:solidFill>
          <a:ln w="6350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93792" y="2999232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E6FD9"/>
                </a:solidFill>
                <a:latin typeface="Calibri"/>
              </a:rPr>
              <a:t>SoulCarrier (unclaimed graves mission)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999A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Three partnership models tailored to your business model, with progressive escalation possible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6FD9"/>
                </a:solidFill>
                <a:latin typeface="Calibri"/>
              </a:rPr>
              <a:t>PARTNERSHIP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05840"/>
            <a:ext cx="502920" cy="502920"/>
          </a:xfrm>
          <a:prstGeom prst="rect">
            <a:avLst/>
          </a:prstGeom>
          <a:solidFill>
            <a:srgbClr val="1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05840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Calibri"/>
              </a:rPr>
              <a:t>Referral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987552"/>
            <a:ext cx="69951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A1A2E"/>
                </a:solidFill>
                <a:latin typeface="Calibri"/>
              </a:rPr>
              <a:t>A. Client Referral Partnership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70432"/>
            <a:ext cx="69951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570"/>
                </a:solidFill>
                <a:latin typeface="Calibri"/>
              </a:rPr>
              <a:t>Introduce clients when TokiStorage fits. You receive a referral fee; we handle delivery end-to-end.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89888"/>
            <a:ext cx="69951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E6FD9"/>
                </a:solidFill>
                <a:latin typeface="Calibri"/>
              </a:rPr>
              <a:t>E.g.: End-of-life consulting → offer proof of existence / Funeral DX → add memorial option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09928"/>
            <a:ext cx="7863840" cy="685800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801368"/>
            <a:ext cx="502920" cy="502920"/>
          </a:xfrm>
          <a:prstGeom prst="rect">
            <a:avLst/>
          </a:prstGeom>
          <a:solidFill>
            <a:srgbClr val="B48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801368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Calibri"/>
              </a:rPr>
              <a:t>Joint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783080"/>
            <a:ext cx="69951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A1A2E"/>
                </a:solidFill>
                <a:latin typeface="Calibri"/>
              </a:rPr>
              <a:t>B. Joint Solution Partnership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1965960"/>
            <a:ext cx="69951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570"/>
                </a:solidFill>
                <a:latin typeface="Calibri"/>
              </a:rPr>
              <a:t>Embed TokiStorage into your consulting engagements. Position millennium records as the "outcome layer" of ESG, revitalization, or DX projects.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185416"/>
            <a:ext cx="69951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E6FD9"/>
                </a:solidFill>
                <a:latin typeface="Calibri"/>
              </a:rPr>
              <a:t>E.g.: Municipal DX → community archive / Hotel CX → guest record upgrade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05456"/>
            <a:ext cx="7863840" cy="685800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2596896"/>
            <a:ext cx="50292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96896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Calibri"/>
              </a:rPr>
              <a:t>Co-Create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2578608"/>
            <a:ext cx="69951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A1A2E"/>
                </a:solidFill>
                <a:latin typeface="Calibri"/>
              </a:rPr>
              <a:t>C. New Business Co-Creation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2761488"/>
            <a:ext cx="69951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570"/>
                </a:solidFill>
                <a:latin typeface="Calibri"/>
              </a:rPr>
              <a:t>Launch a new venture together. We bring technology, philosophy, and use cases. You bring market access, credibility, and scale.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2980944"/>
            <a:ext cx="69951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E6FD9"/>
                </a:solidFill>
                <a:latin typeface="Calibri"/>
              </a:rPr>
              <a:t>E.g.: Memorial-tech startup / Enterprise perpetual archive service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999A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Revenue design ensures all three parties — client, partner, and TokiStorage —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6FD9"/>
                </a:solidFill>
                <a:latin typeface="Calibri"/>
              </a:rPr>
              <a:t>REVENUE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97280"/>
            <a:ext cx="2194560" cy="777240"/>
          </a:xfrm>
          <a:prstGeom prst="rect">
            <a:avLst/>
          </a:prstGeom>
          <a:solidFill>
            <a:srgbClr val="ECFDF5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152144"/>
            <a:ext cx="204825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59669"/>
                </a:solidFill>
                <a:latin typeface="Calibri"/>
              </a:rPr>
              <a:t>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371600"/>
            <a:ext cx="2048256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570"/>
                </a:solidFill>
                <a:latin typeface="Calibri"/>
              </a:rPr>
              <a:t>1,000-year proof of existence
Tangible social meaning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28016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999AA"/>
                </a:solidFill>
                <a:latin typeface="Calibri"/>
              </a:rPr>
              <a:t>←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097280"/>
            <a:ext cx="2194560" cy="777240"/>
          </a:xfrm>
          <a:prstGeom prst="rect">
            <a:avLst/>
          </a:prstGeom>
          <a:solidFill>
            <a:srgbClr val="EEF4FD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152144"/>
            <a:ext cx="204825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E6FD9"/>
                </a:solidFill>
                <a:latin typeface="Calibri"/>
              </a:rPr>
              <a:t>Partner (you)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371600"/>
            <a:ext cx="2048256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570"/>
                </a:solidFill>
                <a:latin typeface="Calibri"/>
              </a:rPr>
              <a:t>Referral fee or joint revenue
Client LTV increase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28016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999AA"/>
                </a:solidFill>
                <a:latin typeface="Calibri"/>
              </a:rPr>
              <a:t>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2194560" cy="777240"/>
          </a:xfrm>
          <a:prstGeom prst="rect">
            <a:avLst/>
          </a:prstGeom>
          <a:solidFill>
            <a:srgbClr val="FEF9EE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1152144"/>
            <a:ext cx="204825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2400E"/>
                </a:solidFill>
                <a:latin typeface="Calibri"/>
              </a:rPr>
              <a:t>TokiStorage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1371600"/>
            <a:ext cx="2048256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570"/>
                </a:solidFill>
                <a:latin typeface="Calibri"/>
              </a:rPr>
              <a:t>Technology &amp; delivery
Revenue → SoulCarrier mission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94560"/>
            <a:ext cx="7863840" cy="914400"/>
          </a:xfrm>
          <a:prstGeom prst="rect">
            <a:avLst/>
          </a:prstGeom>
          <a:solidFill>
            <a:srgbClr val="EEF4FD"/>
          </a:solidFill>
          <a:ln w="25400">
            <a:solidFill>
              <a:srgbClr val="1E6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1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267712"/>
            <a:ext cx="7589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A1A2E"/>
                </a:solidFill>
                <a:latin typeface="Calibri"/>
              </a:rPr>
              <a:t>Early Partner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487168"/>
            <a:ext cx="75895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570"/>
                </a:solidFill>
                <a:latin typeface="Calibri"/>
              </a:rPr>
              <a:t>We are approaching consulting firms sequentially. The first firm to partner receives preferential terms — including priority referral conditions and potential regional exclusivity. Early movers shape the partnership.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999A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Six client sectors show particularly high affinity: funeral, hospitality, religious, government, ESG, and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6FD9"/>
                </a:solidFill>
                <a:latin typeface="Calibri"/>
              </a:rPr>
              <a:t>CLIENT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7315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55570"/>
                </a:solidFill>
                <a:latin typeface="Calibri"/>
              </a:rPr>
              <a:t>Does your client portfolio include any of these sectors?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606040" cy="1325880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26060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2E"/>
                </a:solidFill>
                <a:latin typeface="Calibri"/>
              </a:rPr>
              <a:t>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1490472"/>
            <a:ext cx="24963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1A2E"/>
                </a:solidFill>
                <a:latin typeface="Calibri"/>
              </a:rPr>
              <a:t>Funeral &amp; Memorial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664208"/>
            <a:ext cx="2496312" cy="804673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55570"/>
                </a:solidFill>
                <a:latin typeface="Calibri"/>
              </a:rPr>
              <a:t>Gravestone alternatives, digital perpetual care, bereavement services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188720"/>
            <a:ext cx="2606040" cy="1325880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3552" y="1234440"/>
            <a:ext cx="26060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2E"/>
                </a:solidFill>
                <a:latin typeface="Calibri"/>
              </a:rPr>
              <a:t>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490472"/>
            <a:ext cx="24963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1A2E"/>
                </a:solidFill>
                <a:latin typeface="Calibri"/>
              </a:rPr>
              <a:t>Hospitality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8416" y="1664208"/>
            <a:ext cx="2496312" cy="804673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55570"/>
                </a:solidFill>
                <a:latin typeface="Calibri"/>
              </a:rPr>
              <a:t>Wedding records, hotel CX, anniversary services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4" y="1188720"/>
            <a:ext cx="2606040" cy="1325880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9904" y="1234440"/>
            <a:ext cx="26060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2E"/>
                </a:solidFill>
                <a:latin typeface="Calibri"/>
              </a:rPr>
              <a:t>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90472"/>
            <a:ext cx="24963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1A2E"/>
                </a:solidFill>
                <a:latin typeface="Calibri"/>
              </a:rPr>
              <a:t>Religious Institutions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1664208"/>
            <a:ext cx="2496312" cy="804673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55570"/>
                </a:solidFill>
                <a:latin typeface="Calibri"/>
              </a:rPr>
              <a:t>Perpetual congregation records, visitor DX, cultural preservation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79192"/>
            <a:ext cx="2606040" cy="1325880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724912"/>
            <a:ext cx="26060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2E"/>
                </a:solidFill>
                <a:latin typeface="Calibri"/>
              </a:rPr>
              <a:t>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2980944"/>
            <a:ext cx="24963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1A2E"/>
                </a:solidFill>
                <a:latin typeface="Calibri"/>
              </a:rPr>
              <a:t>Government &amp; Education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" y="3154680"/>
            <a:ext cx="2496312" cy="804673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55570"/>
                </a:solidFill>
                <a:latin typeface="Calibri"/>
              </a:rPr>
              <a:t>Community archives, disaster records, school history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73552" y="2679192"/>
            <a:ext cx="2606040" cy="1325880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73552" y="2724912"/>
            <a:ext cx="26060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2E"/>
                </a:solidFill>
                <a:latin typeface="Calibri"/>
              </a:rPr>
              <a:t>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28416" y="2980944"/>
            <a:ext cx="24963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1A2E"/>
                </a:solidFill>
                <a:latin typeface="Calibri"/>
              </a:rPr>
              <a:t>ESG &amp; Sustainability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28416" y="3154680"/>
            <a:ext cx="2496312" cy="804673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55570"/>
                </a:solidFill>
                <a:latin typeface="Calibri"/>
              </a:rPr>
              <a:t>1,000-year corporate purpose records, SDG impact proof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9904" y="2679192"/>
            <a:ext cx="2606040" cy="1325880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9904" y="2724912"/>
            <a:ext cx="26060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A2E"/>
                </a:solidFill>
                <a:latin typeface="Calibri"/>
              </a:rPr>
              <a:t>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44768" y="2980944"/>
            <a:ext cx="24963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1A2E"/>
                </a:solidFill>
                <a:latin typeface="Calibri"/>
              </a:rPr>
              <a:t>Finance &amp; Insurance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4768" y="3154680"/>
            <a:ext cx="2496312" cy="804673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55570"/>
                </a:solidFill>
                <a:latin typeface="Calibri"/>
              </a:rPr>
              <a:t>End-of-life service integration, digital estate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999A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The founder is a Big Four alumnus who designed the partnership model with full awareness of firm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6FD9"/>
                </a:solidFill>
                <a:latin typeface="Calibri"/>
              </a:rPr>
              <a:t>TEAM &amp; INDEPENDENCE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48640" cy="5486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914400"/>
            <a:ext cx="548640" cy="5486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914400"/>
            <a:ext cx="6400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A1A2E"/>
                </a:solidFill>
                <a:latin typeface="Calibri"/>
              </a:rPr>
              <a:t>Takuya Sato — CEO, Universal Need Inc.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70432"/>
            <a:ext cx="685800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570"/>
                </a:solidFill>
                <a:latin typeface="Calibri"/>
              </a:rPr>
              <a:t>Former Big Four consultant — understands firm culture, client engagement, and project design from the inside. 20+ years in semiconductor manufacturing engineering. Former president of Timeless Town Shin-Urayasu residents' association (250 households). Through SoulCarrier's work with unclaimed graves, witnessed firsthand how memories vanish — and conceived TokiStorage. Validated off-grid, institution-free 1,000-year design through testing in Maui and Lake Yamanakako.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11680"/>
            <a:ext cx="1394460" cy="201168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011680"/>
            <a:ext cx="130302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555570"/>
                </a:solidFill>
                <a:latin typeface="Calibri"/>
              </a:rPr>
              <a:t>Big Four Alumni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10612" y="2011680"/>
            <a:ext cx="2793492" cy="201168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6332" y="2011680"/>
            <a:ext cx="2702052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555570"/>
                </a:solidFill>
                <a:latin typeface="Calibri"/>
              </a:rPr>
              <a:t>Semiconductor engineering 20+ yrs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77256" y="2011680"/>
            <a:ext cx="3026664" cy="201168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22976" y="2011680"/>
            <a:ext cx="2935224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555570"/>
                </a:solidFill>
                <a:latin typeface="Calibri"/>
              </a:rPr>
              <a:t>Community president (250 households)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2267712"/>
            <a:ext cx="1705356" cy="201168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2267712"/>
            <a:ext cx="1613916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555570"/>
                </a:solidFill>
                <a:latin typeface="Calibri"/>
              </a:rPr>
              <a:t>SoulCarrier founder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1508" y="2267712"/>
            <a:ext cx="1627632" cy="201168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67228" y="2267712"/>
            <a:ext cx="1536192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555570"/>
                </a:solidFill>
                <a:latin typeface="Calibri"/>
              </a:rPr>
              <a:t>Off-grid validated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22292" y="2267712"/>
            <a:ext cx="3259836" cy="201168"/>
          </a:xfrm>
          <a:prstGeom prst="rect">
            <a:avLst/>
          </a:prstGeom>
          <a:solidFill>
            <a:srgbClr val="F8F9FB"/>
          </a:solidFill>
          <a:ln w="9525">
            <a:solidFill>
              <a:srgbClr val="E2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8012" y="2267712"/>
            <a:ext cx="3168396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555570"/>
                </a:solidFill>
                <a:latin typeface="Calibri"/>
              </a:rPr>
              <a:t>Relocating to Sado Island (Spring 2026)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377440"/>
            <a:ext cx="7863840" cy="731520"/>
          </a:xfrm>
          <a:prstGeom prst="rect">
            <a:avLst/>
          </a:prstGeom>
          <a:solidFill>
            <a:srgbClr val="EEF4FD"/>
          </a:solidFill>
          <a:ln w="25400">
            <a:solidFill>
              <a:srgbClr val="1E6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2377440"/>
            <a:ext cx="54864" cy="731520"/>
          </a:xfrm>
          <a:prstGeom prst="rect">
            <a:avLst/>
          </a:prstGeom>
          <a:solidFill>
            <a:srgbClr val="1E6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432304"/>
            <a:ext cx="75895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1A2E"/>
                </a:solidFill>
                <a:latin typeface="Calibri"/>
              </a:rPr>
              <a:t>A note on independence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633472"/>
            <a:ext cx="75895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570"/>
                </a:solidFill>
                <a:latin typeface="Calibri"/>
              </a:rPr>
              <a:t>This is a vendor partnership — structurally identical to recommending Salesforce or SAP. No audit engagement, no equity relationship, no independence concerns. Designed with full awareness of firm compliance requirements.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999A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Let's start with a
30-minute conversation.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64008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BBBCC"/>
                </a:solidFill>
                <a:latin typeface="Calibri"/>
              </a:rPr>
              <a:t>Partnership structure is flexible by design.
Let's reverse-engineer the right model
from your clients' actual challenges.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649724"/>
            <a:ext cx="9144000" cy="6350"/>
          </a:xfrm>
          <a:prstGeom prst="rect">
            <a:avLst/>
          </a:prstGeom>
          <a:solidFill>
            <a:srgbClr val="22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6863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Universal Need Inc. — TokiStorage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46863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999AA"/>
                </a:solidFill>
                <a:latin typeface="Calibri"/>
              </a:rPr>
              <a:t>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68630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999A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