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4572000" cy="320040"/>
          </a:xfrm>
          <a:prstGeom prst="rect">
            <a:avLst/>
          </a:prstGeom>
          <a:noFill/>
        </p:spPr>
        <p:txBody>
          <a:bodyPr wrap="square"/>
          <a:lstStyle/>
          <a:p>
            <a:pPr algn="l">
              <a:lnSpc>
                <a:spcPct val="135000"/>
              </a:lnSpc>
              <a:spcBef>
                <a:spcPts val="0"/>
              </a:spcBef>
              <a:spcAft>
                <a:spcPts val="0"/>
              </a:spcAft>
            </a:pPr>
            <a:r>
              <a:rPr sz="1000" b="0">
                <a:solidFill>
                  <a:srgbClr val="94A3B8"/>
                </a:solidFill>
                <a:latin typeface="Calibri"/>
              </a:rPr>
              <a:t>Partnership Proposal — Confidential</a:t>
            </a:r>
          </a:p>
        </p:txBody>
      </p:sp>
      <p:sp>
        <p:nvSpPr>
          <p:cNvPr id="4" name="TextBox 3"/>
          <p:cNvSpPr txBox="1"/>
          <p:nvPr/>
        </p:nvSpPr>
        <p:spPr>
          <a:xfrm>
            <a:off x="914400" y="1188720"/>
            <a:ext cx="7315200" cy="1371600"/>
          </a:xfrm>
          <a:prstGeom prst="rect">
            <a:avLst/>
          </a:prstGeom>
          <a:noFill/>
        </p:spPr>
        <p:txBody>
          <a:bodyPr wrap="square"/>
          <a:lstStyle/>
          <a:p>
            <a:pPr algn="l">
              <a:lnSpc>
                <a:spcPct val="135000"/>
              </a:lnSpc>
              <a:spcBef>
                <a:spcPts val="0"/>
              </a:spcBef>
              <a:spcAft>
                <a:spcPts val="0"/>
              </a:spcAft>
            </a:pPr>
            <a:r>
              <a:rPr sz="3000" b="1">
                <a:solidFill>
                  <a:srgbClr val="FFFFFF"/>
                </a:solidFill>
                <a:latin typeface="Calibri"/>
              </a:rPr>
              <a:t>Bring your clients
1,000-year proof of existence.</a:t>
            </a:r>
          </a:p>
        </p:txBody>
      </p:sp>
      <p:sp>
        <p:nvSpPr>
          <p:cNvPr id="5" name="TextBox 4"/>
          <p:cNvSpPr txBox="1"/>
          <p:nvPr/>
        </p:nvSpPr>
        <p:spPr>
          <a:xfrm>
            <a:off x="914400" y="2743200"/>
            <a:ext cx="6400800" cy="822960"/>
          </a:xfrm>
          <a:prstGeom prst="rect">
            <a:avLst/>
          </a:prstGeom>
          <a:noFill/>
        </p:spPr>
        <p:txBody>
          <a:bodyPr wrap="square"/>
          <a:lstStyle/>
          <a:p>
            <a:pPr algn="l">
              <a:lnSpc>
                <a:spcPct val="135000"/>
              </a:lnSpc>
              <a:spcBef>
                <a:spcPts val="0"/>
              </a:spcBef>
              <a:spcAft>
                <a:spcPts val="0"/>
              </a:spcAft>
            </a:pPr>
            <a:r>
              <a:rPr sz="1400" b="0">
                <a:solidFill>
                  <a:srgbClr val="BBBBCC"/>
                </a:solidFill>
                <a:latin typeface="Calibri"/>
              </a:rPr>
              <a:t>The technology is ready. Over 200 use cases mapped.
What's missing is the delivery network.</a:t>
            </a:r>
          </a:p>
        </p:txBody>
      </p:sp>
      <p:sp>
        <p:nvSpPr>
          <p:cNvPr id="6" name="Rectangle 5"/>
          <p:cNvSpPr/>
          <p:nvPr/>
        </p:nvSpPr>
        <p:spPr>
          <a:xfrm>
            <a:off x="0" y="4549140"/>
            <a:ext cx="9144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640580"/>
            <a:ext cx="27432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a:t>
            </a:r>
          </a:p>
        </p:txBody>
      </p:sp>
      <p:sp>
        <p:nvSpPr>
          <p:cNvPr id="8" name="TextBox 7"/>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TokiStorage</a:t>
            </a:r>
          </a:p>
        </p:txBody>
      </p:sp>
      <p:sp>
        <p:nvSpPr>
          <p:cNvPr id="9" name="TextBox 8"/>
          <p:cNvSpPr txBox="1"/>
          <p:nvPr/>
        </p:nvSpPr>
        <p:spPr>
          <a:xfrm>
            <a:off x="7315200" y="4640580"/>
            <a:ext cx="1371600" cy="320040"/>
          </a:xfrm>
          <a:prstGeom prst="rect">
            <a:avLst/>
          </a:prstGeom>
          <a:noFill/>
        </p:spPr>
        <p:txBody>
          <a:bodyPr wrap="square"/>
          <a:lstStyle/>
          <a:p>
            <a:pPr algn="r">
              <a:lnSpc>
                <a:spcPct val="135000"/>
              </a:lnSpc>
              <a:spcBef>
                <a:spcPts val="0"/>
              </a:spcBef>
              <a:spcAft>
                <a:spcPts val="0"/>
              </a:spcAft>
            </a:pPr>
            <a:r>
              <a:rPr sz="900" b="0">
                <a:solidFill>
                  <a:srgbClr val="94A3B8"/>
                </a:solidFill>
                <a:latin typeface="Calibri"/>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The rise of AI and Big Tech demands consulting firms find questions that resist commoditization</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BACKGROUND</a:t>
            </a:r>
          </a:p>
        </p:txBody>
      </p:sp>
      <p:sp>
        <p:nvSpPr>
          <p:cNvPr id="5" name="Rectangle 4"/>
          <p:cNvSpPr/>
          <p:nvPr/>
        </p:nvSpPr>
        <p:spPr>
          <a:xfrm>
            <a:off x="457200"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01</a:t>
            </a:r>
          </a:p>
        </p:txBody>
      </p:sp>
      <p:sp>
        <p:nvSpPr>
          <p:cNvPr id="7" name="TextBox 6"/>
          <p:cNvSpPr txBox="1"/>
          <p:nvPr/>
        </p:nvSpPr>
        <p:spPr>
          <a:xfrm>
            <a:off x="594360"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AI is transforming consulting</a:t>
            </a:r>
          </a:p>
        </p:txBody>
      </p:sp>
      <p:sp>
        <p:nvSpPr>
          <p:cNvPr id="8" name="TextBox 7"/>
          <p:cNvSpPr txBox="1"/>
          <p:nvPr/>
        </p:nvSpPr>
        <p:spPr>
          <a:xfrm>
            <a:off x="594360"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Generative AI is rapidly commoditizing research, analysis, and strategy frameworks. Value models built on information asymmetry face structural disruption.</a:t>
            </a:r>
          </a:p>
        </p:txBody>
      </p:sp>
      <p:sp>
        <p:nvSpPr>
          <p:cNvPr id="9" name="Rectangle 8"/>
          <p:cNvSpPr/>
          <p:nvPr/>
        </p:nvSpPr>
        <p:spPr>
          <a:xfrm>
            <a:off x="3273552"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02</a:t>
            </a:r>
          </a:p>
        </p:txBody>
      </p:sp>
      <p:sp>
        <p:nvSpPr>
          <p:cNvPr id="11" name="TextBox 10"/>
          <p:cNvSpPr txBox="1"/>
          <p:nvPr/>
        </p:nvSpPr>
        <p:spPr>
          <a:xfrm>
            <a:off x="3410712"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Differentiation is shrinking</a:t>
            </a:r>
          </a:p>
        </p:txBody>
      </p:sp>
      <p:sp>
        <p:nvSpPr>
          <p:cNvPr id="12" name="TextBox 11"/>
          <p:cNvSpPr txBox="1"/>
          <p:nvPr/>
        </p:nvSpPr>
        <p:spPr>
          <a:xfrm>
            <a:off x="3410712"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Industry analysis, benchmarks, digital transformation—every firm converges on similar proposals with similar tools. The differentiator is shifting from what to propose to what questions to ask.</a:t>
            </a:r>
          </a:p>
        </p:txBody>
      </p:sp>
      <p:sp>
        <p:nvSpPr>
          <p:cNvPr id="13" name="Rectangle 12"/>
          <p:cNvSpPr/>
          <p:nvPr/>
        </p:nvSpPr>
        <p:spPr>
          <a:xfrm>
            <a:off x="6089904"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03</a:t>
            </a:r>
          </a:p>
        </p:txBody>
      </p:sp>
      <p:sp>
        <p:nvSpPr>
          <p:cNvPr id="15" name="TextBox 14"/>
          <p:cNvSpPr txBox="1"/>
          <p:nvPr/>
        </p:nvSpPr>
        <p:spPr>
          <a:xfrm>
            <a:off x="6227064"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The millennium question</a:t>
            </a:r>
          </a:p>
        </p:txBody>
      </p:sp>
      <p:sp>
        <p:nvSpPr>
          <p:cNvPr id="16" name="TextBox 15"/>
          <p:cNvSpPr txBox="1"/>
          <p:nvPr/>
        </p:nvSpPr>
        <p:spPr>
          <a:xfrm>
            <a:off x="6227064"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"What will you preserve for 1,000 years?"—a question AI cannot generate. It touches clients' fundamental needs and creates proposals structurally immune to commoditization.</a:t>
            </a:r>
          </a:p>
        </p:txBody>
      </p:sp>
      <p:sp>
        <p:nvSpPr>
          <p:cNvPr id="17" name="Rectangle 1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19" name="TextBox 1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0" name="TextBox 1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TokiStorage delivers technology, use cases, intellectual foundation, and distribution as a unified design philosophy</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OUR OFFERING</a:t>
            </a:r>
          </a:p>
        </p:txBody>
      </p:sp>
      <p:sp>
        <p:nvSpPr>
          <p:cNvPr id="5" name="Rectangle 4"/>
          <p:cNvSpPr/>
          <p:nvPr/>
        </p:nvSpPr>
        <p:spPr>
          <a:xfrm>
            <a:off x="45720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Q</a:t>
            </a:r>
          </a:p>
        </p:txBody>
      </p:sp>
      <p:sp>
        <p:nvSpPr>
          <p:cNvPr id="8" name="TextBox 7"/>
          <p:cNvSpPr txBox="1"/>
          <p:nvPr/>
        </p:nvSpPr>
        <p:spPr>
          <a:xfrm>
            <a:off x="105156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Quartz glass recording</a:t>
            </a:r>
          </a:p>
        </p:txBody>
      </p:sp>
      <p:sp>
        <p:nvSpPr>
          <p:cNvPr id="9" name="TextBox 8"/>
          <p:cNvSpPr txBox="1"/>
          <p:nvPr/>
        </p:nvSpPr>
        <p:spPr>
          <a:xfrm>
            <a:off x="105156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QR codes inscribed via metal deposition. Zero servers, zero power. SLA 100%, guaranteed 1,000 years. Readable by any smartphone camera.</a:t>
            </a:r>
          </a:p>
        </p:txBody>
      </p:sp>
      <p:sp>
        <p:nvSpPr>
          <p:cNvPr id="10" name="Rectangle 9"/>
          <p:cNvSpPr/>
          <p:nvPr/>
        </p:nvSpPr>
        <p:spPr>
          <a:xfrm>
            <a:off x="461772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5488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U</a:t>
            </a:r>
          </a:p>
        </p:txBody>
      </p:sp>
      <p:sp>
        <p:nvSpPr>
          <p:cNvPr id="13" name="TextBox 12"/>
          <p:cNvSpPr txBox="1"/>
          <p:nvPr/>
        </p:nvSpPr>
        <p:spPr>
          <a:xfrm>
            <a:off x="521208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200+ use cases (organized by industry)</a:t>
            </a:r>
          </a:p>
        </p:txBody>
      </p:sp>
      <p:sp>
        <p:nvSpPr>
          <p:cNvPr id="14" name="TextBox 13"/>
          <p:cNvSpPr txBox="1"/>
          <p:nvPr/>
        </p:nvSpPr>
        <p:spPr>
          <a:xfrm>
            <a:off x="521208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End-of-life, weddings, temples, schools, corporations, municipalities, NGOs, hotels, airlines. Ready for direct proposal integration.</a:t>
            </a:r>
          </a:p>
        </p:txBody>
      </p:sp>
      <p:sp>
        <p:nvSpPr>
          <p:cNvPr id="15" name="Rectangle 14"/>
          <p:cNvSpPr/>
          <p:nvPr/>
        </p:nvSpPr>
        <p:spPr>
          <a:xfrm>
            <a:off x="45720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E</a:t>
            </a:r>
          </a:p>
        </p:txBody>
      </p:sp>
      <p:sp>
        <p:nvSpPr>
          <p:cNvPr id="18" name="TextBox 17"/>
          <p:cNvSpPr txBox="1"/>
          <p:nvPr/>
        </p:nvSpPr>
        <p:spPr>
          <a:xfrm>
            <a:off x="105156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70+ philosophical essays (9 domains)</a:t>
            </a:r>
          </a:p>
        </p:txBody>
      </p:sp>
      <p:sp>
        <p:nvSpPr>
          <p:cNvPr id="19" name="TextBox 18"/>
          <p:cNvSpPr txBox="1"/>
          <p:nvPr/>
        </p:nvSpPr>
        <p:spPr>
          <a:xfrm>
            <a:off x="105156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Proof of existence explored across psychology, religion, economics, AI, and space. Standalone intellectual content for client proposals.</a:t>
            </a:r>
          </a:p>
        </p:txBody>
      </p:sp>
      <p:sp>
        <p:nvSpPr>
          <p:cNvPr id="20" name="Rectangle 19"/>
          <p:cNvSpPr/>
          <p:nvPr/>
        </p:nvSpPr>
        <p:spPr>
          <a:xfrm>
            <a:off x="461772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8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A</a:t>
            </a:r>
          </a:p>
        </p:txBody>
      </p:sp>
      <p:sp>
        <p:nvSpPr>
          <p:cNvPr id="23" name="TextBox 22"/>
          <p:cNvSpPr txBox="1"/>
          <p:nvPr/>
        </p:nvSpPr>
        <p:spPr>
          <a:xfrm>
            <a:off x="521208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Pearl Soap + Ambassador network</a:t>
            </a:r>
          </a:p>
        </p:txBody>
      </p:sp>
      <p:sp>
        <p:nvSpPr>
          <p:cNvPr id="24" name="TextBox 23"/>
          <p:cNvSpPr txBox="1"/>
          <p:nvPr/>
        </p:nvSpPr>
        <p:spPr>
          <a:xfrm>
            <a:off x="521208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A gift-economy practice and decentralized workshop network ready to scale nationwide. Direct end-user touchpoint.</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TokiStorage is not a "competitor" to digital services — it is a complementary millennium layer</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POSITIONING</a:t>
            </a:r>
          </a:p>
        </p:txBody>
      </p:sp>
      <p:sp>
        <p:nvSpPr>
          <p:cNvPr id="5" name="Rectangle 4"/>
          <p:cNvSpPr/>
          <p:nvPr/>
        </p:nvSpPr>
        <p:spPr>
          <a:xfrm>
            <a:off x="640080" y="1051560"/>
            <a:ext cx="13716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51560"/>
            <a:ext cx="11887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
            </a:r>
          </a:p>
        </p:txBody>
      </p:sp>
      <p:sp>
        <p:nvSpPr>
          <p:cNvPr id="7" name="Rectangle 6"/>
          <p:cNvSpPr/>
          <p:nvPr/>
        </p:nvSpPr>
        <p:spPr>
          <a:xfrm>
            <a:off x="2011680" y="1051560"/>
            <a:ext cx="32004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051560"/>
            <a:ext cx="30175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Digital services (everyday records)</a:t>
            </a:r>
          </a:p>
        </p:txBody>
      </p:sp>
      <p:sp>
        <p:nvSpPr>
          <p:cNvPr id="9" name="Rectangle 8"/>
          <p:cNvSpPr/>
          <p:nvPr/>
        </p:nvSpPr>
        <p:spPr>
          <a:xfrm>
            <a:off x="5212080" y="1051560"/>
            <a:ext cx="329184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051560"/>
            <a:ext cx="310896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TokiStorage (millennium records)</a:t>
            </a:r>
          </a:p>
        </p:txBody>
      </p:sp>
      <p:sp>
        <p:nvSpPr>
          <p:cNvPr id="11" name="Rectangle 10"/>
          <p:cNvSpPr/>
          <p:nvPr/>
        </p:nvSpPr>
        <p:spPr>
          <a:xfrm>
            <a:off x="640080" y="1508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Medium</a:t>
            </a:r>
          </a:p>
        </p:txBody>
      </p:sp>
      <p:sp>
        <p:nvSpPr>
          <p:cNvPr id="13" name="Rectangle 12"/>
          <p:cNvSpPr/>
          <p:nvPr/>
        </p:nvSpPr>
        <p:spPr>
          <a:xfrm>
            <a:off x="2011680" y="1508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1508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Cloud / HDD</a:t>
            </a:r>
          </a:p>
        </p:txBody>
      </p:sp>
      <p:sp>
        <p:nvSpPr>
          <p:cNvPr id="15" name="Rectangle 14"/>
          <p:cNvSpPr/>
          <p:nvPr/>
        </p:nvSpPr>
        <p:spPr>
          <a:xfrm>
            <a:off x="5212080" y="1508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508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Quartz glass (physical)</a:t>
            </a:r>
          </a:p>
        </p:txBody>
      </p:sp>
      <p:sp>
        <p:nvSpPr>
          <p:cNvPr id="17" name="Rectangle 16"/>
          <p:cNvSpPr/>
          <p:nvPr/>
        </p:nvSpPr>
        <p:spPr>
          <a:xfrm>
            <a:off x="640080" y="1965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965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Best horizon</a:t>
            </a:r>
          </a:p>
        </p:txBody>
      </p:sp>
      <p:sp>
        <p:nvSpPr>
          <p:cNvPr id="19" name="Rectangle 18"/>
          <p:cNvSpPr/>
          <p:nvPr/>
        </p:nvSpPr>
        <p:spPr>
          <a:xfrm>
            <a:off x="2011680" y="1965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1965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Now to decades (optimized for daily use)</a:t>
            </a:r>
          </a:p>
        </p:txBody>
      </p:sp>
      <p:sp>
        <p:nvSpPr>
          <p:cNvPr id="21" name="Rectangle 20"/>
          <p:cNvSpPr/>
          <p:nvPr/>
        </p:nvSpPr>
        <p:spPr>
          <a:xfrm>
            <a:off x="5212080" y="1965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1965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100–1,000 years (optimized for permanence)</a:t>
            </a:r>
          </a:p>
        </p:txBody>
      </p:sp>
      <p:sp>
        <p:nvSpPr>
          <p:cNvPr id="23" name="Rectangle 22"/>
          <p:cNvSpPr/>
          <p:nvPr/>
        </p:nvSpPr>
        <p:spPr>
          <a:xfrm>
            <a:off x="640080" y="24231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4231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Infrastructure</a:t>
            </a:r>
          </a:p>
        </p:txBody>
      </p:sp>
      <p:sp>
        <p:nvSpPr>
          <p:cNvPr id="25" name="Rectangle 24"/>
          <p:cNvSpPr/>
          <p:nvPr/>
        </p:nvSpPr>
        <p:spPr>
          <a:xfrm>
            <a:off x="2011680" y="24231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24231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Servers &amp; power (source of convenience)</a:t>
            </a:r>
          </a:p>
        </p:txBody>
      </p:sp>
      <p:sp>
        <p:nvSpPr>
          <p:cNvPr id="27" name="Rectangle 26"/>
          <p:cNvSpPr/>
          <p:nvPr/>
        </p:nvSpPr>
        <p:spPr>
          <a:xfrm>
            <a:off x="5212080" y="24231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24231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None required (GitHub distributed)</a:t>
            </a:r>
          </a:p>
        </p:txBody>
      </p:sp>
      <p:sp>
        <p:nvSpPr>
          <p:cNvPr id="29" name="Rectangle 28"/>
          <p:cNvSpPr/>
          <p:nvPr/>
        </p:nvSpPr>
        <p:spPr>
          <a:xfrm>
            <a:off x="640080" y="28803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8803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Reading</a:t>
            </a:r>
          </a:p>
        </p:txBody>
      </p:sp>
      <p:sp>
        <p:nvSpPr>
          <p:cNvPr id="31" name="Rectangle 30"/>
          <p:cNvSpPr/>
          <p:nvPr/>
        </p:nvSpPr>
        <p:spPr>
          <a:xfrm>
            <a:off x="2011680" y="28803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28803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App / login required</a:t>
            </a:r>
          </a:p>
        </p:txBody>
      </p:sp>
      <p:sp>
        <p:nvSpPr>
          <p:cNvPr id="33" name="Rectangle 32"/>
          <p:cNvSpPr/>
          <p:nvPr/>
        </p:nvSpPr>
        <p:spPr>
          <a:xfrm>
            <a:off x="5212080" y="28803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28803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Any smartphone camera</a:t>
            </a:r>
          </a:p>
        </p:txBody>
      </p:sp>
      <p:sp>
        <p:nvSpPr>
          <p:cNvPr id="35" name="Rectangle 34"/>
          <p:cNvSpPr/>
          <p:nvPr/>
        </p:nvSpPr>
        <p:spPr>
          <a:xfrm>
            <a:off x="640080" y="33375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375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Cultural depth</a:t>
            </a:r>
          </a:p>
        </p:txBody>
      </p:sp>
      <p:sp>
        <p:nvSpPr>
          <p:cNvPr id="37" name="Rectangle 36"/>
          <p:cNvSpPr/>
          <p:nvPr/>
        </p:nvSpPr>
        <p:spPr>
          <a:xfrm>
            <a:off x="2011680" y="33375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33375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Functionality &amp; convenience at the core</a:t>
            </a:r>
          </a:p>
        </p:txBody>
      </p:sp>
      <p:sp>
        <p:nvSpPr>
          <p:cNvPr id="39" name="Rectangle 38"/>
          <p:cNvSpPr/>
          <p:nvPr/>
        </p:nvSpPr>
        <p:spPr>
          <a:xfrm>
            <a:off x="5212080" y="33375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33375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70+ essays + gift economy practice</a:t>
            </a:r>
          </a:p>
        </p:txBody>
      </p:sp>
      <p:sp>
        <p:nvSpPr>
          <p:cNvPr id="41" name="Rectangle 40"/>
          <p:cNvSpPr/>
          <p:nvPr/>
        </p:nvSpPr>
        <p:spPr>
          <a:xfrm>
            <a:off x="640080" y="3794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94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Social impact</a:t>
            </a:r>
          </a:p>
        </p:txBody>
      </p:sp>
      <p:sp>
        <p:nvSpPr>
          <p:cNvPr id="43" name="Rectangle 42"/>
          <p:cNvSpPr/>
          <p:nvPr/>
        </p:nvSpPr>
        <p:spPr>
          <a:xfrm>
            <a:off x="2011680" y="3794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03120" y="3794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Platform-level contribution</a:t>
            </a:r>
          </a:p>
        </p:txBody>
      </p:sp>
      <p:sp>
        <p:nvSpPr>
          <p:cNvPr id="45" name="Rectangle 44"/>
          <p:cNvSpPr/>
          <p:nvPr/>
        </p:nvSpPr>
        <p:spPr>
          <a:xfrm>
            <a:off x="5212080" y="3794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0" y="3794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SoulCarrier (unclaimed graves mission)</a:t>
            </a:r>
          </a:p>
        </p:txBody>
      </p:sp>
      <p:sp>
        <p:nvSpPr>
          <p:cNvPr id="47" name="Rectangle 4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49" name="TextBox 4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50" name="TextBox 4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Three partnership models tailored to your business model, with progressive escalation possible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PARTNERSHIP MODELS</a:t>
            </a:r>
          </a:p>
        </p:txBody>
      </p:sp>
      <p:sp>
        <p:nvSpPr>
          <p:cNvPr id="5" name="Rectangle 4"/>
          <p:cNvSpPr/>
          <p:nvPr/>
        </p:nvSpPr>
        <p:spPr>
          <a:xfrm>
            <a:off x="457200" y="1051560"/>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70432"/>
            <a:ext cx="777240"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Referral</a:t>
            </a:r>
          </a:p>
        </p:txBody>
      </p:sp>
      <p:sp>
        <p:nvSpPr>
          <p:cNvPr id="8" name="TextBox 7"/>
          <p:cNvSpPr txBox="1"/>
          <p:nvPr/>
        </p:nvSpPr>
        <p:spPr>
          <a:xfrm>
            <a:off x="1508760" y="1124712"/>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A. Client Referral Partnership</a:t>
            </a:r>
          </a:p>
        </p:txBody>
      </p:sp>
      <p:sp>
        <p:nvSpPr>
          <p:cNvPr id="9" name="TextBox 8"/>
          <p:cNvSpPr txBox="1"/>
          <p:nvPr/>
        </p:nvSpPr>
        <p:spPr>
          <a:xfrm>
            <a:off x="1508760" y="1417320"/>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Introduce clients when TokiStorage fits. You receive a referral fee; we handle delivery end-to-end.</a:t>
            </a:r>
          </a:p>
        </p:txBody>
      </p:sp>
      <p:sp>
        <p:nvSpPr>
          <p:cNvPr id="10" name="TextBox 9"/>
          <p:cNvSpPr txBox="1"/>
          <p:nvPr/>
        </p:nvSpPr>
        <p:spPr>
          <a:xfrm>
            <a:off x="1508760" y="1783080"/>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End-of-life consulting → offer proof of existence / Funeral DX → add memorial option</a:t>
            </a:r>
          </a:p>
        </p:txBody>
      </p:sp>
      <p:sp>
        <p:nvSpPr>
          <p:cNvPr id="11" name="Rectangle 10"/>
          <p:cNvSpPr/>
          <p:nvPr/>
        </p:nvSpPr>
        <p:spPr>
          <a:xfrm>
            <a:off x="457200" y="2212848"/>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331720"/>
            <a:ext cx="777240" cy="82296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Joint</a:t>
            </a:r>
          </a:p>
        </p:txBody>
      </p:sp>
      <p:sp>
        <p:nvSpPr>
          <p:cNvPr id="14" name="TextBox 13"/>
          <p:cNvSpPr txBox="1"/>
          <p:nvPr/>
        </p:nvSpPr>
        <p:spPr>
          <a:xfrm>
            <a:off x="1508760" y="2286000"/>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B. Joint Solution Partnership</a:t>
            </a:r>
          </a:p>
        </p:txBody>
      </p:sp>
      <p:sp>
        <p:nvSpPr>
          <p:cNvPr id="15" name="TextBox 14"/>
          <p:cNvSpPr txBox="1"/>
          <p:nvPr/>
        </p:nvSpPr>
        <p:spPr>
          <a:xfrm>
            <a:off x="1508760" y="2578608"/>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Embed TokiStorage into your consulting engagements. Position millennium records as the "outcome layer" of ESG, revitalization, or DX projects.</a:t>
            </a:r>
          </a:p>
        </p:txBody>
      </p:sp>
      <p:sp>
        <p:nvSpPr>
          <p:cNvPr id="16" name="TextBox 15"/>
          <p:cNvSpPr txBox="1"/>
          <p:nvPr/>
        </p:nvSpPr>
        <p:spPr>
          <a:xfrm>
            <a:off x="1508760" y="2944368"/>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Municipal DX → community archive / Hotel CX → guest record upgrade</a:t>
            </a:r>
          </a:p>
        </p:txBody>
      </p:sp>
      <p:sp>
        <p:nvSpPr>
          <p:cNvPr id="17" name="Rectangle 16"/>
          <p:cNvSpPr/>
          <p:nvPr/>
        </p:nvSpPr>
        <p:spPr>
          <a:xfrm>
            <a:off x="457200" y="3374136"/>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493008"/>
            <a:ext cx="777240"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93008"/>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Co-Create</a:t>
            </a:r>
          </a:p>
        </p:txBody>
      </p:sp>
      <p:sp>
        <p:nvSpPr>
          <p:cNvPr id="20" name="TextBox 19"/>
          <p:cNvSpPr txBox="1"/>
          <p:nvPr/>
        </p:nvSpPr>
        <p:spPr>
          <a:xfrm>
            <a:off x="1508760" y="3447288"/>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C. New Business Co-Creation</a:t>
            </a:r>
          </a:p>
        </p:txBody>
      </p:sp>
      <p:sp>
        <p:nvSpPr>
          <p:cNvPr id="21" name="TextBox 20"/>
          <p:cNvSpPr txBox="1"/>
          <p:nvPr/>
        </p:nvSpPr>
        <p:spPr>
          <a:xfrm>
            <a:off x="1508760" y="3739896"/>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Launch a new venture together. We bring technology, philosophy, and use cases. You bring market access, credibility, and scale.</a:t>
            </a:r>
          </a:p>
        </p:txBody>
      </p:sp>
      <p:sp>
        <p:nvSpPr>
          <p:cNvPr id="22" name="TextBox 21"/>
          <p:cNvSpPr txBox="1"/>
          <p:nvPr/>
        </p:nvSpPr>
        <p:spPr>
          <a:xfrm>
            <a:off x="1508760" y="4105656"/>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Memorial-tech startup / Enterprise perpetual archive service</a:t>
            </a:r>
          </a:p>
        </p:txBody>
      </p:sp>
      <p:sp>
        <p:nvSpPr>
          <p:cNvPr id="23" name="Rectangle 2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5" name="TextBox 2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6" name="TextBox 2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Revenue design ensures all three parties — client, partner, and TokiStorage — win</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REVENUE FLOW</a:t>
            </a:r>
          </a:p>
        </p:txBody>
      </p:sp>
      <p:sp>
        <p:nvSpPr>
          <p:cNvPr id="5" name="Rectangle 4"/>
          <p:cNvSpPr/>
          <p:nvPr/>
        </p:nvSpPr>
        <p:spPr>
          <a:xfrm>
            <a:off x="777240" y="1097280"/>
            <a:ext cx="2286000" cy="960120"/>
          </a:xfrm>
          <a:prstGeom prst="rect">
            <a:avLst/>
          </a:prstGeom>
          <a:solidFill>
            <a:srgbClr val="F0FDF4"/>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16A34A"/>
                </a:solidFill>
                <a:latin typeface="Calibri"/>
              </a:rPr>
              <a:t>Client</a:t>
            </a:r>
          </a:p>
        </p:txBody>
      </p:sp>
      <p:sp>
        <p:nvSpPr>
          <p:cNvPr id="7" name="TextBox 6"/>
          <p:cNvSpPr txBox="1"/>
          <p:nvPr/>
        </p:nvSpPr>
        <p:spPr>
          <a:xfrm>
            <a:off x="86868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1,000-year proof of existence
Tangible social meaning</a:t>
            </a:r>
          </a:p>
        </p:txBody>
      </p:sp>
      <p:sp>
        <p:nvSpPr>
          <p:cNvPr id="8" name="TextBox 7"/>
          <p:cNvSpPr txBox="1"/>
          <p:nvPr/>
        </p:nvSpPr>
        <p:spPr>
          <a:xfrm>
            <a:off x="310896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Calibri"/>
              </a:rPr>
              <a:t>←</a:t>
            </a:r>
          </a:p>
        </p:txBody>
      </p:sp>
      <p:sp>
        <p:nvSpPr>
          <p:cNvPr id="9" name="Rectangle 8"/>
          <p:cNvSpPr/>
          <p:nvPr/>
        </p:nvSpPr>
        <p:spPr>
          <a:xfrm>
            <a:off x="3429000" y="1097280"/>
            <a:ext cx="2286000" cy="960120"/>
          </a:xfrm>
          <a:prstGeom prst="rect">
            <a:avLst/>
          </a:prstGeom>
          <a:solidFill>
            <a:srgbClr val="EFF6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2563EB"/>
                </a:solidFill>
                <a:latin typeface="Calibri"/>
              </a:rPr>
              <a:t>Partner (you)</a:t>
            </a:r>
          </a:p>
        </p:txBody>
      </p:sp>
      <p:sp>
        <p:nvSpPr>
          <p:cNvPr id="11" name="TextBox 10"/>
          <p:cNvSpPr txBox="1"/>
          <p:nvPr/>
        </p:nvSpPr>
        <p:spPr>
          <a:xfrm>
            <a:off x="352044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Referral fee or joint revenue
Client LTV increase</a:t>
            </a:r>
          </a:p>
        </p:txBody>
      </p:sp>
      <p:sp>
        <p:nvSpPr>
          <p:cNvPr id="12" name="TextBox 11"/>
          <p:cNvSpPr txBox="1"/>
          <p:nvPr/>
        </p:nvSpPr>
        <p:spPr>
          <a:xfrm>
            <a:off x="576072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Calibri"/>
              </a:rPr>
              <a:t>←</a:t>
            </a:r>
          </a:p>
        </p:txBody>
      </p:sp>
      <p:sp>
        <p:nvSpPr>
          <p:cNvPr id="13" name="Rectangle 12"/>
          <p:cNvSpPr/>
          <p:nvPr/>
        </p:nvSpPr>
        <p:spPr>
          <a:xfrm>
            <a:off x="6080760" y="1097280"/>
            <a:ext cx="2286000" cy="960120"/>
          </a:xfrm>
          <a:prstGeom prst="rect">
            <a:avLst/>
          </a:prstGeom>
          <a:solidFill>
            <a:srgbClr val="FDF8E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92400E"/>
                </a:solidFill>
                <a:latin typeface="Calibri"/>
              </a:rPr>
              <a:t>TokiStorage</a:t>
            </a:r>
          </a:p>
        </p:txBody>
      </p:sp>
      <p:sp>
        <p:nvSpPr>
          <p:cNvPr id="15" name="TextBox 14"/>
          <p:cNvSpPr txBox="1"/>
          <p:nvPr/>
        </p:nvSpPr>
        <p:spPr>
          <a:xfrm>
            <a:off x="617220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Technology &amp; delivery
Revenue → SoulCarrier mission</a:t>
            </a:r>
          </a:p>
        </p:txBody>
      </p:sp>
      <p:sp>
        <p:nvSpPr>
          <p:cNvPr id="16" name="Rectangle 15"/>
          <p:cNvSpPr/>
          <p:nvPr/>
        </p:nvSpPr>
        <p:spPr>
          <a:xfrm>
            <a:off x="457200" y="2423160"/>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423160"/>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514600"/>
            <a:ext cx="7543800" cy="25603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Early Partner Advantage</a:t>
            </a:r>
          </a:p>
        </p:txBody>
      </p:sp>
      <p:sp>
        <p:nvSpPr>
          <p:cNvPr id="19" name="TextBox 18"/>
          <p:cNvSpPr txBox="1"/>
          <p:nvPr/>
        </p:nvSpPr>
        <p:spPr>
          <a:xfrm>
            <a:off x="685800" y="2834640"/>
            <a:ext cx="7543800" cy="54864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We are approaching consulting firms sequentially. The first firm to partner receives preferential terms — including priority referral conditions and potential regional exclusivity. Early movers shape the partnership.</a:t>
            </a:r>
          </a:p>
        </p:txBody>
      </p:sp>
      <p:sp>
        <p:nvSpPr>
          <p:cNvPr id="20" name="Rectangle 19"/>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2" name="TextBox 21"/>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3" name="TextBox 22"/>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Six client sectors show particularly high affinity: funeral, hospitality, religious, government, ESG, and finance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CLIENT FIT</a:t>
            </a:r>
          </a:p>
        </p:txBody>
      </p:sp>
      <p:sp>
        <p:nvSpPr>
          <p:cNvPr id="5" name="TextBox 4"/>
          <p:cNvSpPr txBox="1"/>
          <p:nvPr/>
        </p:nvSpPr>
        <p:spPr>
          <a:xfrm>
            <a:off x="457200" y="1005840"/>
            <a:ext cx="7315200" cy="274320"/>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Does your client portfolio include any of these sectors?</a:t>
            </a:r>
          </a:p>
        </p:txBody>
      </p:sp>
      <p:sp>
        <p:nvSpPr>
          <p:cNvPr id="6" name="Rectangle 5"/>
          <p:cNvSpPr/>
          <p:nvPr/>
        </p:nvSpPr>
        <p:spPr>
          <a:xfrm>
            <a:off x="457200"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68196"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68196"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M</a:t>
            </a:r>
          </a:p>
        </p:txBody>
      </p:sp>
      <p:sp>
        <p:nvSpPr>
          <p:cNvPr id="9" name="TextBox 8"/>
          <p:cNvSpPr txBox="1"/>
          <p:nvPr/>
        </p:nvSpPr>
        <p:spPr>
          <a:xfrm>
            <a:off x="530352"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Funeral &amp; Memorial</a:t>
            </a:r>
          </a:p>
        </p:txBody>
      </p:sp>
      <p:sp>
        <p:nvSpPr>
          <p:cNvPr id="10" name="TextBox 9"/>
          <p:cNvSpPr txBox="1"/>
          <p:nvPr/>
        </p:nvSpPr>
        <p:spPr>
          <a:xfrm>
            <a:off x="530352"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Gravestone alternatives, digital perpetual care, bereavement services</a:t>
            </a:r>
          </a:p>
        </p:txBody>
      </p:sp>
      <p:sp>
        <p:nvSpPr>
          <p:cNvPr id="11" name="Rectangle 10"/>
          <p:cNvSpPr/>
          <p:nvPr/>
        </p:nvSpPr>
        <p:spPr>
          <a:xfrm>
            <a:off x="3273552"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84548"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4548"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H</a:t>
            </a:r>
          </a:p>
        </p:txBody>
      </p:sp>
      <p:sp>
        <p:nvSpPr>
          <p:cNvPr id="14" name="TextBox 13"/>
          <p:cNvSpPr txBox="1"/>
          <p:nvPr/>
        </p:nvSpPr>
        <p:spPr>
          <a:xfrm>
            <a:off x="3346704"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Hospitality</a:t>
            </a:r>
          </a:p>
        </p:txBody>
      </p:sp>
      <p:sp>
        <p:nvSpPr>
          <p:cNvPr id="15" name="TextBox 14"/>
          <p:cNvSpPr txBox="1"/>
          <p:nvPr/>
        </p:nvSpPr>
        <p:spPr>
          <a:xfrm>
            <a:off x="3346704"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Wedding records, hotel CX, anniversary services</a:t>
            </a:r>
          </a:p>
        </p:txBody>
      </p:sp>
      <p:sp>
        <p:nvSpPr>
          <p:cNvPr id="16" name="Rectangle 15"/>
          <p:cNvSpPr/>
          <p:nvPr/>
        </p:nvSpPr>
        <p:spPr>
          <a:xfrm>
            <a:off x="6089904"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00900"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900"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R</a:t>
            </a:r>
          </a:p>
        </p:txBody>
      </p:sp>
      <p:sp>
        <p:nvSpPr>
          <p:cNvPr id="19" name="TextBox 18"/>
          <p:cNvSpPr txBox="1"/>
          <p:nvPr/>
        </p:nvSpPr>
        <p:spPr>
          <a:xfrm>
            <a:off x="6163056"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Religious Institutions</a:t>
            </a:r>
          </a:p>
        </p:txBody>
      </p:sp>
      <p:sp>
        <p:nvSpPr>
          <p:cNvPr id="20" name="TextBox 19"/>
          <p:cNvSpPr txBox="1"/>
          <p:nvPr/>
        </p:nvSpPr>
        <p:spPr>
          <a:xfrm>
            <a:off x="6163056"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Perpetual congregation records, visitor DX, cultural preservation</a:t>
            </a:r>
          </a:p>
        </p:txBody>
      </p:sp>
      <p:sp>
        <p:nvSpPr>
          <p:cNvPr id="21" name="Rectangle 20"/>
          <p:cNvSpPr/>
          <p:nvPr/>
        </p:nvSpPr>
        <p:spPr>
          <a:xfrm>
            <a:off x="457200"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568196"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8196"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G</a:t>
            </a:r>
          </a:p>
        </p:txBody>
      </p:sp>
      <p:sp>
        <p:nvSpPr>
          <p:cNvPr id="24" name="TextBox 23"/>
          <p:cNvSpPr txBox="1"/>
          <p:nvPr/>
        </p:nvSpPr>
        <p:spPr>
          <a:xfrm>
            <a:off x="530352"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Government &amp; Education</a:t>
            </a:r>
          </a:p>
        </p:txBody>
      </p:sp>
      <p:sp>
        <p:nvSpPr>
          <p:cNvPr id="25" name="TextBox 24"/>
          <p:cNvSpPr txBox="1"/>
          <p:nvPr/>
        </p:nvSpPr>
        <p:spPr>
          <a:xfrm>
            <a:off x="530352"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Community archives, disaster records, school history</a:t>
            </a:r>
          </a:p>
        </p:txBody>
      </p:sp>
      <p:sp>
        <p:nvSpPr>
          <p:cNvPr id="26" name="Rectangle 25"/>
          <p:cNvSpPr/>
          <p:nvPr/>
        </p:nvSpPr>
        <p:spPr>
          <a:xfrm>
            <a:off x="3273552"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4548"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4548"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E</a:t>
            </a:r>
          </a:p>
        </p:txBody>
      </p:sp>
      <p:sp>
        <p:nvSpPr>
          <p:cNvPr id="29" name="TextBox 28"/>
          <p:cNvSpPr txBox="1"/>
          <p:nvPr/>
        </p:nvSpPr>
        <p:spPr>
          <a:xfrm>
            <a:off x="3346704"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ESG &amp; Sustainability</a:t>
            </a:r>
          </a:p>
        </p:txBody>
      </p:sp>
      <p:sp>
        <p:nvSpPr>
          <p:cNvPr id="30" name="TextBox 29"/>
          <p:cNvSpPr txBox="1"/>
          <p:nvPr/>
        </p:nvSpPr>
        <p:spPr>
          <a:xfrm>
            <a:off x="3346704"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1,000-year corporate purpose records, SDG impact proof</a:t>
            </a:r>
          </a:p>
        </p:txBody>
      </p:sp>
      <p:sp>
        <p:nvSpPr>
          <p:cNvPr id="31" name="Rectangle 30"/>
          <p:cNvSpPr/>
          <p:nvPr/>
        </p:nvSpPr>
        <p:spPr>
          <a:xfrm>
            <a:off x="6089904"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00900"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00900"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F</a:t>
            </a:r>
          </a:p>
        </p:txBody>
      </p:sp>
      <p:sp>
        <p:nvSpPr>
          <p:cNvPr id="34" name="TextBox 33"/>
          <p:cNvSpPr txBox="1"/>
          <p:nvPr/>
        </p:nvSpPr>
        <p:spPr>
          <a:xfrm>
            <a:off x="6163056"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Finance &amp; Insurance</a:t>
            </a:r>
          </a:p>
        </p:txBody>
      </p:sp>
      <p:sp>
        <p:nvSpPr>
          <p:cNvPr id="35" name="TextBox 34"/>
          <p:cNvSpPr txBox="1"/>
          <p:nvPr/>
        </p:nvSpPr>
        <p:spPr>
          <a:xfrm>
            <a:off x="6163056"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End-of-life service integration, digital estate</a:t>
            </a:r>
          </a:p>
        </p:txBody>
      </p:sp>
      <p:sp>
        <p:nvSpPr>
          <p:cNvPr id="36" name="Rectangle 35"/>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38" name="TextBox 37"/>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39" name="TextBox 38"/>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The founder is a Big Four alumnus who designed the partnership model with full awareness of firm compliance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TEAM &amp; INDEPENDENCE</a:t>
            </a:r>
          </a:p>
        </p:txBody>
      </p:sp>
      <p:pic>
        <p:nvPicPr>
          <p:cNvPr id="5" name="Picture 4" descr="_deck_profile.png"/>
          <p:cNvPicPr>
            <a:picLocks noChangeAspect="1"/>
          </p:cNvPicPr>
          <p:nvPr/>
        </p:nvPicPr>
        <p:blipFill>
          <a:blip r:embed="rId2"/>
          <a:stretch>
            <a:fillRect/>
          </a:stretch>
        </p:blipFill>
        <p:spPr>
          <a:xfrm>
            <a:off x="457200" y="1024128"/>
            <a:ext cx="914400" cy="914400"/>
          </a:xfrm>
          <a:prstGeom prst="rect">
            <a:avLst/>
          </a:prstGeom>
        </p:spPr>
      </p:pic>
      <p:sp>
        <p:nvSpPr>
          <p:cNvPr id="6" name="TextBox 5"/>
          <p:cNvSpPr txBox="1"/>
          <p:nvPr/>
        </p:nvSpPr>
        <p:spPr>
          <a:xfrm>
            <a:off x="1508760" y="1078992"/>
            <a:ext cx="6675120" cy="320040"/>
          </a:xfrm>
          <a:prstGeom prst="rect">
            <a:avLst/>
          </a:prstGeom>
          <a:noFill/>
        </p:spPr>
        <p:txBody>
          <a:bodyPr wrap="square"/>
          <a:lstStyle/>
          <a:p>
            <a:pPr algn="l">
              <a:lnSpc>
                <a:spcPct val="135000"/>
              </a:lnSpc>
              <a:spcBef>
                <a:spcPts val="0"/>
              </a:spcBef>
              <a:spcAft>
                <a:spcPts val="0"/>
              </a:spcAft>
            </a:pPr>
            <a:r>
              <a:rPr sz="1300" b="1">
                <a:solidFill>
                  <a:srgbClr val="1E293B"/>
                </a:solidFill>
                <a:latin typeface="Calibri"/>
              </a:rPr>
              <a:t>Takuya Sato — CEO, Universal Need Inc.</a:t>
            </a:r>
          </a:p>
        </p:txBody>
      </p:sp>
      <p:sp>
        <p:nvSpPr>
          <p:cNvPr id="7" name="TextBox 6"/>
          <p:cNvSpPr txBox="1"/>
          <p:nvPr/>
        </p:nvSpPr>
        <p:spPr>
          <a:xfrm>
            <a:off x="1508760" y="1444752"/>
            <a:ext cx="6675120" cy="109728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Former Big Four consultant — understands firm culture, client engagement, and project design from the inside. 20+ years in semiconductor manufacturing engineering. Former president of Timeless Town Shin-Urayasu residents' association (250 households). Through SoulCarrier's work with unclaimed graves, witnessed firsthand how memories vanish — and conceived TokiStorage. Validated off-grid, institution-free 1,000-year design through testing in Maui and Lake Yamanakako.</a:t>
            </a:r>
          </a:p>
        </p:txBody>
      </p:sp>
      <p:sp>
        <p:nvSpPr>
          <p:cNvPr id="8" name="Rectangle 7"/>
          <p:cNvSpPr/>
          <p:nvPr/>
        </p:nvSpPr>
        <p:spPr>
          <a:xfrm>
            <a:off x="457200" y="2807208"/>
            <a:ext cx="144018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07208"/>
            <a:ext cx="125730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Big Four Alumni</a:t>
            </a:r>
          </a:p>
        </p:txBody>
      </p:sp>
      <p:sp>
        <p:nvSpPr>
          <p:cNvPr id="10" name="Rectangle 9"/>
          <p:cNvSpPr/>
          <p:nvPr/>
        </p:nvSpPr>
        <p:spPr>
          <a:xfrm>
            <a:off x="2007108" y="2807208"/>
            <a:ext cx="267462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8548" y="2807208"/>
            <a:ext cx="249174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Semiconductor engineering 20+ yrs</a:t>
            </a:r>
          </a:p>
        </p:txBody>
      </p:sp>
      <p:sp>
        <p:nvSpPr>
          <p:cNvPr id="12" name="Rectangle 11"/>
          <p:cNvSpPr/>
          <p:nvPr/>
        </p:nvSpPr>
        <p:spPr>
          <a:xfrm>
            <a:off x="4791456" y="2807208"/>
            <a:ext cx="288036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82896" y="2807208"/>
            <a:ext cx="269748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Community president (250 households)</a:t>
            </a:r>
          </a:p>
        </p:txBody>
      </p:sp>
      <p:sp>
        <p:nvSpPr>
          <p:cNvPr id="14" name="Rectangle 13"/>
          <p:cNvSpPr/>
          <p:nvPr/>
        </p:nvSpPr>
        <p:spPr>
          <a:xfrm>
            <a:off x="457200" y="3227832"/>
            <a:ext cx="171450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227832"/>
            <a:ext cx="153162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SoulCarrier founder</a:t>
            </a:r>
          </a:p>
        </p:txBody>
      </p:sp>
      <p:sp>
        <p:nvSpPr>
          <p:cNvPr id="16" name="Rectangle 15"/>
          <p:cNvSpPr/>
          <p:nvPr/>
        </p:nvSpPr>
        <p:spPr>
          <a:xfrm>
            <a:off x="2281428" y="3227832"/>
            <a:ext cx="1645919"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2868" y="3227832"/>
            <a:ext cx="1463039"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Off-grid validated</a:t>
            </a:r>
          </a:p>
        </p:txBody>
      </p:sp>
      <p:sp>
        <p:nvSpPr>
          <p:cNvPr id="18" name="Rectangle 17"/>
          <p:cNvSpPr/>
          <p:nvPr/>
        </p:nvSpPr>
        <p:spPr>
          <a:xfrm>
            <a:off x="4037075" y="3227832"/>
            <a:ext cx="3086100" cy="347472"/>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28515" y="3227832"/>
            <a:ext cx="2903220" cy="347472"/>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Relocating to Sado Island (Spring 2026)</a:t>
            </a:r>
          </a:p>
        </p:txBody>
      </p:sp>
      <p:sp>
        <p:nvSpPr>
          <p:cNvPr id="20" name="Rectangle 19"/>
          <p:cNvSpPr/>
          <p:nvPr/>
        </p:nvSpPr>
        <p:spPr>
          <a:xfrm>
            <a:off x="457200" y="3730752"/>
            <a:ext cx="7863840"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30752"/>
            <a:ext cx="54864"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22192"/>
            <a:ext cx="7543800" cy="256032"/>
          </a:xfrm>
          <a:prstGeom prst="rect">
            <a:avLst/>
          </a:prstGeom>
          <a:noFill/>
        </p:spPr>
        <p:txBody>
          <a:bodyPr wrap="square"/>
          <a:lstStyle/>
          <a:p>
            <a:pPr algn="l">
              <a:lnSpc>
                <a:spcPct val="135000"/>
              </a:lnSpc>
              <a:spcBef>
                <a:spcPts val="0"/>
              </a:spcBef>
              <a:spcAft>
                <a:spcPts val="0"/>
              </a:spcAft>
            </a:pPr>
            <a:r>
              <a:rPr sz="1000" b="1">
                <a:solidFill>
                  <a:srgbClr val="1E293B"/>
                </a:solidFill>
                <a:latin typeface="Calibri"/>
              </a:rPr>
              <a:t>A note on independence</a:t>
            </a:r>
          </a:p>
        </p:txBody>
      </p:sp>
      <p:sp>
        <p:nvSpPr>
          <p:cNvPr id="23" name="TextBox 22"/>
          <p:cNvSpPr txBox="1"/>
          <p:nvPr/>
        </p:nvSpPr>
        <p:spPr>
          <a:xfrm>
            <a:off x="685800" y="4133088"/>
            <a:ext cx="7543800" cy="438912"/>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This is a vendor partnership — structurally identical to recommending Salesforce or SAP. No audit engagement, no equity relationship, no independence concerns. Designed with full awareness of firm compliance requirements.</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11480"/>
          </a:xfrm>
          <a:prstGeom prst="rect">
            <a:avLst/>
          </a:prstGeom>
          <a:noFill/>
        </p:spPr>
        <p:txBody>
          <a:bodyPr wrap="square"/>
          <a:lstStyle/>
          <a:p>
            <a:pPr algn="l">
              <a:lnSpc>
                <a:spcPct val="135000"/>
              </a:lnSpc>
              <a:spcBef>
                <a:spcPts val="0"/>
              </a:spcBef>
              <a:spcAft>
                <a:spcPts val="0"/>
              </a:spcAft>
            </a:pPr>
            <a:r>
              <a:rPr sz="1300" b="1">
                <a:solidFill>
                  <a:srgbClr val="FFFFFF"/>
                </a:solidFill>
                <a:latin typeface="Calibri"/>
              </a:rPr>
              <a:t>Next Step</a:t>
            </a:r>
          </a:p>
        </p:txBody>
      </p:sp>
      <p:sp>
        <p:nvSpPr>
          <p:cNvPr id="4" name="TextBox 3"/>
          <p:cNvSpPr txBox="1"/>
          <p:nvPr/>
        </p:nvSpPr>
        <p:spPr>
          <a:xfrm>
            <a:off x="457200" y="777240"/>
            <a:ext cx="7315200" cy="457200"/>
          </a:xfrm>
          <a:prstGeom prst="rect">
            <a:avLst/>
          </a:prstGeom>
          <a:noFill/>
        </p:spPr>
        <p:txBody>
          <a:bodyPr wrap="square"/>
          <a:lstStyle/>
          <a:p>
            <a:pPr algn="l">
              <a:lnSpc>
                <a:spcPct val="135000"/>
              </a:lnSpc>
              <a:spcBef>
                <a:spcPts val="0"/>
              </a:spcBef>
              <a:spcAft>
                <a:spcPts val="0"/>
              </a:spcAft>
            </a:pPr>
            <a:r>
              <a:rPr sz="2000" b="1">
                <a:solidFill>
                  <a:srgbClr val="FFFFFF"/>
                </a:solidFill>
                <a:latin typeface="Calibri"/>
              </a:rPr>
              <a:t>Proposed Timeline</a:t>
            </a:r>
          </a:p>
        </p:txBody>
      </p:sp>
      <p:sp>
        <p:nvSpPr>
          <p:cNvPr id="5" name="Oval 4"/>
          <p:cNvSpPr/>
          <p:nvPr/>
        </p:nvSpPr>
        <p:spPr>
          <a:xfrm>
            <a:off x="731520" y="155448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01</a:t>
            </a:r>
          </a:p>
        </p:txBody>
      </p:sp>
      <p:sp>
        <p:nvSpPr>
          <p:cNvPr id="7" name="TextBox 6"/>
          <p:cNvSpPr txBox="1"/>
          <p:nvPr/>
        </p:nvSpPr>
        <p:spPr>
          <a:xfrm>
            <a:off x="1280160" y="1517904"/>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Initial Meeting (30 min)</a:t>
            </a:r>
          </a:p>
        </p:txBody>
      </p:sp>
      <p:sp>
        <p:nvSpPr>
          <p:cNvPr id="8" name="TextBox 7"/>
          <p:cNvSpPr txBox="1"/>
          <p:nvPr/>
        </p:nvSpPr>
        <p:spPr>
          <a:xfrm>
            <a:off x="1280160" y="1773936"/>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Share your client landscape and current challenges</a:t>
            </a:r>
          </a:p>
        </p:txBody>
      </p:sp>
      <p:sp>
        <p:nvSpPr>
          <p:cNvPr id="9" name="Oval 8"/>
          <p:cNvSpPr/>
          <p:nvPr/>
        </p:nvSpPr>
        <p:spPr>
          <a:xfrm>
            <a:off x="731520" y="22128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02</a:t>
            </a:r>
          </a:p>
        </p:txBody>
      </p:sp>
      <p:sp>
        <p:nvSpPr>
          <p:cNvPr id="11" name="TextBox 10"/>
          <p:cNvSpPr txBox="1"/>
          <p:nvPr/>
        </p:nvSpPr>
        <p:spPr>
          <a:xfrm>
            <a:off x="1280160" y="2176272"/>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Use Case Selection</a:t>
            </a:r>
          </a:p>
        </p:txBody>
      </p:sp>
      <p:sp>
        <p:nvSpPr>
          <p:cNvPr id="12" name="TextBox 11"/>
          <p:cNvSpPr txBox="1"/>
          <p:nvPr/>
        </p:nvSpPr>
        <p:spPr>
          <a:xfrm>
            <a:off x="1280160" y="2432304"/>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Identify high-affinity sectors from your portfolio</a:t>
            </a:r>
          </a:p>
        </p:txBody>
      </p:sp>
      <p:sp>
        <p:nvSpPr>
          <p:cNvPr id="13" name="Oval 12"/>
          <p:cNvSpPr/>
          <p:nvPr/>
        </p:nvSpPr>
        <p:spPr>
          <a:xfrm>
            <a:off x="731520" y="287121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871216"/>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03</a:t>
            </a:r>
          </a:p>
        </p:txBody>
      </p:sp>
      <p:sp>
        <p:nvSpPr>
          <p:cNvPr id="15" name="TextBox 14"/>
          <p:cNvSpPr txBox="1"/>
          <p:nvPr/>
        </p:nvSpPr>
        <p:spPr>
          <a:xfrm>
            <a:off x="1280160" y="2834640"/>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Partnership Design</a:t>
            </a:r>
          </a:p>
        </p:txBody>
      </p:sp>
      <p:sp>
        <p:nvSpPr>
          <p:cNvPr id="16" name="TextBox 15"/>
          <p:cNvSpPr txBox="1"/>
          <p:nvPr/>
        </p:nvSpPr>
        <p:spPr>
          <a:xfrm>
            <a:off x="1280160" y="3090672"/>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Select model, define scope and terms</a:t>
            </a:r>
          </a:p>
        </p:txBody>
      </p:sp>
      <p:sp>
        <p:nvSpPr>
          <p:cNvPr id="17" name="Oval 16"/>
          <p:cNvSpPr/>
          <p:nvPr/>
        </p:nvSpPr>
        <p:spPr>
          <a:xfrm>
            <a:off x="731520" y="352958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9584"/>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04</a:t>
            </a:r>
          </a:p>
        </p:txBody>
      </p:sp>
      <p:sp>
        <p:nvSpPr>
          <p:cNvPr id="19" name="TextBox 18"/>
          <p:cNvSpPr txBox="1"/>
          <p:nvPr/>
        </p:nvSpPr>
        <p:spPr>
          <a:xfrm>
            <a:off x="1280160" y="3493008"/>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Pilot Engagement</a:t>
            </a:r>
          </a:p>
        </p:txBody>
      </p:sp>
      <p:sp>
        <p:nvSpPr>
          <p:cNvPr id="20" name="TextBox 19"/>
          <p:cNvSpPr txBox="1"/>
          <p:nvPr/>
        </p:nvSpPr>
        <p:spPr>
          <a:xfrm>
            <a:off x="1280160" y="3749040"/>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Prove value with 1–2 client engagements</a:t>
            </a:r>
          </a:p>
        </p:txBody>
      </p:sp>
      <p:sp>
        <p:nvSpPr>
          <p:cNvPr id="21" name="TextBox 20"/>
          <p:cNvSpPr txBox="1"/>
          <p:nvPr/>
        </p:nvSpPr>
        <p:spPr>
          <a:xfrm>
            <a:off x="731520" y="4229100"/>
            <a:ext cx="7315200" cy="274320"/>
          </a:xfrm>
          <a:prstGeom prst="rect">
            <a:avLst/>
          </a:prstGeom>
          <a:noFill/>
        </p:spPr>
        <p:txBody>
          <a:bodyPr wrap="square"/>
          <a:lstStyle/>
          <a:p>
            <a:pPr algn="l">
              <a:lnSpc>
                <a:spcPct val="135000"/>
              </a:lnSpc>
              <a:spcBef>
                <a:spcPts val="0"/>
              </a:spcBef>
              <a:spcAft>
                <a:spcPts val="0"/>
              </a:spcAft>
            </a:pPr>
            <a:r>
              <a:rPr sz="1000" b="0">
                <a:solidFill>
                  <a:srgbClr val="94A3B8"/>
                </a:solidFill>
                <a:latin typeface="Calibri"/>
              </a:rPr>
              <a:t>Takuya Sato — CEO, Universal Need Inc.</a:t>
            </a:r>
          </a:p>
        </p:txBody>
      </p:sp>
      <p:sp>
        <p:nvSpPr>
          <p:cNvPr id="22" name="Rectangle 21"/>
          <p:cNvSpPr/>
          <p:nvPr/>
        </p:nvSpPr>
        <p:spPr>
          <a:xfrm>
            <a:off x="0" y="4613148"/>
            <a:ext cx="9144000" cy="635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40580"/>
            <a:ext cx="36576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 — TokiStorage</a:t>
            </a:r>
          </a:p>
        </p:txBody>
      </p:sp>
      <p:sp>
        <p:nvSpPr>
          <p:cNvPr id="24" name="TextBox 23"/>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5" name="TextBox 24"/>
          <p:cNvSpPr txBox="1"/>
          <p:nvPr/>
        </p:nvSpPr>
        <p:spPr>
          <a:xfrm>
            <a:off x="8229600" y="4640580"/>
            <a:ext cx="457200" cy="32004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411480"/>
          </a:xfrm>
          <a:prstGeom prst="rect">
            <a:avLst/>
          </a:prstGeom>
          <a:noFill/>
        </p:spPr>
        <p:txBody>
          <a:bodyPr wrap="square"/>
          <a:lstStyle/>
          <a:p>
            <a:pPr algn="l">
              <a:lnSpc>
                <a:spcPct val="135000"/>
              </a:lnSpc>
              <a:spcBef>
                <a:spcPts val="0"/>
              </a:spcBef>
              <a:spcAft>
                <a:spcPts val="0"/>
              </a:spcAft>
            </a:pPr>
            <a:r>
              <a:rPr sz="1400" b="1">
                <a:solidFill>
                  <a:srgbClr val="94A3B8"/>
                </a:solidFill>
                <a:latin typeface="Calibri"/>
              </a:rPr>
              <a:t>Confidential / Disclaimer</a:t>
            </a:r>
          </a:p>
        </p:txBody>
      </p:sp>
      <p:sp>
        <p:nvSpPr>
          <p:cNvPr id="4" name="Rectangle 3"/>
          <p:cNvSpPr/>
          <p:nvPr/>
        </p:nvSpPr>
        <p:spPr>
          <a:xfrm>
            <a:off x="914400" y="1371600"/>
            <a:ext cx="73152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315200" cy="256032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This document has been prepared by Universal Need Inc. (the "Company") solely for the purpose of evaluating a potential partnership.
The information contained herein reflects the Company's current views and plans and does not constitute a guarantee of accuracy, completeness, or future outcomes.
This document is provided for informational purposes only and does not constitute legal, investment, or other professional advice.
No part of this document may be disclosed, reproduced, or distributed to any third party without the prior written consent of the Company.</a:t>
            </a:r>
          </a:p>
        </p:txBody>
      </p:sp>
      <p:sp>
        <p:nvSpPr>
          <p:cNvPr id="6" name="TextBox 5"/>
          <p:cNvSpPr txBox="1"/>
          <p:nvPr/>
        </p:nvSpPr>
        <p:spPr>
          <a:xfrm>
            <a:off x="914400" y="4046220"/>
            <a:ext cx="7315200" cy="274320"/>
          </a:xfrm>
          <a:prstGeom prst="rect">
            <a:avLst/>
          </a:prstGeom>
          <a:noFill/>
        </p:spPr>
        <p:txBody>
          <a:bodyPr wrap="square"/>
          <a:lstStyle/>
          <a:p>
            <a:pPr algn="l">
              <a:lnSpc>
                <a:spcPct val="135000"/>
              </a:lnSpc>
              <a:spcBef>
                <a:spcPts val="0"/>
              </a:spcBef>
              <a:spcAft>
                <a:spcPts val="0"/>
              </a:spcAft>
            </a:pPr>
            <a:r>
              <a:rPr sz="800" b="0">
                <a:solidFill>
                  <a:srgbClr val="94A3B8"/>
                </a:solidFill>
                <a:latin typeface="Calibri"/>
              </a:rPr>
              <a:t>© 2026 Universal Need Inc. All rights reserved.</a:t>
            </a:r>
          </a:p>
        </p:txBody>
      </p:sp>
      <p:sp>
        <p:nvSpPr>
          <p:cNvPr id="7" name="Rectangle 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Universal Need Inc. — TokiStorage</a:t>
            </a:r>
          </a:p>
        </p:txBody>
      </p:sp>
      <p:sp>
        <p:nvSpPr>
          <p:cNvPr id="9" name="TextBox 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10" name="TextBox 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