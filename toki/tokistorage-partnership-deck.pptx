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4572000" cy="320040"/>
          </a:xfrm>
          <a:prstGeom prst="rect">
            <a:avLst/>
          </a:prstGeom>
          <a:noFill/>
        </p:spPr>
        <p:txBody>
          <a:bodyPr wrap="square"/>
          <a:lstStyle/>
          <a:p>
            <a:pPr algn="l">
              <a:lnSpc>
                <a:spcPct val="135000"/>
              </a:lnSpc>
              <a:spcBef>
                <a:spcPts val="0"/>
              </a:spcBef>
              <a:spcAft>
                <a:spcPts val="0"/>
              </a:spcAft>
            </a:pPr>
            <a:r>
              <a:rPr sz="1000" b="0">
                <a:solidFill>
                  <a:srgbClr val="94A3B8"/>
                </a:solidFill>
                <a:latin typeface="IPAPGothic"/>
              </a:rPr>
              <a:t>Partnership Proposal — Confidential</a:t>
            </a:r>
          </a:p>
        </p:txBody>
      </p:sp>
      <p:sp>
        <p:nvSpPr>
          <p:cNvPr id="4" name="TextBox 3"/>
          <p:cNvSpPr txBox="1"/>
          <p:nvPr/>
        </p:nvSpPr>
        <p:spPr>
          <a:xfrm>
            <a:off x="914400" y="1188720"/>
            <a:ext cx="7315200" cy="1371600"/>
          </a:xfrm>
          <a:prstGeom prst="rect">
            <a:avLst/>
          </a:prstGeom>
          <a:noFill/>
        </p:spPr>
        <p:txBody>
          <a:bodyPr wrap="square"/>
          <a:lstStyle/>
          <a:p>
            <a:pPr algn="l">
              <a:lnSpc>
                <a:spcPct val="135000"/>
              </a:lnSpc>
              <a:spcBef>
                <a:spcPts val="0"/>
              </a:spcBef>
              <a:spcAft>
                <a:spcPts val="0"/>
              </a:spcAft>
            </a:pPr>
            <a:r>
              <a:rPr sz="3000" b="1">
                <a:solidFill>
                  <a:srgbClr val="FFFFFF"/>
                </a:solidFill>
                <a:latin typeface="IPAPGothic"/>
              </a:rPr>
              <a:t>貴社クライアントに、
「千年の存在証明」を。</a:t>
            </a:r>
          </a:p>
        </p:txBody>
      </p:sp>
      <p:sp>
        <p:nvSpPr>
          <p:cNvPr id="5" name="TextBox 4"/>
          <p:cNvSpPr txBox="1"/>
          <p:nvPr/>
        </p:nvSpPr>
        <p:spPr>
          <a:xfrm>
            <a:off x="914400" y="2743200"/>
            <a:ext cx="6400800" cy="822960"/>
          </a:xfrm>
          <a:prstGeom prst="rect">
            <a:avLst/>
          </a:prstGeom>
          <a:noFill/>
        </p:spPr>
        <p:txBody>
          <a:bodyPr wrap="square"/>
          <a:lstStyle/>
          <a:p>
            <a:pPr algn="l">
              <a:lnSpc>
                <a:spcPct val="135000"/>
              </a:lnSpc>
              <a:spcBef>
                <a:spcPts val="0"/>
              </a:spcBef>
              <a:spcAft>
                <a:spcPts val="0"/>
              </a:spcAft>
            </a:pPr>
            <a:r>
              <a:rPr sz="1400" b="0">
                <a:solidFill>
                  <a:srgbClr val="BBBBCC"/>
                </a:solidFill>
                <a:latin typeface="IPAPGothic"/>
              </a:rPr>
              <a:t>テクノロジーは揃っています。ユースケースも200以上。
足りないのは、届ける仕組みです。</a:t>
            </a:r>
          </a:p>
        </p:txBody>
      </p:sp>
      <p:sp>
        <p:nvSpPr>
          <p:cNvPr id="6" name="Rectangle 5"/>
          <p:cNvSpPr/>
          <p:nvPr/>
        </p:nvSpPr>
        <p:spPr>
          <a:xfrm>
            <a:off x="0" y="4549140"/>
            <a:ext cx="9144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640580"/>
            <a:ext cx="27432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Universal Need株式会社</a:t>
            </a:r>
          </a:p>
        </p:txBody>
      </p:sp>
      <p:sp>
        <p:nvSpPr>
          <p:cNvPr id="8" name="TextBox 7"/>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TokiStorage</a:t>
            </a:r>
          </a:p>
        </p:txBody>
      </p:sp>
      <p:sp>
        <p:nvSpPr>
          <p:cNvPr id="9" name="TextBox 8"/>
          <p:cNvSpPr txBox="1"/>
          <p:nvPr/>
        </p:nvSpPr>
        <p:spPr>
          <a:xfrm>
            <a:off x="7315200" y="4640580"/>
            <a:ext cx="1371600" cy="320040"/>
          </a:xfrm>
          <a:prstGeom prst="rect">
            <a:avLst/>
          </a:prstGeom>
          <a:noFill/>
        </p:spPr>
        <p:txBody>
          <a:bodyPr wrap="square"/>
          <a:lstStyle/>
          <a:p>
            <a:pPr algn="r">
              <a:lnSpc>
                <a:spcPct val="135000"/>
              </a:lnSpc>
              <a:spcBef>
                <a:spcPts val="0"/>
              </a:spcBef>
              <a:spcAft>
                <a:spcPts val="0"/>
              </a:spcAft>
            </a:pPr>
            <a:r>
              <a:rPr sz="900" b="0">
                <a:solidFill>
                  <a:srgbClr val="94A3B8"/>
                </a:solidFill>
                <a:latin typeface="IPAPGothic"/>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AIとビッグテックの台頭は、コンサルティングファームに「コモディティ化しない問い」の獲得を迫っている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BACKGROUND</a:t>
            </a:r>
          </a:p>
        </p:txBody>
      </p:sp>
      <p:sp>
        <p:nvSpPr>
          <p:cNvPr id="5" name="Rectangle 4"/>
          <p:cNvSpPr/>
          <p:nvPr/>
        </p:nvSpPr>
        <p:spPr>
          <a:xfrm>
            <a:off x="457200"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01</a:t>
            </a:r>
          </a:p>
        </p:txBody>
      </p:sp>
      <p:sp>
        <p:nvSpPr>
          <p:cNvPr id="7" name="TextBox 6"/>
          <p:cNvSpPr txBox="1"/>
          <p:nvPr/>
        </p:nvSpPr>
        <p:spPr>
          <a:xfrm>
            <a:off x="594360"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AIがコンサルティングを変える</a:t>
            </a:r>
          </a:p>
        </p:txBody>
      </p:sp>
      <p:sp>
        <p:nvSpPr>
          <p:cNvPr id="8" name="TextBox 7"/>
          <p:cNvSpPr txBox="1"/>
          <p:nvPr/>
        </p:nvSpPr>
        <p:spPr>
          <a:xfrm>
            <a:off x="594360"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生成AIにより、調査・分析・戦略フレームワーク作成は急速にコモディティ化。知識の非対称性に依存した価値提供モデルは構造的転換期にある。</a:t>
            </a:r>
          </a:p>
        </p:txBody>
      </p:sp>
      <p:sp>
        <p:nvSpPr>
          <p:cNvPr id="9" name="Rectangle 8"/>
          <p:cNvSpPr/>
          <p:nvPr/>
        </p:nvSpPr>
        <p:spPr>
          <a:xfrm>
            <a:off x="3273552"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02</a:t>
            </a:r>
          </a:p>
        </p:txBody>
      </p:sp>
      <p:sp>
        <p:nvSpPr>
          <p:cNvPr id="11" name="TextBox 10"/>
          <p:cNvSpPr txBox="1"/>
          <p:nvPr/>
        </p:nvSpPr>
        <p:spPr>
          <a:xfrm>
            <a:off x="3410712"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差別化の源泉が縮小</a:t>
            </a:r>
          </a:p>
        </p:txBody>
      </p:sp>
      <p:sp>
        <p:nvSpPr>
          <p:cNvPr id="12" name="TextBox 11"/>
          <p:cNvSpPr txBox="1"/>
          <p:nvPr/>
        </p:nvSpPr>
        <p:spPr>
          <a:xfrm>
            <a:off x="3410712"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業界分析、ベンチマーク、DX——どのファームも同じツールで同じ提案に収束しがち。「何を提案するか」ではなく「どんな問いを立てるか」が差別化の核になる。</a:t>
            </a:r>
          </a:p>
        </p:txBody>
      </p:sp>
      <p:sp>
        <p:nvSpPr>
          <p:cNvPr id="13" name="Rectangle 12"/>
          <p:cNvSpPr/>
          <p:nvPr/>
        </p:nvSpPr>
        <p:spPr>
          <a:xfrm>
            <a:off x="6089904"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03</a:t>
            </a:r>
          </a:p>
        </p:txBody>
      </p:sp>
      <p:sp>
        <p:nvSpPr>
          <p:cNvPr id="15" name="TextBox 14"/>
          <p:cNvSpPr txBox="1"/>
          <p:nvPr/>
        </p:nvSpPr>
        <p:spPr>
          <a:xfrm>
            <a:off x="6227064"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「千年の問い」という機会</a:t>
            </a:r>
          </a:p>
        </p:txBody>
      </p:sp>
      <p:sp>
        <p:nvSpPr>
          <p:cNvPr id="16" name="TextBox 15"/>
          <p:cNvSpPr txBox="1"/>
          <p:nvPr/>
        </p:nvSpPr>
        <p:spPr>
          <a:xfrm>
            <a:off x="6227064"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「100年後に何を残すか」——AIが生成できない問い。クライアントの本質的ニーズに触れ、構造的にコモディティ化しない提案の起点になる。</a:t>
            </a:r>
          </a:p>
        </p:txBody>
      </p:sp>
      <p:sp>
        <p:nvSpPr>
          <p:cNvPr id="17" name="Rectangle 1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19" name="TextBox 1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0" name="TextBox 1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TokiStorageは技術・ユースケース・思想基盤・展開網の4つを「設計思想ごと」提供できる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OUR OFFERING</a:t>
            </a:r>
          </a:p>
        </p:txBody>
      </p:sp>
      <p:sp>
        <p:nvSpPr>
          <p:cNvPr id="5" name="Rectangle 4"/>
          <p:cNvSpPr/>
          <p:nvPr/>
        </p:nvSpPr>
        <p:spPr>
          <a:xfrm>
            <a:off x="45720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Q</a:t>
            </a:r>
          </a:p>
        </p:txBody>
      </p:sp>
      <p:sp>
        <p:nvSpPr>
          <p:cNvPr id="8" name="TextBox 7"/>
          <p:cNvSpPr txBox="1"/>
          <p:nvPr/>
        </p:nvSpPr>
        <p:spPr>
          <a:xfrm>
            <a:off x="105156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石英ガラス記録技術</a:t>
            </a:r>
          </a:p>
        </p:txBody>
      </p:sp>
      <p:sp>
        <p:nvSpPr>
          <p:cNvPr id="9" name="TextBox 8"/>
          <p:cNvSpPr txBox="1"/>
          <p:nvPr/>
        </p:nvSpPr>
        <p:spPr>
          <a:xfrm>
            <a:off x="105156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金属蒸着によるQRコード刻印。サーバー・電源ゼロ。SLA 100%、1000年保証。スマホカメラで読取可能。</a:t>
            </a:r>
          </a:p>
        </p:txBody>
      </p:sp>
      <p:sp>
        <p:nvSpPr>
          <p:cNvPr id="10" name="Rectangle 9"/>
          <p:cNvSpPr/>
          <p:nvPr/>
        </p:nvSpPr>
        <p:spPr>
          <a:xfrm>
            <a:off x="461772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5488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U</a:t>
            </a:r>
          </a:p>
        </p:txBody>
      </p:sp>
      <p:sp>
        <p:nvSpPr>
          <p:cNvPr id="13" name="TextBox 12"/>
          <p:cNvSpPr txBox="1"/>
          <p:nvPr/>
        </p:nvSpPr>
        <p:spPr>
          <a:xfrm>
            <a:off x="521208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200+ ユースケース（業界別整理済み）</a:t>
            </a:r>
          </a:p>
        </p:txBody>
      </p:sp>
      <p:sp>
        <p:nvSpPr>
          <p:cNvPr id="14" name="TextBox 13"/>
          <p:cNvSpPr txBox="1"/>
          <p:nvPr/>
        </p:nvSpPr>
        <p:spPr>
          <a:xfrm>
            <a:off x="521208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終活・婚礼・寺社・学校・企業・自治体・NGO・ホテル・航空。提案書にそのまま転用可能な粒度。</a:t>
            </a:r>
          </a:p>
        </p:txBody>
      </p:sp>
      <p:sp>
        <p:nvSpPr>
          <p:cNvPr id="15" name="Rectangle 14"/>
          <p:cNvSpPr/>
          <p:nvPr/>
        </p:nvSpPr>
        <p:spPr>
          <a:xfrm>
            <a:off x="45720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E</a:t>
            </a:r>
          </a:p>
        </p:txBody>
      </p:sp>
      <p:sp>
        <p:nvSpPr>
          <p:cNvPr id="18" name="TextBox 17"/>
          <p:cNvSpPr txBox="1"/>
          <p:nvPr/>
        </p:nvSpPr>
        <p:spPr>
          <a:xfrm>
            <a:off x="105156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70+ 思想エッセイ（9領域）</a:t>
            </a:r>
          </a:p>
        </p:txBody>
      </p:sp>
      <p:sp>
        <p:nvSpPr>
          <p:cNvPr id="19" name="TextBox 18"/>
          <p:cNvSpPr txBox="1"/>
          <p:nvPr/>
        </p:nvSpPr>
        <p:spPr>
          <a:xfrm>
            <a:off x="105156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存在証明を心理学・宗教・経済・AI・宇宙まで展開。知的コンテンツとしてクライアント提案に活用可能。</a:t>
            </a:r>
          </a:p>
        </p:txBody>
      </p:sp>
      <p:sp>
        <p:nvSpPr>
          <p:cNvPr id="20" name="Rectangle 19"/>
          <p:cNvSpPr/>
          <p:nvPr/>
        </p:nvSpPr>
        <p:spPr>
          <a:xfrm>
            <a:off x="461772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8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A</a:t>
            </a:r>
          </a:p>
        </p:txBody>
      </p:sp>
      <p:sp>
        <p:nvSpPr>
          <p:cNvPr id="23" name="TextBox 22"/>
          <p:cNvSpPr txBox="1"/>
          <p:nvPr/>
        </p:nvSpPr>
        <p:spPr>
          <a:xfrm>
            <a:off x="521208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Pearl Soap + アンバサダー網</a:t>
            </a:r>
          </a:p>
        </p:txBody>
      </p:sp>
      <p:sp>
        <p:nvSpPr>
          <p:cNvPr id="24" name="TextBox 23"/>
          <p:cNvSpPr txBox="1"/>
          <p:nvPr/>
        </p:nvSpPr>
        <p:spPr>
          <a:xfrm>
            <a:off x="521208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贈与経済の実践。全国にワークショップ展開可能な分散型運動体。エンドユーザーとの接点を提供。</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TokiStorageは既存デジタルサービスの「競合」ではなく「千年レイヤー」として補完する位置づけである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POSITIONING</a:t>
            </a:r>
          </a:p>
        </p:txBody>
      </p:sp>
      <p:sp>
        <p:nvSpPr>
          <p:cNvPr id="5" name="Rectangle 4"/>
          <p:cNvSpPr/>
          <p:nvPr/>
        </p:nvSpPr>
        <p:spPr>
          <a:xfrm>
            <a:off x="640080" y="1051560"/>
            <a:ext cx="13716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51560"/>
            <a:ext cx="11887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
            </a:r>
          </a:p>
        </p:txBody>
      </p:sp>
      <p:sp>
        <p:nvSpPr>
          <p:cNvPr id="7" name="Rectangle 6"/>
          <p:cNvSpPr/>
          <p:nvPr/>
        </p:nvSpPr>
        <p:spPr>
          <a:xfrm>
            <a:off x="2011680" y="1051560"/>
            <a:ext cx="32004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051560"/>
            <a:ext cx="30175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デジタルサービス（日常の記録）</a:t>
            </a:r>
          </a:p>
        </p:txBody>
      </p:sp>
      <p:sp>
        <p:nvSpPr>
          <p:cNvPr id="9" name="Rectangle 8"/>
          <p:cNvSpPr/>
          <p:nvPr/>
        </p:nvSpPr>
        <p:spPr>
          <a:xfrm>
            <a:off x="5212080" y="1051560"/>
            <a:ext cx="329184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051560"/>
            <a:ext cx="310896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TokiStorage（千年の記録）</a:t>
            </a:r>
          </a:p>
        </p:txBody>
      </p:sp>
      <p:sp>
        <p:nvSpPr>
          <p:cNvPr id="11" name="Rectangle 10"/>
          <p:cNvSpPr/>
          <p:nvPr/>
        </p:nvSpPr>
        <p:spPr>
          <a:xfrm>
            <a:off x="640080" y="1508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記録媒体</a:t>
            </a:r>
          </a:p>
        </p:txBody>
      </p:sp>
      <p:sp>
        <p:nvSpPr>
          <p:cNvPr id="13" name="Rectangle 12"/>
          <p:cNvSpPr/>
          <p:nvPr/>
        </p:nvSpPr>
        <p:spPr>
          <a:xfrm>
            <a:off x="2011680" y="1508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1508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クラウド / HDD</a:t>
            </a:r>
          </a:p>
        </p:txBody>
      </p:sp>
      <p:sp>
        <p:nvSpPr>
          <p:cNvPr id="15" name="Rectangle 14"/>
          <p:cNvSpPr/>
          <p:nvPr/>
        </p:nvSpPr>
        <p:spPr>
          <a:xfrm>
            <a:off x="5212080" y="1508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508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石英ガラス（物理）</a:t>
            </a:r>
          </a:p>
        </p:txBody>
      </p:sp>
      <p:sp>
        <p:nvSpPr>
          <p:cNvPr id="17" name="Rectangle 16"/>
          <p:cNvSpPr/>
          <p:nvPr/>
        </p:nvSpPr>
        <p:spPr>
          <a:xfrm>
            <a:off x="640080" y="1965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965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得意な時間軸</a:t>
            </a:r>
          </a:p>
        </p:txBody>
      </p:sp>
      <p:sp>
        <p:nvSpPr>
          <p:cNvPr id="19" name="Rectangle 18"/>
          <p:cNvSpPr/>
          <p:nvPr/>
        </p:nvSpPr>
        <p:spPr>
          <a:xfrm>
            <a:off x="2011680" y="1965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1965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今〜数十年（日常利用に最適）</a:t>
            </a:r>
          </a:p>
        </p:txBody>
      </p:sp>
      <p:sp>
        <p:nvSpPr>
          <p:cNvPr id="21" name="Rectangle 20"/>
          <p:cNvSpPr/>
          <p:nvPr/>
        </p:nvSpPr>
        <p:spPr>
          <a:xfrm>
            <a:off x="5212080" y="1965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1965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100年〜1000年（永続保存に特化）</a:t>
            </a:r>
          </a:p>
        </p:txBody>
      </p:sp>
      <p:sp>
        <p:nvSpPr>
          <p:cNvPr id="23" name="Rectangle 22"/>
          <p:cNvSpPr/>
          <p:nvPr/>
        </p:nvSpPr>
        <p:spPr>
          <a:xfrm>
            <a:off x="640080" y="24231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4231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インフラ</a:t>
            </a:r>
          </a:p>
        </p:txBody>
      </p:sp>
      <p:sp>
        <p:nvSpPr>
          <p:cNvPr id="25" name="Rectangle 24"/>
          <p:cNvSpPr/>
          <p:nvPr/>
        </p:nvSpPr>
        <p:spPr>
          <a:xfrm>
            <a:off x="2011680" y="24231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24231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サーバー・電源（利便性の源泉）</a:t>
            </a:r>
          </a:p>
        </p:txBody>
      </p:sp>
      <p:sp>
        <p:nvSpPr>
          <p:cNvPr id="27" name="Rectangle 26"/>
          <p:cNvSpPr/>
          <p:nvPr/>
        </p:nvSpPr>
        <p:spPr>
          <a:xfrm>
            <a:off x="5212080" y="24231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24231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不要（GitHub分散管理）</a:t>
            </a:r>
          </a:p>
        </p:txBody>
      </p:sp>
      <p:sp>
        <p:nvSpPr>
          <p:cNvPr id="29" name="Rectangle 28"/>
          <p:cNvSpPr/>
          <p:nvPr/>
        </p:nvSpPr>
        <p:spPr>
          <a:xfrm>
            <a:off x="640080" y="28803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8803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読み取り</a:t>
            </a:r>
          </a:p>
        </p:txBody>
      </p:sp>
      <p:sp>
        <p:nvSpPr>
          <p:cNvPr id="31" name="Rectangle 30"/>
          <p:cNvSpPr/>
          <p:nvPr/>
        </p:nvSpPr>
        <p:spPr>
          <a:xfrm>
            <a:off x="2011680" y="28803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28803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専用アプリ / ログイン</a:t>
            </a:r>
          </a:p>
        </p:txBody>
      </p:sp>
      <p:sp>
        <p:nvSpPr>
          <p:cNvPr id="33" name="Rectangle 32"/>
          <p:cNvSpPr/>
          <p:nvPr/>
        </p:nvSpPr>
        <p:spPr>
          <a:xfrm>
            <a:off x="5212080" y="28803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28803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スマホのカメラだけ</a:t>
            </a:r>
          </a:p>
        </p:txBody>
      </p:sp>
      <p:sp>
        <p:nvSpPr>
          <p:cNvPr id="35" name="Rectangle 34"/>
          <p:cNvSpPr/>
          <p:nvPr/>
        </p:nvSpPr>
        <p:spPr>
          <a:xfrm>
            <a:off x="640080" y="33375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375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文化的厚み</a:t>
            </a:r>
          </a:p>
        </p:txBody>
      </p:sp>
      <p:sp>
        <p:nvSpPr>
          <p:cNvPr id="37" name="Rectangle 36"/>
          <p:cNvSpPr/>
          <p:nvPr/>
        </p:nvSpPr>
        <p:spPr>
          <a:xfrm>
            <a:off x="2011680" y="33375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33375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機能・利便性が価値の中心</a:t>
            </a:r>
          </a:p>
        </p:txBody>
      </p:sp>
      <p:sp>
        <p:nvSpPr>
          <p:cNvPr id="39" name="Rectangle 38"/>
          <p:cNvSpPr/>
          <p:nvPr/>
        </p:nvSpPr>
        <p:spPr>
          <a:xfrm>
            <a:off x="5212080" y="33375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33375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70+ エッセイ＋贈与経済の実践</a:t>
            </a:r>
          </a:p>
        </p:txBody>
      </p:sp>
      <p:sp>
        <p:nvSpPr>
          <p:cNvPr id="41" name="Rectangle 40"/>
          <p:cNvSpPr/>
          <p:nvPr/>
        </p:nvSpPr>
        <p:spPr>
          <a:xfrm>
            <a:off x="640080" y="3794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94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社会的接点</a:t>
            </a:r>
          </a:p>
        </p:txBody>
      </p:sp>
      <p:sp>
        <p:nvSpPr>
          <p:cNvPr id="43" name="Rectangle 42"/>
          <p:cNvSpPr/>
          <p:nvPr/>
        </p:nvSpPr>
        <p:spPr>
          <a:xfrm>
            <a:off x="2011680" y="3794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03120" y="3794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プラットフォームとしての貢献</a:t>
            </a:r>
          </a:p>
        </p:txBody>
      </p:sp>
      <p:sp>
        <p:nvSpPr>
          <p:cNvPr id="45" name="Rectangle 44"/>
          <p:cNvSpPr/>
          <p:nvPr/>
        </p:nvSpPr>
        <p:spPr>
          <a:xfrm>
            <a:off x="5212080" y="3794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0" y="3794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SoulCarrier（無縁墓・遺骨送還活動）</a:t>
            </a:r>
          </a:p>
        </p:txBody>
      </p:sp>
      <p:sp>
        <p:nvSpPr>
          <p:cNvPr id="47" name="Rectangle 4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49" name="TextBox 4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50" name="TextBox 4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貴社のビジネスモデルに応じた3つの提携モデルを用意しており、段階的な移行も可能</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PARTNERSHIP MODELS</a:t>
            </a:r>
          </a:p>
        </p:txBody>
      </p:sp>
      <p:sp>
        <p:nvSpPr>
          <p:cNvPr id="5" name="Rectangle 4"/>
          <p:cNvSpPr/>
          <p:nvPr/>
        </p:nvSpPr>
        <p:spPr>
          <a:xfrm>
            <a:off x="457200" y="1051560"/>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70432"/>
            <a:ext cx="777240"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紹介
モデル</a:t>
            </a:r>
          </a:p>
        </p:txBody>
      </p:sp>
      <p:sp>
        <p:nvSpPr>
          <p:cNvPr id="8" name="TextBox 7"/>
          <p:cNvSpPr txBox="1"/>
          <p:nvPr/>
        </p:nvSpPr>
        <p:spPr>
          <a:xfrm>
            <a:off x="1508760" y="1124712"/>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A. クライアント紹介型パートナーシップ</a:t>
            </a:r>
          </a:p>
        </p:txBody>
      </p:sp>
      <p:sp>
        <p:nvSpPr>
          <p:cNvPr id="9" name="TextBox 8"/>
          <p:cNvSpPr txBox="1"/>
          <p:nvPr/>
        </p:nvSpPr>
        <p:spPr>
          <a:xfrm>
            <a:off x="1508760" y="1508760"/>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紹介ベースで連携。リファラルフィーをお支払い。クライアント対応・納品はTokiStorage側で完結。</a:t>
            </a:r>
          </a:p>
        </p:txBody>
      </p:sp>
      <p:sp>
        <p:nvSpPr>
          <p:cNvPr id="10" name="TextBox 9"/>
          <p:cNvSpPr txBox="1"/>
          <p:nvPr/>
        </p:nvSpPr>
        <p:spPr>
          <a:xfrm>
            <a:off x="1508760" y="1856232"/>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例：終活コンサル→存在証明を提案 / 葬祭業DX→メモリアルオプション追加</a:t>
            </a:r>
          </a:p>
        </p:txBody>
      </p:sp>
      <p:sp>
        <p:nvSpPr>
          <p:cNvPr id="11" name="Rectangle 10"/>
          <p:cNvSpPr/>
          <p:nvPr/>
        </p:nvSpPr>
        <p:spPr>
          <a:xfrm>
            <a:off x="457200" y="2212848"/>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331720"/>
            <a:ext cx="777240" cy="82296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共同
提案</a:t>
            </a:r>
          </a:p>
        </p:txBody>
      </p:sp>
      <p:sp>
        <p:nvSpPr>
          <p:cNvPr id="14" name="TextBox 13"/>
          <p:cNvSpPr txBox="1"/>
          <p:nvPr/>
        </p:nvSpPr>
        <p:spPr>
          <a:xfrm>
            <a:off x="1508760" y="2286000"/>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B. 共同ソリューション型</a:t>
            </a:r>
          </a:p>
        </p:txBody>
      </p:sp>
      <p:sp>
        <p:nvSpPr>
          <p:cNvPr id="15" name="TextBox 14"/>
          <p:cNvSpPr txBox="1"/>
          <p:nvPr/>
        </p:nvSpPr>
        <p:spPr>
          <a:xfrm>
            <a:off x="1508760" y="2670048"/>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貴社コンサルにTokiStorageを組み込んだ共同提案。ESG・地方創生・文化保存の「出口」として千年記録を位置づけ。</a:t>
            </a:r>
          </a:p>
        </p:txBody>
      </p:sp>
      <p:sp>
        <p:nvSpPr>
          <p:cNvPr id="16" name="TextBox 15"/>
          <p:cNvSpPr txBox="1"/>
          <p:nvPr/>
        </p:nvSpPr>
        <p:spPr>
          <a:xfrm>
            <a:off x="1508760" y="3017520"/>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例：自治体DX→地域記憶アーカイブ / ホテルCX改革→ゲスト記録のアップグレード</a:t>
            </a:r>
          </a:p>
        </p:txBody>
      </p:sp>
      <p:sp>
        <p:nvSpPr>
          <p:cNvPr id="17" name="Rectangle 16"/>
          <p:cNvSpPr/>
          <p:nvPr/>
        </p:nvSpPr>
        <p:spPr>
          <a:xfrm>
            <a:off x="457200" y="3374136"/>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493008"/>
            <a:ext cx="777240"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93008"/>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事業
共創</a:t>
            </a:r>
          </a:p>
        </p:txBody>
      </p:sp>
      <p:sp>
        <p:nvSpPr>
          <p:cNvPr id="20" name="TextBox 19"/>
          <p:cNvSpPr txBox="1"/>
          <p:nvPr/>
        </p:nvSpPr>
        <p:spPr>
          <a:xfrm>
            <a:off x="1508760" y="3447288"/>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C. 新規事業共創型</a:t>
            </a:r>
          </a:p>
        </p:txBody>
      </p:sp>
      <p:sp>
        <p:nvSpPr>
          <p:cNvPr id="21" name="TextBox 20"/>
          <p:cNvSpPr txBox="1"/>
          <p:nvPr/>
        </p:nvSpPr>
        <p:spPr>
          <a:xfrm>
            <a:off x="1508760" y="3831336"/>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存在証明を軸に新規事業を共同立ち上げ。技術・思想・ユースケースはTokiStorage、市場アクセス・信用・スケールは貴社。</a:t>
            </a:r>
          </a:p>
        </p:txBody>
      </p:sp>
      <p:sp>
        <p:nvSpPr>
          <p:cNvPr id="22" name="TextBox 21"/>
          <p:cNvSpPr txBox="1"/>
          <p:nvPr/>
        </p:nvSpPr>
        <p:spPr>
          <a:xfrm>
            <a:off x="1508760" y="4178808"/>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例：メモリアルテック新規事業 / 企業向け永続アーカイブサービス</a:t>
            </a:r>
          </a:p>
        </p:txBody>
      </p:sp>
      <p:sp>
        <p:nvSpPr>
          <p:cNvPr id="23" name="Rectangle 2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5" name="TextBox 2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6" name="TextBox 2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クライアント・パートナー・TokiStorageの三者がWinになる収益設計を採用している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REVENUE FLOW</a:t>
            </a:r>
          </a:p>
        </p:txBody>
      </p:sp>
      <p:sp>
        <p:nvSpPr>
          <p:cNvPr id="5" name="Rectangle 4"/>
          <p:cNvSpPr/>
          <p:nvPr/>
        </p:nvSpPr>
        <p:spPr>
          <a:xfrm>
            <a:off x="777240" y="1097280"/>
            <a:ext cx="2286000" cy="960120"/>
          </a:xfrm>
          <a:prstGeom prst="rect">
            <a:avLst/>
          </a:prstGeom>
          <a:solidFill>
            <a:srgbClr val="F0FDF4"/>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16A34A"/>
                </a:solidFill>
                <a:latin typeface="IPAPGothic"/>
              </a:rPr>
              <a:t>クライアント</a:t>
            </a:r>
          </a:p>
        </p:txBody>
      </p:sp>
      <p:sp>
        <p:nvSpPr>
          <p:cNvPr id="7" name="TextBox 6"/>
          <p:cNvSpPr txBox="1"/>
          <p:nvPr/>
        </p:nvSpPr>
        <p:spPr>
          <a:xfrm>
            <a:off x="86868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千年の存在証明
社会的意義の実感</a:t>
            </a:r>
          </a:p>
        </p:txBody>
      </p:sp>
      <p:sp>
        <p:nvSpPr>
          <p:cNvPr id="8" name="TextBox 7"/>
          <p:cNvSpPr txBox="1"/>
          <p:nvPr/>
        </p:nvSpPr>
        <p:spPr>
          <a:xfrm>
            <a:off x="310896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IPAPGothic"/>
              </a:rPr>
              <a:t>←</a:t>
            </a:r>
          </a:p>
        </p:txBody>
      </p:sp>
      <p:sp>
        <p:nvSpPr>
          <p:cNvPr id="9" name="Rectangle 8"/>
          <p:cNvSpPr/>
          <p:nvPr/>
        </p:nvSpPr>
        <p:spPr>
          <a:xfrm>
            <a:off x="3429000" y="1097280"/>
            <a:ext cx="2286000" cy="960120"/>
          </a:xfrm>
          <a:prstGeom prst="rect">
            <a:avLst/>
          </a:prstGeom>
          <a:solidFill>
            <a:srgbClr val="EFF6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2563EB"/>
                </a:solidFill>
                <a:latin typeface="IPAPGothic"/>
              </a:rPr>
              <a:t>パートナー（貴社）</a:t>
            </a:r>
          </a:p>
        </p:txBody>
      </p:sp>
      <p:sp>
        <p:nvSpPr>
          <p:cNvPr id="11" name="TextBox 10"/>
          <p:cNvSpPr txBox="1"/>
          <p:nvPr/>
        </p:nvSpPr>
        <p:spPr>
          <a:xfrm>
            <a:off x="352044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紹介フィー or 共同提案収益
クライアントLTV向上</a:t>
            </a:r>
          </a:p>
        </p:txBody>
      </p:sp>
      <p:sp>
        <p:nvSpPr>
          <p:cNvPr id="12" name="TextBox 11"/>
          <p:cNvSpPr txBox="1"/>
          <p:nvPr/>
        </p:nvSpPr>
        <p:spPr>
          <a:xfrm>
            <a:off x="576072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IPAPGothic"/>
              </a:rPr>
              <a:t>←</a:t>
            </a:r>
          </a:p>
        </p:txBody>
      </p:sp>
      <p:sp>
        <p:nvSpPr>
          <p:cNvPr id="13" name="Rectangle 12"/>
          <p:cNvSpPr/>
          <p:nvPr/>
        </p:nvSpPr>
        <p:spPr>
          <a:xfrm>
            <a:off x="6080760" y="1097280"/>
            <a:ext cx="2286000" cy="960120"/>
          </a:xfrm>
          <a:prstGeom prst="rect">
            <a:avLst/>
          </a:prstGeom>
          <a:solidFill>
            <a:srgbClr val="FDF8E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92400E"/>
                </a:solidFill>
                <a:latin typeface="IPAPGothic"/>
              </a:rPr>
              <a:t>TokiStorage</a:t>
            </a:r>
          </a:p>
        </p:txBody>
      </p:sp>
      <p:sp>
        <p:nvSpPr>
          <p:cNvPr id="15" name="TextBox 14"/>
          <p:cNvSpPr txBox="1"/>
          <p:nvPr/>
        </p:nvSpPr>
        <p:spPr>
          <a:xfrm>
            <a:off x="617220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技術・思想・納品
収益の一部→SoulCarrier活動</a:t>
            </a:r>
          </a:p>
        </p:txBody>
      </p:sp>
      <p:sp>
        <p:nvSpPr>
          <p:cNvPr id="16" name="Rectangle 15"/>
          <p:cNvSpPr/>
          <p:nvPr/>
        </p:nvSpPr>
        <p:spPr>
          <a:xfrm>
            <a:off x="457200" y="2423160"/>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423160"/>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514600"/>
            <a:ext cx="7543800" cy="25603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初期パートナー優遇</a:t>
            </a:r>
          </a:p>
        </p:txBody>
      </p:sp>
      <p:sp>
        <p:nvSpPr>
          <p:cNvPr id="19" name="TextBox 18"/>
          <p:cNvSpPr txBox="1"/>
          <p:nvPr/>
        </p:nvSpPr>
        <p:spPr>
          <a:xfrm>
            <a:off x="685800" y="2834640"/>
            <a:ext cx="7543800" cy="54864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複数のコンサルティングファームに順次ご提案を進めています。最初に提携いただいたファームには、紹介モデルの優先条件・エリア独占権など、初期パートナーならではのインセンティブをご用意します。</a:t>
            </a:r>
          </a:p>
        </p:txBody>
      </p:sp>
      <p:sp>
        <p:nvSpPr>
          <p:cNvPr id="20" name="Rectangle 19"/>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2" name="TextBox 21"/>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3" name="TextBox 22"/>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葬祭・ホスピタリティ・宗教法人・自治体・ESG・金融の6領域で特に高い親和性がある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CLIENT FIT</a:t>
            </a:r>
          </a:p>
        </p:txBody>
      </p:sp>
      <p:sp>
        <p:nvSpPr>
          <p:cNvPr id="5" name="TextBox 4"/>
          <p:cNvSpPr txBox="1"/>
          <p:nvPr/>
        </p:nvSpPr>
        <p:spPr>
          <a:xfrm>
            <a:off x="457200" y="1005840"/>
            <a:ext cx="7315200" cy="274320"/>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貴社のクライアントポートフォリオに、以下のセクターはありませんか。</a:t>
            </a:r>
          </a:p>
        </p:txBody>
      </p:sp>
      <p:sp>
        <p:nvSpPr>
          <p:cNvPr id="6" name="Rectangle 5"/>
          <p:cNvSpPr/>
          <p:nvPr/>
        </p:nvSpPr>
        <p:spPr>
          <a:xfrm>
            <a:off x="457200"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68196"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68196"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M</a:t>
            </a:r>
          </a:p>
        </p:txBody>
      </p:sp>
      <p:sp>
        <p:nvSpPr>
          <p:cNvPr id="9" name="TextBox 8"/>
          <p:cNvSpPr txBox="1"/>
          <p:nvPr/>
        </p:nvSpPr>
        <p:spPr>
          <a:xfrm>
            <a:off x="530352"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葬祭・メモリアル</a:t>
            </a:r>
          </a:p>
        </p:txBody>
      </p:sp>
      <p:sp>
        <p:nvSpPr>
          <p:cNvPr id="10" name="TextBox 9"/>
          <p:cNvSpPr txBox="1"/>
          <p:nvPr/>
        </p:nvSpPr>
        <p:spPr>
          <a:xfrm>
            <a:off x="530352"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墓じまい代替、永代供養デジタル化、遺族向け新サービス</a:t>
            </a:r>
          </a:p>
        </p:txBody>
      </p:sp>
      <p:sp>
        <p:nvSpPr>
          <p:cNvPr id="11" name="Rectangle 10"/>
          <p:cNvSpPr/>
          <p:nvPr/>
        </p:nvSpPr>
        <p:spPr>
          <a:xfrm>
            <a:off x="3273552"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84548"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4548"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H</a:t>
            </a:r>
          </a:p>
        </p:txBody>
      </p:sp>
      <p:sp>
        <p:nvSpPr>
          <p:cNvPr id="14" name="TextBox 13"/>
          <p:cNvSpPr txBox="1"/>
          <p:nvPr/>
        </p:nvSpPr>
        <p:spPr>
          <a:xfrm>
            <a:off x="3346704"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ホスピタリティ</a:t>
            </a:r>
          </a:p>
        </p:txBody>
      </p:sp>
      <p:sp>
        <p:nvSpPr>
          <p:cNvPr id="15" name="TextBox 14"/>
          <p:cNvSpPr txBox="1"/>
          <p:nvPr/>
        </p:nvSpPr>
        <p:spPr>
          <a:xfrm>
            <a:off x="3346704"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ウェディング記録、ホテルCX、記念日サービス</a:t>
            </a:r>
          </a:p>
        </p:txBody>
      </p:sp>
      <p:sp>
        <p:nvSpPr>
          <p:cNvPr id="16" name="Rectangle 15"/>
          <p:cNvSpPr/>
          <p:nvPr/>
        </p:nvSpPr>
        <p:spPr>
          <a:xfrm>
            <a:off x="6089904"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00900"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900"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R</a:t>
            </a:r>
          </a:p>
        </p:txBody>
      </p:sp>
      <p:sp>
        <p:nvSpPr>
          <p:cNvPr id="19" name="TextBox 18"/>
          <p:cNvSpPr txBox="1"/>
          <p:nvPr/>
        </p:nvSpPr>
        <p:spPr>
          <a:xfrm>
            <a:off x="6163056"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宗教法人・寺社</a:t>
            </a:r>
          </a:p>
        </p:txBody>
      </p:sp>
      <p:sp>
        <p:nvSpPr>
          <p:cNvPr id="20" name="TextBox 19"/>
          <p:cNvSpPr txBox="1"/>
          <p:nvPr/>
        </p:nvSpPr>
        <p:spPr>
          <a:xfrm>
            <a:off x="6163056"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檀家記録の永続化、参拝体験DX、文化財保存</a:t>
            </a:r>
          </a:p>
        </p:txBody>
      </p:sp>
      <p:sp>
        <p:nvSpPr>
          <p:cNvPr id="21" name="Rectangle 20"/>
          <p:cNvSpPr/>
          <p:nvPr/>
        </p:nvSpPr>
        <p:spPr>
          <a:xfrm>
            <a:off x="457200"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568196"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8196"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G</a:t>
            </a:r>
          </a:p>
        </p:txBody>
      </p:sp>
      <p:sp>
        <p:nvSpPr>
          <p:cNvPr id="24" name="TextBox 23"/>
          <p:cNvSpPr txBox="1"/>
          <p:nvPr/>
        </p:nvSpPr>
        <p:spPr>
          <a:xfrm>
            <a:off x="530352"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自治体・教育</a:t>
            </a:r>
          </a:p>
        </p:txBody>
      </p:sp>
      <p:sp>
        <p:nvSpPr>
          <p:cNvPr id="25" name="TextBox 24"/>
          <p:cNvSpPr txBox="1"/>
          <p:nvPr/>
        </p:nvSpPr>
        <p:spPr>
          <a:xfrm>
            <a:off x="530352"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地域アーカイブ、災害記録、学校史の永続化</a:t>
            </a:r>
          </a:p>
        </p:txBody>
      </p:sp>
      <p:sp>
        <p:nvSpPr>
          <p:cNvPr id="26" name="Rectangle 25"/>
          <p:cNvSpPr/>
          <p:nvPr/>
        </p:nvSpPr>
        <p:spPr>
          <a:xfrm>
            <a:off x="3273552"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4548"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4548"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E</a:t>
            </a:r>
          </a:p>
        </p:txBody>
      </p:sp>
      <p:sp>
        <p:nvSpPr>
          <p:cNvPr id="29" name="TextBox 28"/>
          <p:cNvSpPr txBox="1"/>
          <p:nvPr/>
        </p:nvSpPr>
        <p:spPr>
          <a:xfrm>
            <a:off x="3346704"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ESG・サステナビリティ</a:t>
            </a:r>
          </a:p>
        </p:txBody>
      </p:sp>
      <p:sp>
        <p:nvSpPr>
          <p:cNvPr id="30" name="TextBox 29"/>
          <p:cNvSpPr txBox="1"/>
          <p:nvPr/>
        </p:nvSpPr>
        <p:spPr>
          <a:xfrm>
            <a:off x="3346704"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1000年設計の企業理念記録、SDGs実績の永続証明</a:t>
            </a:r>
          </a:p>
        </p:txBody>
      </p:sp>
      <p:sp>
        <p:nvSpPr>
          <p:cNvPr id="31" name="Rectangle 30"/>
          <p:cNvSpPr/>
          <p:nvPr/>
        </p:nvSpPr>
        <p:spPr>
          <a:xfrm>
            <a:off x="6089904"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00900"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00900"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F</a:t>
            </a:r>
          </a:p>
        </p:txBody>
      </p:sp>
      <p:sp>
        <p:nvSpPr>
          <p:cNvPr id="34" name="TextBox 33"/>
          <p:cNvSpPr txBox="1"/>
          <p:nvPr/>
        </p:nvSpPr>
        <p:spPr>
          <a:xfrm>
            <a:off x="6163056"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金融・保険</a:t>
            </a:r>
          </a:p>
        </p:txBody>
      </p:sp>
      <p:sp>
        <p:nvSpPr>
          <p:cNvPr id="35" name="TextBox 34"/>
          <p:cNvSpPr txBox="1"/>
          <p:nvPr/>
        </p:nvSpPr>
        <p:spPr>
          <a:xfrm>
            <a:off x="6163056"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終活関連サービス連携、デジタル遺品対策</a:t>
            </a:r>
          </a:p>
        </p:txBody>
      </p:sp>
      <p:sp>
        <p:nvSpPr>
          <p:cNvPr id="36" name="Rectangle 35"/>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38" name="TextBox 37"/>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39" name="TextBox 38"/>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代表はBig4出身であり、ファームのコンプライアンス要件を理解した上で提携モデルを設計している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TEAM &amp; INDEPENDENCE</a:t>
            </a:r>
          </a:p>
        </p:txBody>
      </p:sp>
      <p:pic>
        <p:nvPicPr>
          <p:cNvPr id="5" name="Picture 4" descr="_deck_profile.png"/>
          <p:cNvPicPr>
            <a:picLocks noChangeAspect="1"/>
          </p:cNvPicPr>
          <p:nvPr/>
        </p:nvPicPr>
        <p:blipFill>
          <a:blip r:embed="rId2"/>
          <a:stretch>
            <a:fillRect/>
          </a:stretch>
        </p:blipFill>
        <p:spPr>
          <a:xfrm>
            <a:off x="457200" y="1024128"/>
            <a:ext cx="914400" cy="914400"/>
          </a:xfrm>
          <a:prstGeom prst="rect">
            <a:avLst/>
          </a:prstGeom>
        </p:spPr>
      </p:pic>
      <p:sp>
        <p:nvSpPr>
          <p:cNvPr id="6" name="TextBox 5"/>
          <p:cNvSpPr txBox="1"/>
          <p:nvPr/>
        </p:nvSpPr>
        <p:spPr>
          <a:xfrm>
            <a:off x="1508760" y="1078992"/>
            <a:ext cx="6675120" cy="320040"/>
          </a:xfrm>
          <a:prstGeom prst="rect">
            <a:avLst/>
          </a:prstGeom>
          <a:noFill/>
        </p:spPr>
        <p:txBody>
          <a:bodyPr wrap="square"/>
          <a:lstStyle/>
          <a:p>
            <a:pPr algn="l">
              <a:lnSpc>
                <a:spcPct val="135000"/>
              </a:lnSpc>
              <a:spcBef>
                <a:spcPts val="0"/>
              </a:spcBef>
              <a:spcAft>
                <a:spcPts val="0"/>
              </a:spcAft>
            </a:pPr>
            <a:r>
              <a:rPr sz="1300" b="1">
                <a:solidFill>
                  <a:srgbClr val="1E293B"/>
                </a:solidFill>
                <a:latin typeface="IPAPGothic"/>
              </a:rPr>
              <a:t>佐藤卓也 — Universal Need株式会社 代表</a:t>
            </a:r>
          </a:p>
        </p:txBody>
      </p:sp>
      <p:sp>
        <p:nvSpPr>
          <p:cNvPr id="7" name="TextBox 6"/>
          <p:cNvSpPr txBox="1"/>
          <p:nvPr/>
        </p:nvSpPr>
        <p:spPr>
          <a:xfrm>
            <a:off x="1508760" y="1444752"/>
            <a:ext cx="6675120" cy="109728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大手コンサルティングファームでの経験を経て、半導体製造装置のエンジニアリング20年超。タイムレスタウン新浦安（250世帯）の自治会長として「ゆりかごから墓場まで」のコミュニティ運営を経験。SoulCarrier活動で「記憶が消える恐怖」を目の当たりにし、TokiStorageを着想。マウイ・山中湖でのオフグリッド実証を経て、制度に依存しない千年設計の技術を完成。</a:t>
            </a:r>
          </a:p>
        </p:txBody>
      </p:sp>
      <p:sp>
        <p:nvSpPr>
          <p:cNvPr id="8" name="Rectangle 7"/>
          <p:cNvSpPr/>
          <p:nvPr/>
        </p:nvSpPr>
        <p:spPr>
          <a:xfrm>
            <a:off x="457200" y="2340864"/>
            <a:ext cx="98298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40864"/>
            <a:ext cx="80010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元Big4ファーム</a:t>
            </a:r>
          </a:p>
        </p:txBody>
      </p:sp>
      <p:sp>
        <p:nvSpPr>
          <p:cNvPr id="10" name="Rectangle 9"/>
          <p:cNvSpPr/>
          <p:nvPr/>
        </p:nvSpPr>
        <p:spPr>
          <a:xfrm>
            <a:off x="1549908" y="2340864"/>
            <a:ext cx="146304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1348" y="2340864"/>
            <a:ext cx="128016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半導体エンジニアリング 20年+</a:t>
            </a:r>
          </a:p>
        </p:txBody>
      </p:sp>
      <p:sp>
        <p:nvSpPr>
          <p:cNvPr id="12" name="Rectangle 11"/>
          <p:cNvSpPr/>
          <p:nvPr/>
        </p:nvSpPr>
        <p:spPr>
          <a:xfrm>
            <a:off x="3122676" y="2340864"/>
            <a:ext cx="112014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14116" y="2340864"/>
            <a:ext cx="93726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自治会長（250世帯）</a:t>
            </a:r>
          </a:p>
        </p:txBody>
      </p:sp>
      <p:sp>
        <p:nvSpPr>
          <p:cNvPr id="14" name="Rectangle 13"/>
          <p:cNvSpPr/>
          <p:nvPr/>
        </p:nvSpPr>
        <p:spPr>
          <a:xfrm>
            <a:off x="4352544" y="2340864"/>
            <a:ext cx="125730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340864"/>
            <a:ext cx="107442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SoulCarrier主宰</a:t>
            </a:r>
          </a:p>
        </p:txBody>
      </p:sp>
      <p:sp>
        <p:nvSpPr>
          <p:cNvPr id="16" name="Rectangle 15"/>
          <p:cNvSpPr/>
          <p:nvPr/>
        </p:nvSpPr>
        <p:spPr>
          <a:xfrm>
            <a:off x="5719572" y="2340864"/>
            <a:ext cx="105156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340864"/>
            <a:ext cx="86868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オフグリッド実証済み</a:t>
            </a:r>
          </a:p>
        </p:txBody>
      </p:sp>
      <p:sp>
        <p:nvSpPr>
          <p:cNvPr id="18" name="Rectangle 17"/>
          <p:cNvSpPr/>
          <p:nvPr/>
        </p:nvSpPr>
        <p:spPr>
          <a:xfrm>
            <a:off x="6880860" y="2340864"/>
            <a:ext cx="1325880" cy="25603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72300" y="2340864"/>
            <a:ext cx="1143000" cy="25603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佐渡島移住予定（2026春）</a:t>
            </a:r>
          </a:p>
        </p:txBody>
      </p:sp>
      <p:sp>
        <p:nvSpPr>
          <p:cNvPr id="20" name="Rectangle 19"/>
          <p:cNvSpPr/>
          <p:nvPr/>
        </p:nvSpPr>
        <p:spPr>
          <a:xfrm>
            <a:off x="457200" y="2843784"/>
            <a:ext cx="7863840" cy="80467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843784"/>
            <a:ext cx="54864" cy="8046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7543800" cy="256032"/>
          </a:xfrm>
          <a:prstGeom prst="rect">
            <a:avLst/>
          </a:prstGeom>
          <a:noFill/>
        </p:spPr>
        <p:txBody>
          <a:bodyPr wrap="square"/>
          <a:lstStyle/>
          <a:p>
            <a:pPr algn="l">
              <a:lnSpc>
                <a:spcPct val="135000"/>
              </a:lnSpc>
              <a:spcBef>
                <a:spcPts val="0"/>
              </a:spcBef>
              <a:spcAft>
                <a:spcPts val="0"/>
              </a:spcAft>
            </a:pPr>
            <a:r>
              <a:rPr sz="1000" b="1">
                <a:solidFill>
                  <a:srgbClr val="1E293B"/>
                </a:solidFill>
                <a:latin typeface="IPAPGothic"/>
              </a:rPr>
              <a:t>独立性（Independence）について</a:t>
            </a:r>
          </a:p>
        </p:txBody>
      </p:sp>
      <p:sp>
        <p:nvSpPr>
          <p:cNvPr id="23" name="TextBox 22"/>
          <p:cNvSpPr txBox="1"/>
          <p:nvPr/>
        </p:nvSpPr>
        <p:spPr>
          <a:xfrm>
            <a:off x="685800" y="3246120"/>
            <a:ext cx="7543800" cy="329184"/>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本提携はベンダーパートナーシップです。SalesforceやSAPの導入推奨と同じ構造であり、監査契約・出資関係は一切含みません。独立性に関する懸念が発生しない設計です。</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11480"/>
          </a:xfrm>
          <a:prstGeom prst="rect">
            <a:avLst/>
          </a:prstGeom>
          <a:noFill/>
        </p:spPr>
        <p:txBody>
          <a:bodyPr wrap="square"/>
          <a:lstStyle/>
          <a:p>
            <a:pPr algn="l">
              <a:lnSpc>
                <a:spcPct val="135000"/>
              </a:lnSpc>
              <a:spcBef>
                <a:spcPts val="0"/>
              </a:spcBef>
              <a:spcAft>
                <a:spcPts val="0"/>
              </a:spcAft>
            </a:pPr>
            <a:r>
              <a:rPr sz="1300" b="1">
                <a:solidFill>
                  <a:srgbClr val="FFFFFF"/>
                </a:solidFill>
                <a:latin typeface="IPAPGothic"/>
              </a:rPr>
              <a:t>Next Step</a:t>
            </a:r>
          </a:p>
        </p:txBody>
      </p:sp>
      <p:sp>
        <p:nvSpPr>
          <p:cNvPr id="4" name="TextBox 3"/>
          <p:cNvSpPr txBox="1"/>
          <p:nvPr/>
        </p:nvSpPr>
        <p:spPr>
          <a:xfrm>
            <a:off x="457200" y="777240"/>
            <a:ext cx="7315200" cy="457200"/>
          </a:xfrm>
          <a:prstGeom prst="rect">
            <a:avLst/>
          </a:prstGeom>
          <a:noFill/>
        </p:spPr>
        <p:txBody>
          <a:bodyPr wrap="square"/>
          <a:lstStyle/>
          <a:p>
            <a:pPr algn="l">
              <a:lnSpc>
                <a:spcPct val="135000"/>
              </a:lnSpc>
              <a:spcBef>
                <a:spcPts val="0"/>
              </a:spcBef>
              <a:spcAft>
                <a:spcPts val="0"/>
              </a:spcAft>
            </a:pPr>
            <a:r>
              <a:rPr sz="2000" b="1">
                <a:solidFill>
                  <a:srgbClr val="FFFFFF"/>
                </a:solidFill>
                <a:latin typeface="IPAPGothic"/>
              </a:rPr>
              <a:t>ご検討のステップ</a:t>
            </a:r>
          </a:p>
        </p:txBody>
      </p:sp>
      <p:sp>
        <p:nvSpPr>
          <p:cNvPr id="5" name="Oval 4"/>
          <p:cNvSpPr/>
          <p:nvPr/>
        </p:nvSpPr>
        <p:spPr>
          <a:xfrm>
            <a:off x="731520" y="155448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01</a:t>
            </a:r>
          </a:p>
        </p:txBody>
      </p:sp>
      <p:sp>
        <p:nvSpPr>
          <p:cNvPr id="7" name="TextBox 6"/>
          <p:cNvSpPr txBox="1"/>
          <p:nvPr/>
        </p:nvSpPr>
        <p:spPr>
          <a:xfrm>
            <a:off x="1280160" y="1517904"/>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初回ミーティング（30分）</a:t>
            </a:r>
          </a:p>
        </p:txBody>
      </p:sp>
      <p:sp>
        <p:nvSpPr>
          <p:cNvPr id="8" name="TextBox 7"/>
          <p:cNvSpPr txBox="1"/>
          <p:nvPr/>
        </p:nvSpPr>
        <p:spPr>
          <a:xfrm>
            <a:off x="1280160" y="1773936"/>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貴社クライアントの課題感・ポートフォリオを共有</a:t>
            </a:r>
          </a:p>
        </p:txBody>
      </p:sp>
      <p:sp>
        <p:nvSpPr>
          <p:cNvPr id="9" name="Oval 8"/>
          <p:cNvSpPr/>
          <p:nvPr/>
        </p:nvSpPr>
        <p:spPr>
          <a:xfrm>
            <a:off x="731520" y="22128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02</a:t>
            </a:r>
          </a:p>
        </p:txBody>
      </p:sp>
      <p:sp>
        <p:nvSpPr>
          <p:cNvPr id="11" name="TextBox 10"/>
          <p:cNvSpPr txBox="1"/>
          <p:nvPr/>
        </p:nvSpPr>
        <p:spPr>
          <a:xfrm>
            <a:off x="1280160" y="2176272"/>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ユースケース選定</a:t>
            </a:r>
          </a:p>
        </p:txBody>
      </p:sp>
      <p:sp>
        <p:nvSpPr>
          <p:cNvPr id="12" name="TextBox 11"/>
          <p:cNvSpPr txBox="1"/>
          <p:nvPr/>
        </p:nvSpPr>
        <p:spPr>
          <a:xfrm>
            <a:off x="1280160" y="2432304"/>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貴社クライアントとの親和性が高い領域を整理</a:t>
            </a:r>
          </a:p>
        </p:txBody>
      </p:sp>
      <p:sp>
        <p:nvSpPr>
          <p:cNvPr id="13" name="Oval 12"/>
          <p:cNvSpPr/>
          <p:nvPr/>
        </p:nvSpPr>
        <p:spPr>
          <a:xfrm>
            <a:off x="731520" y="287121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871216"/>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03</a:t>
            </a:r>
          </a:p>
        </p:txBody>
      </p:sp>
      <p:sp>
        <p:nvSpPr>
          <p:cNvPr id="15" name="TextBox 14"/>
          <p:cNvSpPr txBox="1"/>
          <p:nvPr/>
        </p:nvSpPr>
        <p:spPr>
          <a:xfrm>
            <a:off x="1280160" y="2834640"/>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提携モデル設計</a:t>
            </a:r>
          </a:p>
        </p:txBody>
      </p:sp>
      <p:sp>
        <p:nvSpPr>
          <p:cNvPr id="16" name="TextBox 15"/>
          <p:cNvSpPr txBox="1"/>
          <p:nvPr/>
        </p:nvSpPr>
        <p:spPr>
          <a:xfrm>
            <a:off x="1280160" y="3090672"/>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最適なモデルの選択・条件・スコープの整理</a:t>
            </a:r>
          </a:p>
        </p:txBody>
      </p:sp>
      <p:sp>
        <p:nvSpPr>
          <p:cNvPr id="17" name="Oval 16"/>
          <p:cNvSpPr/>
          <p:nvPr/>
        </p:nvSpPr>
        <p:spPr>
          <a:xfrm>
            <a:off x="731520" y="352958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9584"/>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04</a:t>
            </a:r>
          </a:p>
        </p:txBody>
      </p:sp>
      <p:sp>
        <p:nvSpPr>
          <p:cNvPr id="19" name="TextBox 18"/>
          <p:cNvSpPr txBox="1"/>
          <p:nvPr/>
        </p:nvSpPr>
        <p:spPr>
          <a:xfrm>
            <a:off x="1280160" y="3493008"/>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パイロット実施</a:t>
            </a:r>
          </a:p>
        </p:txBody>
      </p:sp>
      <p:sp>
        <p:nvSpPr>
          <p:cNvPr id="20" name="TextBox 19"/>
          <p:cNvSpPr txBox="1"/>
          <p:nvPr/>
        </p:nvSpPr>
        <p:spPr>
          <a:xfrm>
            <a:off x="1280160" y="3749040"/>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1〜2件のクライアントで実証・フィードバック</a:t>
            </a:r>
          </a:p>
        </p:txBody>
      </p:sp>
      <p:sp>
        <p:nvSpPr>
          <p:cNvPr id="21" name="TextBox 20"/>
          <p:cNvSpPr txBox="1"/>
          <p:nvPr/>
        </p:nvSpPr>
        <p:spPr>
          <a:xfrm>
            <a:off x="731520" y="4229100"/>
            <a:ext cx="7315200" cy="274320"/>
          </a:xfrm>
          <a:prstGeom prst="rect">
            <a:avLst/>
          </a:prstGeom>
          <a:noFill/>
        </p:spPr>
        <p:txBody>
          <a:bodyPr wrap="square"/>
          <a:lstStyle/>
          <a:p>
            <a:pPr algn="l">
              <a:lnSpc>
                <a:spcPct val="135000"/>
              </a:lnSpc>
              <a:spcBef>
                <a:spcPts val="0"/>
              </a:spcBef>
              <a:spcAft>
                <a:spcPts val="0"/>
              </a:spcAft>
            </a:pPr>
            <a:r>
              <a:rPr sz="1000" b="0">
                <a:solidFill>
                  <a:srgbClr val="94A3B8"/>
                </a:solidFill>
                <a:latin typeface="IPAPGothic"/>
              </a:rPr>
              <a:t>Universal Need株式会社　代表取締役　佐藤卓也</a:t>
            </a:r>
          </a:p>
        </p:txBody>
      </p:sp>
      <p:sp>
        <p:nvSpPr>
          <p:cNvPr id="22" name="Rectangle 21"/>
          <p:cNvSpPr/>
          <p:nvPr/>
        </p:nvSpPr>
        <p:spPr>
          <a:xfrm>
            <a:off x="0" y="4613148"/>
            <a:ext cx="9144000" cy="635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40580"/>
            <a:ext cx="36576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Universal Need株式会社 — TokiStorage</a:t>
            </a:r>
          </a:p>
        </p:txBody>
      </p:sp>
      <p:sp>
        <p:nvSpPr>
          <p:cNvPr id="24" name="TextBox 23"/>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5" name="TextBox 24"/>
          <p:cNvSpPr txBox="1"/>
          <p:nvPr/>
        </p:nvSpPr>
        <p:spPr>
          <a:xfrm>
            <a:off x="8229600" y="4640580"/>
            <a:ext cx="457200" cy="32004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411480"/>
          </a:xfrm>
          <a:prstGeom prst="rect">
            <a:avLst/>
          </a:prstGeom>
          <a:noFill/>
        </p:spPr>
        <p:txBody>
          <a:bodyPr wrap="square"/>
          <a:lstStyle/>
          <a:p>
            <a:pPr algn="l">
              <a:lnSpc>
                <a:spcPct val="135000"/>
              </a:lnSpc>
              <a:spcBef>
                <a:spcPts val="0"/>
              </a:spcBef>
              <a:spcAft>
                <a:spcPts val="0"/>
              </a:spcAft>
            </a:pPr>
            <a:r>
              <a:rPr sz="1400" b="1">
                <a:solidFill>
                  <a:srgbClr val="94A3B8"/>
                </a:solidFill>
                <a:latin typeface="IPAPGothic"/>
              </a:rPr>
              <a:t>Confidential / Disclaimer</a:t>
            </a:r>
          </a:p>
        </p:txBody>
      </p:sp>
      <p:sp>
        <p:nvSpPr>
          <p:cNvPr id="4" name="Rectangle 3"/>
          <p:cNvSpPr/>
          <p:nvPr/>
        </p:nvSpPr>
        <p:spPr>
          <a:xfrm>
            <a:off x="914400" y="1371600"/>
            <a:ext cx="73152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315200" cy="2560320"/>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本資料は、Universal Need株式会社（以下「当社」）がパートナーシップのご検討のために作成した機密資料です。
本資料に含まれる情報は、当社の現時点における見解および計画に基づくものであり、その正確性、完全性、または将来の結果を保証するものではありません。
本資料は情報提供を目的としており、法的助言、投資助言、その他いかなる専門的助言を構成するものでもありません。
本資料の全部または一部を、当社の事前の書面による同意なく、第三者に開示、複製、または配布することを禁じます。</a:t>
            </a:r>
          </a:p>
        </p:txBody>
      </p:sp>
      <p:sp>
        <p:nvSpPr>
          <p:cNvPr id="6" name="TextBox 5"/>
          <p:cNvSpPr txBox="1"/>
          <p:nvPr/>
        </p:nvSpPr>
        <p:spPr>
          <a:xfrm>
            <a:off x="914400" y="4046220"/>
            <a:ext cx="7315200" cy="274320"/>
          </a:xfrm>
          <a:prstGeom prst="rect">
            <a:avLst/>
          </a:prstGeom>
          <a:noFill/>
        </p:spPr>
        <p:txBody>
          <a:bodyPr wrap="square"/>
          <a:lstStyle/>
          <a:p>
            <a:pPr algn="l">
              <a:lnSpc>
                <a:spcPct val="135000"/>
              </a:lnSpc>
              <a:spcBef>
                <a:spcPts val="0"/>
              </a:spcBef>
              <a:spcAft>
                <a:spcPts val="0"/>
              </a:spcAft>
            </a:pPr>
            <a:r>
              <a:rPr sz="800" b="0">
                <a:solidFill>
                  <a:srgbClr val="94A3B8"/>
                </a:solidFill>
                <a:latin typeface="IPAPGothic"/>
              </a:rPr>
              <a:t>© 2026 Universal Need株式会社. All rights reserved.</a:t>
            </a:r>
          </a:p>
        </p:txBody>
      </p:sp>
      <p:sp>
        <p:nvSpPr>
          <p:cNvPr id="7" name="Rectangle 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Universal Need株式会社 — TokiStorage</a:t>
            </a:r>
          </a:p>
        </p:txBody>
      </p:sp>
      <p:sp>
        <p:nvSpPr>
          <p:cNvPr id="9" name="TextBox 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10" name="TextBox 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