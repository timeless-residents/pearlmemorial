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4572000" cy="320040"/>
          </a:xfrm>
          <a:prstGeom prst="rect">
            <a:avLst/>
          </a:prstGeom>
          <a:noFill/>
        </p:spPr>
        <p:txBody>
          <a:bodyPr wrap="square"/>
          <a:lstStyle/>
          <a:p>
            <a:pPr algn="l">
              <a:spcBef>
                <a:spcPts val="0"/>
              </a:spcBef>
              <a:spcAft>
                <a:spcPts val="0"/>
              </a:spcAft>
            </a:pPr>
            <a:r>
              <a:rPr sz="1000" b="0">
                <a:solidFill>
                  <a:srgbClr val="94A3B8"/>
                </a:solidFill>
                <a:latin typeface="IPAPGothic"/>
              </a:rPr>
              <a:t>Partnership Proposal — Confidential</a:t>
            </a:r>
          </a:p>
        </p:txBody>
      </p:sp>
      <p:sp>
        <p:nvSpPr>
          <p:cNvPr id="4" name="TextBox 3"/>
          <p:cNvSpPr txBox="1"/>
          <p:nvPr/>
        </p:nvSpPr>
        <p:spPr>
          <a:xfrm>
            <a:off x="914400" y="1188720"/>
            <a:ext cx="7315200" cy="1371600"/>
          </a:xfrm>
          <a:prstGeom prst="rect">
            <a:avLst/>
          </a:prstGeom>
          <a:noFill/>
        </p:spPr>
        <p:txBody>
          <a:bodyPr wrap="square"/>
          <a:lstStyle/>
          <a:p>
            <a:pPr algn="l">
              <a:spcBef>
                <a:spcPts val="0"/>
              </a:spcBef>
              <a:spcAft>
                <a:spcPts val="0"/>
              </a:spcAft>
            </a:pPr>
            <a:r>
              <a:rPr sz="3000" b="1">
                <a:solidFill>
                  <a:srgbClr val="FFFFFF"/>
                </a:solidFill>
                <a:latin typeface="IPAPGothic"/>
              </a:rPr>
              <a:t>貴社クライアントに、
「千年の存在証明」を。</a:t>
            </a:r>
          </a:p>
        </p:txBody>
      </p:sp>
      <p:sp>
        <p:nvSpPr>
          <p:cNvPr id="5" name="TextBox 4"/>
          <p:cNvSpPr txBox="1"/>
          <p:nvPr/>
        </p:nvSpPr>
        <p:spPr>
          <a:xfrm>
            <a:off x="914400" y="2743200"/>
            <a:ext cx="6400800" cy="822960"/>
          </a:xfrm>
          <a:prstGeom prst="rect">
            <a:avLst/>
          </a:prstGeom>
          <a:noFill/>
        </p:spPr>
        <p:txBody>
          <a:bodyPr wrap="square"/>
          <a:lstStyle/>
          <a:p>
            <a:pPr algn="l">
              <a:spcBef>
                <a:spcPts val="0"/>
              </a:spcBef>
              <a:spcAft>
                <a:spcPts val="0"/>
              </a:spcAft>
            </a:pPr>
            <a:r>
              <a:rPr sz="1400" b="0">
                <a:solidFill>
                  <a:srgbClr val="BBBBCC"/>
                </a:solidFill>
                <a:latin typeface="IPAPGothic"/>
              </a:rPr>
              <a:t>テクノロジーは揃っています。ユースケースも200以上。
足りないのは、届ける仕組みです。</a:t>
            </a:r>
          </a:p>
        </p:txBody>
      </p:sp>
      <p:sp>
        <p:nvSpPr>
          <p:cNvPr id="6" name="Rectangle 5"/>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40580"/>
            <a:ext cx="2743200" cy="320040"/>
          </a:xfrm>
          <a:prstGeom prst="rect">
            <a:avLst/>
          </a:prstGeom>
          <a:noFill/>
        </p:spPr>
        <p:txBody>
          <a:bodyPr wrap="square"/>
          <a:lstStyle/>
          <a:p>
            <a:pPr algn="l">
              <a:spcBef>
                <a:spcPts val="0"/>
              </a:spcBef>
              <a:spcAft>
                <a:spcPts val="0"/>
              </a:spcAft>
            </a:pPr>
            <a:r>
              <a:rPr sz="900" b="0">
                <a:solidFill>
                  <a:srgbClr val="94A3B8"/>
                </a:solidFill>
                <a:latin typeface="IPAPGothic"/>
              </a:rPr>
              <a:t>Universal Need株式会社</a:t>
            </a:r>
          </a:p>
        </p:txBody>
      </p:sp>
      <p:sp>
        <p:nvSpPr>
          <p:cNvPr id="8" name="TextBox 7"/>
          <p:cNvSpPr txBox="1"/>
          <p:nvPr/>
        </p:nvSpPr>
        <p:spPr>
          <a:xfrm>
            <a:off x="3657600" y="4640580"/>
            <a:ext cx="1828800" cy="320040"/>
          </a:xfrm>
          <a:prstGeom prst="rect">
            <a:avLst/>
          </a:prstGeom>
          <a:noFill/>
        </p:spPr>
        <p:txBody>
          <a:bodyPr wrap="square"/>
          <a:lstStyle/>
          <a:p>
            <a:pPr algn="ctr">
              <a:spcBef>
                <a:spcPts val="0"/>
              </a:spcBef>
              <a:spcAft>
                <a:spcPts val="0"/>
              </a:spcAft>
            </a:pPr>
            <a:r>
              <a:rPr sz="900" b="0">
                <a:solidFill>
                  <a:srgbClr val="94A3B8"/>
                </a:solidFill>
                <a:latin typeface="IPAPGothic"/>
              </a:rPr>
              <a:t>TokiStorage</a:t>
            </a:r>
          </a:p>
        </p:txBody>
      </p:sp>
      <p:sp>
        <p:nvSpPr>
          <p:cNvPr id="9" name="TextBox 8"/>
          <p:cNvSpPr txBox="1"/>
          <p:nvPr/>
        </p:nvSpPr>
        <p:spPr>
          <a:xfrm>
            <a:off x="7315200" y="4640580"/>
            <a:ext cx="1371600" cy="320040"/>
          </a:xfrm>
          <a:prstGeom prst="rect">
            <a:avLst/>
          </a:prstGeom>
          <a:noFill/>
        </p:spPr>
        <p:txBody>
          <a:bodyPr wrap="square"/>
          <a:lstStyle/>
          <a:p>
            <a:pPr algn="r">
              <a:spcBef>
                <a:spcPts val="0"/>
              </a:spcBef>
              <a:spcAft>
                <a:spcPts val="0"/>
              </a:spcAft>
            </a:pPr>
            <a:r>
              <a:rPr sz="90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IPAPGothic"/>
              </a:rPr>
              <a:t>AIとビッグテックの台頭は、コンサルティングファームに「コモディティ化しない問い」の獲得を迫っている</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IPAPGothic"/>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spcBef>
                <a:spcPts val="0"/>
              </a:spcBef>
              <a:spcAft>
                <a:spcPts val="0"/>
              </a:spcAft>
            </a:pPr>
            <a:r>
              <a:rPr sz="1500" b="1">
                <a:solidFill>
                  <a:srgbClr val="2563EB"/>
                </a:solidFill>
                <a:latin typeface="IPAPGothic"/>
              </a:rPr>
              <a:t>01</a:t>
            </a:r>
          </a:p>
        </p:txBody>
      </p:sp>
      <p:sp>
        <p:nvSpPr>
          <p:cNvPr id="7" name="TextBox 6"/>
          <p:cNvSpPr txBox="1"/>
          <p:nvPr/>
        </p:nvSpPr>
        <p:spPr>
          <a:xfrm>
            <a:off x="594360" y="1463040"/>
            <a:ext cx="2331720" cy="274320"/>
          </a:xfrm>
          <a:prstGeom prst="rect">
            <a:avLst/>
          </a:prstGeom>
          <a:noFill/>
        </p:spPr>
        <p:txBody>
          <a:bodyPr wrap="square"/>
          <a:lstStyle/>
          <a:p>
            <a:pPr algn="l">
              <a:spcBef>
                <a:spcPts val="0"/>
              </a:spcBef>
              <a:spcAft>
                <a:spcPts val="0"/>
              </a:spcAft>
            </a:pPr>
            <a:r>
              <a:rPr sz="1200" b="1">
                <a:solidFill>
                  <a:srgbClr val="1E293B"/>
                </a:solidFill>
                <a:latin typeface="IPAPGothic"/>
              </a:rPr>
              <a:t>AIがコンサルティングを変える</a:t>
            </a:r>
          </a:p>
        </p:txBody>
      </p:sp>
      <p:sp>
        <p:nvSpPr>
          <p:cNvPr id="8" name="TextBox 7"/>
          <p:cNvSpPr txBox="1"/>
          <p:nvPr/>
        </p:nvSpPr>
        <p:spPr>
          <a:xfrm>
            <a:off x="594360" y="1764792"/>
            <a:ext cx="2331720" cy="2578608"/>
          </a:xfrm>
          <a:prstGeom prst="rect">
            <a:avLst/>
          </a:prstGeom>
          <a:noFill/>
        </p:spPr>
        <p:txBody>
          <a:bodyPr wrap="square"/>
          <a:lstStyle/>
          <a:p>
            <a:pPr algn="l">
              <a:spcBef>
                <a:spcPts val="0"/>
              </a:spcBef>
              <a:spcAft>
                <a:spcPts val="0"/>
              </a:spcAft>
            </a:pPr>
            <a:r>
              <a:rPr sz="1200" b="0">
                <a:solidFill>
                  <a:srgbClr val="475569"/>
                </a:solidFill>
                <a:latin typeface="IPAPGothic"/>
              </a:rPr>
              <a:t>生成AIにより、調査・分析・戦略フレームワーク作成は急速にコモディティ化。知識の非対称性に依存した価値提供モデルは構造的転換期にある。</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spcBef>
                <a:spcPts val="0"/>
              </a:spcBef>
              <a:spcAft>
                <a:spcPts val="0"/>
              </a:spcAft>
            </a:pPr>
            <a:r>
              <a:rPr sz="1500" b="1">
                <a:solidFill>
                  <a:srgbClr val="2563EB"/>
                </a:solidFill>
                <a:latin typeface="IPAPGothic"/>
              </a:rPr>
              <a:t>02</a:t>
            </a:r>
          </a:p>
        </p:txBody>
      </p:sp>
      <p:sp>
        <p:nvSpPr>
          <p:cNvPr id="11" name="TextBox 10"/>
          <p:cNvSpPr txBox="1"/>
          <p:nvPr/>
        </p:nvSpPr>
        <p:spPr>
          <a:xfrm>
            <a:off x="3410712" y="1463040"/>
            <a:ext cx="2331720" cy="274320"/>
          </a:xfrm>
          <a:prstGeom prst="rect">
            <a:avLst/>
          </a:prstGeom>
          <a:noFill/>
        </p:spPr>
        <p:txBody>
          <a:bodyPr wrap="square"/>
          <a:lstStyle/>
          <a:p>
            <a:pPr algn="l">
              <a:spcBef>
                <a:spcPts val="0"/>
              </a:spcBef>
              <a:spcAft>
                <a:spcPts val="0"/>
              </a:spcAft>
            </a:pPr>
            <a:r>
              <a:rPr sz="1200" b="1">
                <a:solidFill>
                  <a:srgbClr val="1E293B"/>
                </a:solidFill>
                <a:latin typeface="IPAPGothic"/>
              </a:rPr>
              <a:t>差別化の源泉が縮小</a:t>
            </a:r>
          </a:p>
        </p:txBody>
      </p:sp>
      <p:sp>
        <p:nvSpPr>
          <p:cNvPr id="12" name="TextBox 11"/>
          <p:cNvSpPr txBox="1"/>
          <p:nvPr/>
        </p:nvSpPr>
        <p:spPr>
          <a:xfrm>
            <a:off x="3410712" y="1764792"/>
            <a:ext cx="2331720" cy="2578608"/>
          </a:xfrm>
          <a:prstGeom prst="rect">
            <a:avLst/>
          </a:prstGeom>
          <a:noFill/>
        </p:spPr>
        <p:txBody>
          <a:bodyPr wrap="square"/>
          <a:lstStyle/>
          <a:p>
            <a:pPr algn="l">
              <a:spcBef>
                <a:spcPts val="0"/>
              </a:spcBef>
              <a:spcAft>
                <a:spcPts val="0"/>
              </a:spcAft>
            </a:pPr>
            <a:r>
              <a:rPr sz="1200" b="0">
                <a:solidFill>
                  <a:srgbClr val="475569"/>
                </a:solidFill>
                <a:latin typeface="IPAPGothic"/>
              </a:rPr>
              <a:t>業界分析、ベンチマーク、DX——どのファームも同じツールで同じ提案に収束しがち。「何を提案するか」ではなく「どんな問いを立てるか」が差別化の核になる。</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spcBef>
                <a:spcPts val="0"/>
              </a:spcBef>
              <a:spcAft>
                <a:spcPts val="0"/>
              </a:spcAft>
            </a:pPr>
            <a:r>
              <a:rPr sz="1500" b="1">
                <a:solidFill>
                  <a:srgbClr val="2563EB"/>
                </a:solidFill>
                <a:latin typeface="IPAPGothic"/>
              </a:rPr>
              <a:t>03</a:t>
            </a:r>
          </a:p>
        </p:txBody>
      </p:sp>
      <p:sp>
        <p:nvSpPr>
          <p:cNvPr id="15" name="TextBox 14"/>
          <p:cNvSpPr txBox="1"/>
          <p:nvPr/>
        </p:nvSpPr>
        <p:spPr>
          <a:xfrm>
            <a:off x="6227064" y="1463040"/>
            <a:ext cx="2331720" cy="274320"/>
          </a:xfrm>
          <a:prstGeom prst="rect">
            <a:avLst/>
          </a:prstGeom>
          <a:noFill/>
        </p:spPr>
        <p:txBody>
          <a:bodyPr wrap="square"/>
          <a:lstStyle/>
          <a:p>
            <a:pPr algn="l">
              <a:spcBef>
                <a:spcPts val="0"/>
              </a:spcBef>
              <a:spcAft>
                <a:spcPts val="0"/>
              </a:spcAft>
            </a:pPr>
            <a:r>
              <a:rPr sz="1200" b="1">
                <a:solidFill>
                  <a:srgbClr val="1E293B"/>
                </a:solidFill>
                <a:latin typeface="IPAPGothic"/>
              </a:rPr>
              <a:t>「千年の問い」という機会</a:t>
            </a:r>
          </a:p>
        </p:txBody>
      </p:sp>
      <p:sp>
        <p:nvSpPr>
          <p:cNvPr id="16" name="TextBox 15"/>
          <p:cNvSpPr txBox="1"/>
          <p:nvPr/>
        </p:nvSpPr>
        <p:spPr>
          <a:xfrm>
            <a:off x="6227064" y="1764792"/>
            <a:ext cx="2331720" cy="2578608"/>
          </a:xfrm>
          <a:prstGeom prst="rect">
            <a:avLst/>
          </a:prstGeom>
          <a:noFill/>
        </p:spPr>
        <p:txBody>
          <a:bodyPr wrap="square"/>
          <a:lstStyle/>
          <a:p>
            <a:pPr algn="l">
              <a:spcBef>
                <a:spcPts val="0"/>
              </a:spcBef>
              <a:spcAft>
                <a:spcPts val="0"/>
              </a:spcAft>
            </a:pPr>
            <a:r>
              <a:rPr sz="1200" b="0">
                <a:solidFill>
                  <a:srgbClr val="475569"/>
                </a:solidFill>
                <a:latin typeface="IPAPGothic"/>
              </a:rPr>
              <a:t>「100年後に何を残すか」——AIが生成できない問い。クライアントの本質的ニーズに触れ、構造的にコモディティ化しない提案の起点になる。</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IPAPGothic"/>
              </a:rPr>
              <a:t>TokiStorage — 協業提案</a:t>
            </a:r>
          </a:p>
        </p:txBody>
      </p:sp>
      <p:sp>
        <p:nvSpPr>
          <p:cNvPr id="19" name="TextBox 18"/>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20" name="TextBox 19"/>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IPAPGothic"/>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spcBef>
                <a:spcPts val="0"/>
              </a:spcBef>
              <a:spcAft>
                <a:spcPts val="0"/>
              </a:spcAft>
            </a:pPr>
            <a:r>
              <a:rPr sz="1200" b="1">
                <a:solidFill>
                  <a:srgbClr val="2563EB"/>
                </a:solidFill>
                <a:latin typeface="IPAPGothic"/>
              </a:rPr>
              <a:t>Q</a:t>
            </a:r>
          </a:p>
        </p:txBody>
      </p:sp>
      <p:sp>
        <p:nvSpPr>
          <p:cNvPr id="8" name="TextBox 7"/>
          <p:cNvSpPr txBox="1"/>
          <p:nvPr/>
        </p:nvSpPr>
        <p:spPr>
          <a:xfrm>
            <a:off x="1051560" y="1188720"/>
            <a:ext cx="3200400" cy="411480"/>
          </a:xfrm>
          <a:prstGeom prst="rect">
            <a:avLst/>
          </a:prstGeom>
          <a:noFill/>
        </p:spPr>
        <p:txBody>
          <a:bodyPr wrap="square"/>
          <a:lstStyle/>
          <a:p>
            <a:pPr algn="l">
              <a:spcBef>
                <a:spcPts val="0"/>
              </a:spcBef>
              <a:spcAft>
                <a:spcPts val="0"/>
              </a:spcAft>
            </a:pPr>
            <a:r>
              <a:rPr sz="1200" b="1">
                <a:solidFill>
                  <a:srgbClr val="1E293B"/>
                </a:solidFill>
                <a:latin typeface="IPAPGothic"/>
              </a:rPr>
              <a:t>石英ガラス記録技術</a:t>
            </a:r>
          </a:p>
        </p:txBody>
      </p:sp>
      <p:sp>
        <p:nvSpPr>
          <p:cNvPr id="9" name="TextBox 8"/>
          <p:cNvSpPr txBox="1"/>
          <p:nvPr/>
        </p:nvSpPr>
        <p:spPr>
          <a:xfrm>
            <a:off x="1051560" y="1618488"/>
            <a:ext cx="3200400" cy="1124712"/>
          </a:xfrm>
          <a:prstGeom prst="rect">
            <a:avLst/>
          </a:prstGeom>
          <a:noFill/>
        </p:spPr>
        <p:txBody>
          <a:bodyPr wrap="square"/>
          <a:lstStyle/>
          <a:p>
            <a:pPr algn="l">
              <a:spcBef>
                <a:spcPts val="0"/>
              </a:spcBef>
              <a:spcAft>
                <a:spcPts val="0"/>
              </a:spcAft>
            </a:pPr>
            <a:r>
              <a:rPr sz="1100" b="0">
                <a:solidFill>
                  <a:srgbClr val="475569"/>
                </a:solidFill>
                <a:latin typeface="IPAPGothic"/>
              </a:rPr>
              <a:t>金属蒸着によるQRコード刻印。サーバー・電源ゼロ。SLA 100%、1000年保証。スマホカメラで読取可能。</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spcBef>
                <a:spcPts val="0"/>
              </a:spcBef>
              <a:spcAft>
                <a:spcPts val="0"/>
              </a:spcAft>
            </a:pPr>
            <a:r>
              <a:rPr sz="1200" b="1">
                <a:solidFill>
                  <a:srgbClr val="2563EB"/>
                </a:solidFill>
                <a:latin typeface="IPAPGothic"/>
              </a:rPr>
              <a:t>U</a:t>
            </a:r>
          </a:p>
        </p:txBody>
      </p:sp>
      <p:sp>
        <p:nvSpPr>
          <p:cNvPr id="13" name="TextBox 12"/>
          <p:cNvSpPr txBox="1"/>
          <p:nvPr/>
        </p:nvSpPr>
        <p:spPr>
          <a:xfrm>
            <a:off x="5212080" y="1188720"/>
            <a:ext cx="3200400" cy="411480"/>
          </a:xfrm>
          <a:prstGeom prst="rect">
            <a:avLst/>
          </a:prstGeom>
          <a:noFill/>
        </p:spPr>
        <p:txBody>
          <a:bodyPr wrap="square"/>
          <a:lstStyle/>
          <a:p>
            <a:pPr algn="l">
              <a:spcBef>
                <a:spcPts val="0"/>
              </a:spcBef>
              <a:spcAft>
                <a:spcPts val="0"/>
              </a:spcAft>
            </a:pPr>
            <a:r>
              <a:rPr sz="1200" b="1">
                <a:solidFill>
                  <a:srgbClr val="1E293B"/>
                </a:solidFill>
                <a:latin typeface="IPAPGothic"/>
              </a:rPr>
              <a:t>200+ ユースケース（業界別整理済み）</a:t>
            </a:r>
          </a:p>
        </p:txBody>
      </p:sp>
      <p:sp>
        <p:nvSpPr>
          <p:cNvPr id="14" name="TextBox 13"/>
          <p:cNvSpPr txBox="1"/>
          <p:nvPr/>
        </p:nvSpPr>
        <p:spPr>
          <a:xfrm>
            <a:off x="5212080" y="1618488"/>
            <a:ext cx="3200400" cy="1124712"/>
          </a:xfrm>
          <a:prstGeom prst="rect">
            <a:avLst/>
          </a:prstGeom>
          <a:noFill/>
        </p:spPr>
        <p:txBody>
          <a:bodyPr wrap="square"/>
          <a:lstStyle/>
          <a:p>
            <a:pPr algn="l">
              <a:spcBef>
                <a:spcPts val="0"/>
              </a:spcBef>
              <a:spcAft>
                <a:spcPts val="0"/>
              </a:spcAft>
            </a:pPr>
            <a:r>
              <a:rPr sz="1100" b="0">
                <a:solidFill>
                  <a:srgbClr val="475569"/>
                </a:solidFill>
                <a:latin typeface="IPAPGothic"/>
              </a:rPr>
              <a:t>終活・婚礼・寺社・学校・企業・自治体・NGO・ホテル・航空。提案書にそのまま転用可能な粒度。</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spcBef>
                <a:spcPts val="0"/>
              </a:spcBef>
              <a:spcAft>
                <a:spcPts val="0"/>
              </a:spcAft>
            </a:pPr>
            <a:r>
              <a:rPr sz="1200" b="1">
                <a:solidFill>
                  <a:srgbClr val="2563EB"/>
                </a:solidFill>
                <a:latin typeface="IPAPGothic"/>
              </a:rPr>
              <a:t>E</a:t>
            </a:r>
          </a:p>
        </p:txBody>
      </p:sp>
      <p:sp>
        <p:nvSpPr>
          <p:cNvPr id="18" name="TextBox 17"/>
          <p:cNvSpPr txBox="1"/>
          <p:nvPr/>
        </p:nvSpPr>
        <p:spPr>
          <a:xfrm>
            <a:off x="1051560" y="3108960"/>
            <a:ext cx="3200400" cy="411480"/>
          </a:xfrm>
          <a:prstGeom prst="rect">
            <a:avLst/>
          </a:prstGeom>
          <a:noFill/>
        </p:spPr>
        <p:txBody>
          <a:bodyPr wrap="square"/>
          <a:lstStyle/>
          <a:p>
            <a:pPr algn="l">
              <a:spcBef>
                <a:spcPts val="0"/>
              </a:spcBef>
              <a:spcAft>
                <a:spcPts val="0"/>
              </a:spcAft>
            </a:pPr>
            <a:r>
              <a:rPr sz="1200" b="1">
                <a:solidFill>
                  <a:srgbClr val="1E293B"/>
                </a:solidFill>
                <a:latin typeface="IPAPGothic"/>
              </a:rPr>
              <a:t>70+ 思想エッセイ（9領域）</a:t>
            </a:r>
          </a:p>
        </p:txBody>
      </p:sp>
      <p:sp>
        <p:nvSpPr>
          <p:cNvPr id="19" name="TextBox 18"/>
          <p:cNvSpPr txBox="1"/>
          <p:nvPr/>
        </p:nvSpPr>
        <p:spPr>
          <a:xfrm>
            <a:off x="1051560" y="3538728"/>
            <a:ext cx="3200400" cy="1124712"/>
          </a:xfrm>
          <a:prstGeom prst="rect">
            <a:avLst/>
          </a:prstGeom>
          <a:noFill/>
        </p:spPr>
        <p:txBody>
          <a:bodyPr wrap="square"/>
          <a:lstStyle/>
          <a:p>
            <a:pPr algn="l">
              <a:spcBef>
                <a:spcPts val="0"/>
              </a:spcBef>
              <a:spcAft>
                <a:spcPts val="0"/>
              </a:spcAft>
            </a:pPr>
            <a:r>
              <a:rPr sz="1100" b="0">
                <a:solidFill>
                  <a:srgbClr val="475569"/>
                </a:solidFill>
                <a:latin typeface="IPAPGothic"/>
              </a:rPr>
              <a:t>存在証明を心理学・宗教・経済・AI・宇宙まで展開。知的コンテンツとしてクライアント提案に活用可能。</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spcBef>
                <a:spcPts val="0"/>
              </a:spcBef>
              <a:spcAft>
                <a:spcPts val="0"/>
              </a:spcAft>
            </a:pPr>
            <a:r>
              <a:rPr sz="1200" b="1">
                <a:solidFill>
                  <a:srgbClr val="2563EB"/>
                </a:solidFill>
                <a:latin typeface="IPAPGothic"/>
              </a:rPr>
              <a:t>A</a:t>
            </a:r>
          </a:p>
        </p:txBody>
      </p:sp>
      <p:sp>
        <p:nvSpPr>
          <p:cNvPr id="23" name="TextBox 22"/>
          <p:cNvSpPr txBox="1"/>
          <p:nvPr/>
        </p:nvSpPr>
        <p:spPr>
          <a:xfrm>
            <a:off x="5212080" y="3108960"/>
            <a:ext cx="3200400" cy="411480"/>
          </a:xfrm>
          <a:prstGeom prst="rect">
            <a:avLst/>
          </a:prstGeom>
          <a:noFill/>
        </p:spPr>
        <p:txBody>
          <a:bodyPr wrap="square"/>
          <a:lstStyle/>
          <a:p>
            <a:pPr algn="l">
              <a:spcBef>
                <a:spcPts val="0"/>
              </a:spcBef>
              <a:spcAft>
                <a:spcPts val="0"/>
              </a:spcAft>
            </a:pPr>
            <a:r>
              <a:rPr sz="1200" b="1">
                <a:solidFill>
                  <a:srgbClr val="1E293B"/>
                </a:solidFill>
                <a:latin typeface="IPAPGothic"/>
              </a:rPr>
              <a:t>Pearl Soap + アンバサダー網</a:t>
            </a:r>
          </a:p>
        </p:txBody>
      </p:sp>
      <p:sp>
        <p:nvSpPr>
          <p:cNvPr id="24" name="TextBox 23"/>
          <p:cNvSpPr txBox="1"/>
          <p:nvPr/>
        </p:nvSpPr>
        <p:spPr>
          <a:xfrm>
            <a:off x="5212080" y="3538728"/>
            <a:ext cx="3200400" cy="1124712"/>
          </a:xfrm>
          <a:prstGeom prst="rect">
            <a:avLst/>
          </a:prstGeom>
          <a:noFill/>
        </p:spPr>
        <p:txBody>
          <a:bodyPr wrap="square"/>
          <a:lstStyle/>
          <a:p>
            <a:pPr algn="l">
              <a:spcBef>
                <a:spcPts val="0"/>
              </a:spcBef>
              <a:spcAft>
                <a:spcPts val="0"/>
              </a:spcAft>
            </a:pPr>
            <a:r>
              <a:rPr sz="1100" b="0">
                <a:solidFill>
                  <a:srgbClr val="475569"/>
                </a:solidFill>
                <a:latin typeface="IPAPGothic"/>
              </a:rPr>
              <a:t>贈与経済の実践。全国にワークショップ展開可能な分散型運動体。エンドユーザーとの接点を提供。</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IPAPGothic"/>
              </a:rPr>
              <a:t>TokiStorage — 協業提案</a:t>
            </a:r>
          </a:p>
        </p:txBody>
      </p:sp>
      <p:sp>
        <p:nvSpPr>
          <p:cNvPr id="27" name="TextBox 26"/>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28" name="TextBox 27"/>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IPAPGothic"/>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spcBef>
                <a:spcPts val="0"/>
              </a:spcBef>
              <a:spcAft>
                <a:spcPts val="0"/>
              </a:spcAft>
            </a:pPr>
            <a:r>
              <a:rPr sz="900" b="1">
                <a:solidFill>
                  <a:srgbClr val="FFFFFF"/>
                </a:solidFill>
                <a:latin typeface="IPAPGothic"/>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spcBef>
                <a:spcPts val="0"/>
              </a:spcBef>
              <a:spcAft>
                <a:spcPts val="0"/>
              </a:spcAft>
            </a:pPr>
            <a:r>
              <a:rPr sz="900" b="1">
                <a:solidFill>
                  <a:srgbClr val="FFFFFF"/>
                </a:solidFill>
                <a:latin typeface="IPAPGothic"/>
              </a:rPr>
              <a:t>デジタルサービス（日常の記録）</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spcBef>
                <a:spcPts val="0"/>
              </a:spcBef>
              <a:spcAft>
                <a:spcPts val="0"/>
              </a:spcAft>
            </a:pPr>
            <a:r>
              <a:rPr sz="900" b="1">
                <a:solidFill>
                  <a:srgbClr val="FFFFFF"/>
                </a:solidFill>
                <a:latin typeface="IPAPGothic"/>
              </a:rPr>
              <a:t>TokiStorage（千年の記録）</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IPAPGothic"/>
              </a:rPr>
              <a:t>記録媒体</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IPAPGothic"/>
              </a:rPr>
              <a:t>クラウド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IPAPGothic"/>
              </a:rPr>
              <a:t>石英ガラス（物理）</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IPAPGothic"/>
              </a:rPr>
              <a:t>得意な時間軸</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IPAPGothic"/>
              </a:rPr>
              <a:t>今〜数十年（日常利用に最適）</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IPAPGothic"/>
              </a:rPr>
              <a:t>100年〜1000年（永続保存に特化）</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IPAPGothic"/>
              </a:rPr>
              <a:t>インフラ</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IPAPGothic"/>
              </a:rPr>
              <a:t>サーバー・電源（利便性の源泉）</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IPAPGothic"/>
              </a:rPr>
              <a:t>不要（GitHub分散管理）</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IPAPGothic"/>
              </a:rPr>
              <a:t>読み取り</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IPAPGothic"/>
              </a:rPr>
              <a:t>専用アプリ / ログイン</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IPAPGothic"/>
              </a:rPr>
              <a:t>スマホのカメラだけ</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IPAPGothic"/>
              </a:rPr>
              <a:t>文化的厚み</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IPAPGothic"/>
              </a:rPr>
              <a:t>機能・利便性が価値の中心</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IPAPGothic"/>
              </a:rPr>
              <a:t>70+ エッセイ＋贈与経済の実践</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IPAPGothic"/>
              </a:rPr>
              <a:t>社会的接点</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IPAPGothic"/>
              </a:rPr>
              <a:t>プラットフォームとしての貢献</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IPAPGothic"/>
              </a:rPr>
              <a:t>SoulCarrier（無縁墓・遺骨送還活動）</a:t>
            </a:r>
          </a:p>
        </p:txBody>
      </p:sp>
      <p:sp>
        <p:nvSpPr>
          <p:cNvPr id="47" name="Rectangle 4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IPAPGothic"/>
              </a:rPr>
              <a:t>TokiStorage — 協業提案</a:t>
            </a:r>
          </a:p>
        </p:txBody>
      </p:sp>
      <p:sp>
        <p:nvSpPr>
          <p:cNvPr id="49" name="TextBox 48"/>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50" name="TextBox 49"/>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IPAPGothic"/>
              </a:rPr>
              <a:t>PARTNERSHIP MODELS</a:t>
            </a:r>
          </a:p>
        </p:txBody>
      </p:sp>
      <p:sp>
        <p:nvSpPr>
          <p:cNvPr id="5" name="Rectangle 4"/>
          <p:cNvSpPr/>
          <p:nvPr/>
        </p:nvSpPr>
        <p:spPr>
          <a:xfrm>
            <a:off x="457200" y="1051560"/>
            <a:ext cx="7863840" cy="9601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61288"/>
            <a:ext cx="777240"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61288"/>
            <a:ext cx="777240" cy="731520"/>
          </a:xfrm>
          <a:prstGeom prst="rect">
            <a:avLst/>
          </a:prstGeom>
          <a:noFill/>
        </p:spPr>
        <p:txBody>
          <a:bodyPr wrap="square" anchor="ctr"/>
          <a:lstStyle/>
          <a:p>
            <a:pPr algn="ctr">
              <a:spcBef>
                <a:spcPts val="0"/>
              </a:spcBef>
              <a:spcAft>
                <a:spcPts val="0"/>
              </a:spcAft>
            </a:pPr>
            <a:r>
              <a:rPr sz="800" b="1">
                <a:solidFill>
                  <a:srgbClr val="FFFFFF"/>
                </a:solidFill>
                <a:latin typeface="IPAPGothic"/>
              </a:rPr>
              <a:t>紹介
モデル</a:t>
            </a:r>
          </a:p>
        </p:txBody>
      </p:sp>
      <p:sp>
        <p:nvSpPr>
          <p:cNvPr id="8" name="TextBox 7"/>
          <p:cNvSpPr txBox="1"/>
          <p:nvPr/>
        </p:nvSpPr>
        <p:spPr>
          <a:xfrm>
            <a:off x="1508760" y="1124712"/>
            <a:ext cx="6675120" cy="256032"/>
          </a:xfrm>
          <a:prstGeom prst="rect">
            <a:avLst/>
          </a:prstGeom>
          <a:noFill/>
        </p:spPr>
        <p:txBody>
          <a:bodyPr wrap="square"/>
          <a:lstStyle/>
          <a:p>
            <a:pPr algn="l">
              <a:spcBef>
                <a:spcPts val="0"/>
              </a:spcBef>
              <a:spcAft>
                <a:spcPts val="0"/>
              </a:spcAft>
            </a:pPr>
            <a:r>
              <a:rPr sz="1100" b="1">
                <a:solidFill>
                  <a:srgbClr val="1E293B"/>
                </a:solidFill>
                <a:latin typeface="IPAPGothic"/>
              </a:rPr>
              <a:t>A. クライアント紹介型パートナーシップ</a:t>
            </a:r>
          </a:p>
        </p:txBody>
      </p:sp>
      <p:sp>
        <p:nvSpPr>
          <p:cNvPr id="9" name="TextBox 8"/>
          <p:cNvSpPr txBox="1"/>
          <p:nvPr/>
        </p:nvSpPr>
        <p:spPr>
          <a:xfrm>
            <a:off x="1508760" y="1380744"/>
            <a:ext cx="6675120" cy="320040"/>
          </a:xfrm>
          <a:prstGeom prst="rect">
            <a:avLst/>
          </a:prstGeom>
          <a:noFill/>
        </p:spPr>
        <p:txBody>
          <a:bodyPr wrap="square"/>
          <a:lstStyle/>
          <a:p>
            <a:pPr algn="l">
              <a:spcBef>
                <a:spcPts val="0"/>
              </a:spcBef>
              <a:spcAft>
                <a:spcPts val="0"/>
              </a:spcAft>
            </a:pPr>
            <a:r>
              <a:rPr sz="100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508760" y="1691640"/>
            <a:ext cx="6675120" cy="228600"/>
          </a:xfrm>
          <a:prstGeom prst="rect">
            <a:avLst/>
          </a:prstGeom>
          <a:noFill/>
        </p:spPr>
        <p:txBody>
          <a:bodyPr wrap="square"/>
          <a:lstStyle/>
          <a:p>
            <a:pPr algn="l">
              <a:spcBef>
                <a:spcPts val="0"/>
              </a:spcBef>
              <a:spcAft>
                <a:spcPts val="0"/>
              </a:spcAft>
            </a:pPr>
            <a:r>
              <a:rPr sz="9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2121408"/>
            <a:ext cx="7863840" cy="9601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231136"/>
            <a:ext cx="777240" cy="73152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31136"/>
            <a:ext cx="777240" cy="731520"/>
          </a:xfrm>
          <a:prstGeom prst="rect">
            <a:avLst/>
          </a:prstGeom>
          <a:noFill/>
        </p:spPr>
        <p:txBody>
          <a:bodyPr wrap="square" anchor="ctr"/>
          <a:lstStyle/>
          <a:p>
            <a:pPr algn="ctr">
              <a:spcBef>
                <a:spcPts val="0"/>
              </a:spcBef>
              <a:spcAft>
                <a:spcPts val="0"/>
              </a:spcAft>
            </a:pPr>
            <a:r>
              <a:rPr sz="800" b="1">
                <a:solidFill>
                  <a:srgbClr val="FFFFFF"/>
                </a:solidFill>
                <a:latin typeface="IPAPGothic"/>
              </a:rPr>
              <a:t>共同
提案</a:t>
            </a:r>
          </a:p>
        </p:txBody>
      </p:sp>
      <p:sp>
        <p:nvSpPr>
          <p:cNvPr id="14" name="TextBox 13"/>
          <p:cNvSpPr txBox="1"/>
          <p:nvPr/>
        </p:nvSpPr>
        <p:spPr>
          <a:xfrm>
            <a:off x="1508760" y="2194560"/>
            <a:ext cx="6675120" cy="256032"/>
          </a:xfrm>
          <a:prstGeom prst="rect">
            <a:avLst/>
          </a:prstGeom>
          <a:noFill/>
        </p:spPr>
        <p:txBody>
          <a:bodyPr wrap="square"/>
          <a:lstStyle/>
          <a:p>
            <a:pPr algn="l">
              <a:spcBef>
                <a:spcPts val="0"/>
              </a:spcBef>
              <a:spcAft>
                <a:spcPts val="0"/>
              </a:spcAft>
            </a:pPr>
            <a:r>
              <a:rPr sz="1100" b="1">
                <a:solidFill>
                  <a:srgbClr val="1E293B"/>
                </a:solidFill>
                <a:latin typeface="IPAPGothic"/>
              </a:rPr>
              <a:t>B. 共同ソリューション型</a:t>
            </a:r>
          </a:p>
        </p:txBody>
      </p:sp>
      <p:sp>
        <p:nvSpPr>
          <p:cNvPr id="15" name="TextBox 14"/>
          <p:cNvSpPr txBox="1"/>
          <p:nvPr/>
        </p:nvSpPr>
        <p:spPr>
          <a:xfrm>
            <a:off x="1508760" y="2450592"/>
            <a:ext cx="6675120" cy="320040"/>
          </a:xfrm>
          <a:prstGeom prst="rect">
            <a:avLst/>
          </a:prstGeom>
          <a:noFill/>
        </p:spPr>
        <p:txBody>
          <a:bodyPr wrap="square"/>
          <a:lstStyle/>
          <a:p>
            <a:pPr algn="l">
              <a:spcBef>
                <a:spcPts val="0"/>
              </a:spcBef>
              <a:spcAft>
                <a:spcPts val="0"/>
              </a:spcAft>
            </a:pPr>
            <a:r>
              <a:rPr sz="100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508760" y="2761488"/>
            <a:ext cx="6675120" cy="228600"/>
          </a:xfrm>
          <a:prstGeom prst="rect">
            <a:avLst/>
          </a:prstGeom>
          <a:noFill/>
        </p:spPr>
        <p:txBody>
          <a:bodyPr wrap="square"/>
          <a:lstStyle/>
          <a:p>
            <a:pPr algn="l">
              <a:spcBef>
                <a:spcPts val="0"/>
              </a:spcBef>
              <a:spcAft>
                <a:spcPts val="0"/>
              </a:spcAft>
            </a:pPr>
            <a:r>
              <a:rPr sz="9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3191256"/>
            <a:ext cx="7863840" cy="9601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300984"/>
            <a:ext cx="777240" cy="73152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300984"/>
            <a:ext cx="777240" cy="731520"/>
          </a:xfrm>
          <a:prstGeom prst="rect">
            <a:avLst/>
          </a:prstGeom>
          <a:noFill/>
        </p:spPr>
        <p:txBody>
          <a:bodyPr wrap="square" anchor="ctr"/>
          <a:lstStyle/>
          <a:p>
            <a:pPr algn="ctr">
              <a:spcBef>
                <a:spcPts val="0"/>
              </a:spcBef>
              <a:spcAft>
                <a:spcPts val="0"/>
              </a:spcAft>
            </a:pPr>
            <a:r>
              <a:rPr sz="800" b="1">
                <a:solidFill>
                  <a:srgbClr val="FFFFFF"/>
                </a:solidFill>
                <a:latin typeface="IPAPGothic"/>
              </a:rPr>
              <a:t>事業
共創</a:t>
            </a:r>
          </a:p>
        </p:txBody>
      </p:sp>
      <p:sp>
        <p:nvSpPr>
          <p:cNvPr id="20" name="TextBox 19"/>
          <p:cNvSpPr txBox="1"/>
          <p:nvPr/>
        </p:nvSpPr>
        <p:spPr>
          <a:xfrm>
            <a:off x="1508760" y="3264408"/>
            <a:ext cx="6675120" cy="256032"/>
          </a:xfrm>
          <a:prstGeom prst="rect">
            <a:avLst/>
          </a:prstGeom>
          <a:noFill/>
        </p:spPr>
        <p:txBody>
          <a:bodyPr wrap="square"/>
          <a:lstStyle/>
          <a:p>
            <a:pPr algn="l">
              <a:spcBef>
                <a:spcPts val="0"/>
              </a:spcBef>
              <a:spcAft>
                <a:spcPts val="0"/>
              </a:spcAft>
            </a:pPr>
            <a:r>
              <a:rPr sz="1100" b="1">
                <a:solidFill>
                  <a:srgbClr val="1E293B"/>
                </a:solidFill>
                <a:latin typeface="IPAPGothic"/>
              </a:rPr>
              <a:t>C. 新規事業共創型</a:t>
            </a:r>
          </a:p>
        </p:txBody>
      </p:sp>
      <p:sp>
        <p:nvSpPr>
          <p:cNvPr id="21" name="TextBox 20"/>
          <p:cNvSpPr txBox="1"/>
          <p:nvPr/>
        </p:nvSpPr>
        <p:spPr>
          <a:xfrm>
            <a:off x="1508760" y="3520440"/>
            <a:ext cx="6675120" cy="320040"/>
          </a:xfrm>
          <a:prstGeom prst="rect">
            <a:avLst/>
          </a:prstGeom>
          <a:noFill/>
        </p:spPr>
        <p:txBody>
          <a:bodyPr wrap="square"/>
          <a:lstStyle/>
          <a:p>
            <a:pPr algn="l">
              <a:spcBef>
                <a:spcPts val="0"/>
              </a:spcBef>
              <a:spcAft>
                <a:spcPts val="0"/>
              </a:spcAft>
            </a:pPr>
            <a:r>
              <a:rPr sz="100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508760" y="3831336"/>
            <a:ext cx="6675120" cy="228600"/>
          </a:xfrm>
          <a:prstGeom prst="rect">
            <a:avLst/>
          </a:prstGeom>
          <a:noFill/>
        </p:spPr>
        <p:txBody>
          <a:bodyPr wrap="square"/>
          <a:lstStyle/>
          <a:p>
            <a:pPr algn="l">
              <a:spcBef>
                <a:spcPts val="0"/>
              </a:spcBef>
              <a:spcAft>
                <a:spcPts val="0"/>
              </a:spcAft>
            </a:pPr>
            <a:r>
              <a:rPr sz="900" b="0">
                <a:solidFill>
                  <a:srgbClr val="2563EB"/>
                </a:solidFill>
                <a:latin typeface="IPAPGothic"/>
              </a:rPr>
              <a:t>例：メモリアルテック新規事業 / 企業向け永続アーカイブサービス</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IPAPGothic"/>
              </a:rPr>
              <a:t>TokiStorage — 協業提案</a:t>
            </a:r>
          </a:p>
        </p:txBody>
      </p:sp>
      <p:sp>
        <p:nvSpPr>
          <p:cNvPr id="25" name="TextBox 24"/>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26" name="TextBox 25"/>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IPAPGothic"/>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spcBef>
                <a:spcPts val="0"/>
              </a:spcBef>
              <a:spcAft>
                <a:spcPts val="0"/>
              </a:spcAft>
            </a:pPr>
            <a:r>
              <a:rPr sz="1100" b="1">
                <a:solidFill>
                  <a:srgbClr val="16A34A"/>
                </a:solidFill>
                <a:latin typeface="IPAPGothic"/>
              </a:rPr>
              <a:t>クライアント</a:t>
            </a:r>
          </a:p>
        </p:txBody>
      </p:sp>
      <p:sp>
        <p:nvSpPr>
          <p:cNvPr id="7" name="TextBox 6"/>
          <p:cNvSpPr txBox="1"/>
          <p:nvPr/>
        </p:nvSpPr>
        <p:spPr>
          <a:xfrm>
            <a:off x="868680" y="1463040"/>
            <a:ext cx="2103120" cy="521208"/>
          </a:xfrm>
          <a:prstGeom prst="rect">
            <a:avLst/>
          </a:prstGeom>
          <a:noFill/>
        </p:spPr>
        <p:txBody>
          <a:bodyPr wrap="square"/>
          <a:lstStyle/>
          <a:p>
            <a:pPr algn="ctr">
              <a:spcBef>
                <a:spcPts val="0"/>
              </a:spcBef>
              <a:spcAft>
                <a:spcPts val="0"/>
              </a:spcAft>
            </a:pPr>
            <a:r>
              <a:rPr sz="1000" b="0">
                <a:solidFill>
                  <a:srgbClr val="475569"/>
                </a:solidFill>
                <a:latin typeface="IPAPGothic"/>
              </a:rPr>
              <a:t>千年の存在証明
社会的意義の実感</a:t>
            </a:r>
          </a:p>
        </p:txBody>
      </p:sp>
      <p:sp>
        <p:nvSpPr>
          <p:cNvPr id="8" name="TextBox 7"/>
          <p:cNvSpPr txBox="1"/>
          <p:nvPr/>
        </p:nvSpPr>
        <p:spPr>
          <a:xfrm>
            <a:off x="3108960" y="1371600"/>
            <a:ext cx="274320" cy="320040"/>
          </a:xfrm>
          <a:prstGeom prst="rect">
            <a:avLst/>
          </a:prstGeom>
          <a:noFill/>
        </p:spPr>
        <p:txBody>
          <a:bodyPr wrap="square"/>
          <a:lstStyle/>
          <a:p>
            <a:pPr algn="ctr">
              <a:spcBef>
                <a:spcPts val="0"/>
              </a:spcBef>
              <a:spcAft>
                <a:spcPts val="0"/>
              </a:spcAft>
            </a:pPr>
            <a:r>
              <a:rPr sz="1800" b="0">
                <a:solidFill>
                  <a:srgbClr val="94A3B8"/>
                </a:solidFill>
                <a:latin typeface="IPAPGothic"/>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spcBef>
                <a:spcPts val="0"/>
              </a:spcBef>
              <a:spcAft>
                <a:spcPts val="0"/>
              </a:spcAft>
            </a:pPr>
            <a:r>
              <a:rPr sz="1100" b="1">
                <a:solidFill>
                  <a:srgbClr val="2563EB"/>
                </a:solidFill>
                <a:latin typeface="IPAPGothic"/>
              </a:rPr>
              <a:t>パートナー（貴社）</a:t>
            </a:r>
          </a:p>
        </p:txBody>
      </p:sp>
      <p:sp>
        <p:nvSpPr>
          <p:cNvPr id="11" name="TextBox 10"/>
          <p:cNvSpPr txBox="1"/>
          <p:nvPr/>
        </p:nvSpPr>
        <p:spPr>
          <a:xfrm>
            <a:off x="3520440" y="1463040"/>
            <a:ext cx="2103120" cy="521208"/>
          </a:xfrm>
          <a:prstGeom prst="rect">
            <a:avLst/>
          </a:prstGeom>
          <a:noFill/>
        </p:spPr>
        <p:txBody>
          <a:bodyPr wrap="square"/>
          <a:lstStyle/>
          <a:p>
            <a:pPr algn="ctr">
              <a:spcBef>
                <a:spcPts val="0"/>
              </a:spcBef>
              <a:spcAft>
                <a:spcPts val="0"/>
              </a:spcAft>
            </a:pPr>
            <a:r>
              <a:rPr sz="1000" b="0">
                <a:solidFill>
                  <a:srgbClr val="475569"/>
                </a:solidFill>
                <a:latin typeface="IPAPGothic"/>
              </a:rPr>
              <a:t>紹介フィー or 共同提案収益
クライアントLTV向上</a:t>
            </a:r>
          </a:p>
        </p:txBody>
      </p:sp>
      <p:sp>
        <p:nvSpPr>
          <p:cNvPr id="12" name="TextBox 11"/>
          <p:cNvSpPr txBox="1"/>
          <p:nvPr/>
        </p:nvSpPr>
        <p:spPr>
          <a:xfrm>
            <a:off x="5760720" y="1371600"/>
            <a:ext cx="274320" cy="320040"/>
          </a:xfrm>
          <a:prstGeom prst="rect">
            <a:avLst/>
          </a:prstGeom>
          <a:noFill/>
        </p:spPr>
        <p:txBody>
          <a:bodyPr wrap="square"/>
          <a:lstStyle/>
          <a:p>
            <a:pPr algn="ctr">
              <a:spcBef>
                <a:spcPts val="0"/>
              </a:spcBef>
              <a:spcAft>
                <a:spcPts val="0"/>
              </a:spcAft>
            </a:pPr>
            <a:r>
              <a:rPr sz="1800" b="0">
                <a:solidFill>
                  <a:srgbClr val="94A3B8"/>
                </a:solidFill>
                <a:latin typeface="IPAPGothic"/>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spcBef>
                <a:spcPts val="0"/>
              </a:spcBef>
              <a:spcAft>
                <a:spcPts val="0"/>
              </a:spcAft>
            </a:pPr>
            <a:r>
              <a:rPr sz="1100" b="1">
                <a:solidFill>
                  <a:srgbClr val="92400E"/>
                </a:solidFill>
                <a:latin typeface="IPAPGothic"/>
              </a:rPr>
              <a:t>TokiStorage</a:t>
            </a:r>
          </a:p>
        </p:txBody>
      </p:sp>
      <p:sp>
        <p:nvSpPr>
          <p:cNvPr id="15" name="TextBox 14"/>
          <p:cNvSpPr txBox="1"/>
          <p:nvPr/>
        </p:nvSpPr>
        <p:spPr>
          <a:xfrm>
            <a:off x="6172200" y="1463040"/>
            <a:ext cx="2103120" cy="521208"/>
          </a:xfrm>
          <a:prstGeom prst="rect">
            <a:avLst/>
          </a:prstGeom>
          <a:noFill/>
        </p:spPr>
        <p:txBody>
          <a:bodyPr wrap="square"/>
          <a:lstStyle/>
          <a:p>
            <a:pPr algn="ctr">
              <a:spcBef>
                <a:spcPts val="0"/>
              </a:spcBef>
              <a:spcAft>
                <a:spcPts val="0"/>
              </a:spcAft>
            </a:pPr>
            <a:r>
              <a:rPr sz="1000" b="0">
                <a:solidFill>
                  <a:srgbClr val="475569"/>
                </a:solidFill>
                <a:latin typeface="IPAPGothic"/>
              </a:rPr>
              <a:t>技術・思想・納品
収益の一部→SoulCarrier活動</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spcBef>
                <a:spcPts val="0"/>
              </a:spcBef>
              <a:spcAft>
                <a:spcPts val="0"/>
              </a:spcAft>
            </a:pPr>
            <a:r>
              <a:rPr sz="1100" b="1">
                <a:solidFill>
                  <a:srgbClr val="1E293B"/>
                </a:solidFill>
                <a:latin typeface="IPAPGothic"/>
              </a:rPr>
              <a:t>初期パートナー優遇</a:t>
            </a:r>
          </a:p>
        </p:txBody>
      </p:sp>
      <p:sp>
        <p:nvSpPr>
          <p:cNvPr id="19" name="TextBox 18"/>
          <p:cNvSpPr txBox="1"/>
          <p:nvPr/>
        </p:nvSpPr>
        <p:spPr>
          <a:xfrm>
            <a:off x="685800" y="2788920"/>
            <a:ext cx="7543800" cy="594360"/>
          </a:xfrm>
          <a:prstGeom prst="rect">
            <a:avLst/>
          </a:prstGeom>
          <a:noFill/>
        </p:spPr>
        <p:txBody>
          <a:bodyPr wrap="square"/>
          <a:lstStyle/>
          <a:p>
            <a:pPr algn="l">
              <a:spcBef>
                <a:spcPts val="0"/>
              </a:spcBef>
              <a:spcAft>
                <a:spcPts val="0"/>
              </a:spcAft>
            </a:pPr>
            <a:r>
              <a:rPr sz="100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IPAPGothic"/>
              </a:rPr>
              <a:t>CLIENT FIT</a:t>
            </a:r>
          </a:p>
        </p:txBody>
      </p:sp>
      <p:sp>
        <p:nvSpPr>
          <p:cNvPr id="5" name="TextBox 4"/>
          <p:cNvSpPr txBox="1"/>
          <p:nvPr/>
        </p:nvSpPr>
        <p:spPr>
          <a:xfrm>
            <a:off x="457200" y="1005840"/>
            <a:ext cx="7315200" cy="274320"/>
          </a:xfrm>
          <a:prstGeom prst="rect">
            <a:avLst/>
          </a:prstGeom>
          <a:noFill/>
        </p:spPr>
        <p:txBody>
          <a:bodyPr wrap="square"/>
          <a:lstStyle/>
          <a:p>
            <a:pPr algn="l">
              <a:spcBef>
                <a:spcPts val="0"/>
              </a:spcBef>
              <a:spcAft>
                <a:spcPts val="0"/>
              </a:spcAft>
            </a:pPr>
            <a:r>
              <a:rPr sz="11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IPAPGothic"/>
              </a:rPr>
              <a:t>M</a:t>
            </a:r>
          </a:p>
        </p:txBody>
      </p:sp>
      <p:sp>
        <p:nvSpPr>
          <p:cNvPr id="9" name="TextBox 8"/>
          <p:cNvSpPr txBox="1"/>
          <p:nvPr/>
        </p:nvSpPr>
        <p:spPr>
          <a:xfrm>
            <a:off x="530352" y="1883664"/>
            <a:ext cx="2459736" cy="237744"/>
          </a:xfrm>
          <a:prstGeom prst="rect">
            <a:avLst/>
          </a:prstGeom>
          <a:noFill/>
        </p:spPr>
        <p:txBody>
          <a:bodyPr wrap="square"/>
          <a:lstStyle/>
          <a:p>
            <a:pPr algn="ctr">
              <a:spcBef>
                <a:spcPts val="0"/>
              </a:spcBef>
              <a:spcAft>
                <a:spcPts val="0"/>
              </a:spcAft>
            </a:pPr>
            <a:r>
              <a:rPr sz="1100" b="1">
                <a:solidFill>
                  <a:srgbClr val="1E293B"/>
                </a:solidFill>
                <a:latin typeface="IPAPGothic"/>
              </a:rPr>
              <a:t>葬祭・メモリアル</a:t>
            </a:r>
          </a:p>
        </p:txBody>
      </p:sp>
      <p:sp>
        <p:nvSpPr>
          <p:cNvPr id="10" name="TextBox 9"/>
          <p:cNvSpPr txBox="1"/>
          <p:nvPr/>
        </p:nvSpPr>
        <p:spPr>
          <a:xfrm>
            <a:off x="530352" y="2121408"/>
            <a:ext cx="2459736" cy="594360"/>
          </a:xfrm>
          <a:prstGeom prst="rect">
            <a:avLst/>
          </a:prstGeom>
          <a:noFill/>
        </p:spPr>
        <p:txBody>
          <a:bodyPr wrap="square"/>
          <a:lstStyle/>
          <a:p>
            <a:pPr algn="ctr">
              <a:spcBef>
                <a:spcPts val="0"/>
              </a:spcBef>
              <a:spcAft>
                <a:spcPts val="0"/>
              </a:spcAft>
            </a:pPr>
            <a:r>
              <a:rPr sz="900" b="0">
                <a:solidFill>
                  <a:srgbClr val="475569"/>
                </a:solidFill>
                <a:latin typeface="IPAPGothic"/>
              </a:rPr>
              <a:t>墓じまい代替、永代供養デジタル化、遺族向け新サービス</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IPAPGothic"/>
              </a:rPr>
              <a:t>H</a:t>
            </a:r>
          </a:p>
        </p:txBody>
      </p:sp>
      <p:sp>
        <p:nvSpPr>
          <p:cNvPr id="14" name="TextBox 13"/>
          <p:cNvSpPr txBox="1"/>
          <p:nvPr/>
        </p:nvSpPr>
        <p:spPr>
          <a:xfrm>
            <a:off x="3346704" y="1883664"/>
            <a:ext cx="2459736" cy="237744"/>
          </a:xfrm>
          <a:prstGeom prst="rect">
            <a:avLst/>
          </a:prstGeom>
          <a:noFill/>
        </p:spPr>
        <p:txBody>
          <a:bodyPr wrap="square"/>
          <a:lstStyle/>
          <a:p>
            <a:pPr algn="ctr">
              <a:spcBef>
                <a:spcPts val="0"/>
              </a:spcBef>
              <a:spcAft>
                <a:spcPts val="0"/>
              </a:spcAft>
            </a:pPr>
            <a:r>
              <a:rPr sz="1100" b="1">
                <a:solidFill>
                  <a:srgbClr val="1E293B"/>
                </a:solidFill>
                <a:latin typeface="IPAPGothic"/>
              </a:rPr>
              <a:t>ホスピタリティ</a:t>
            </a:r>
          </a:p>
        </p:txBody>
      </p:sp>
      <p:sp>
        <p:nvSpPr>
          <p:cNvPr id="15" name="TextBox 14"/>
          <p:cNvSpPr txBox="1"/>
          <p:nvPr/>
        </p:nvSpPr>
        <p:spPr>
          <a:xfrm>
            <a:off x="3346704" y="2121408"/>
            <a:ext cx="2459736" cy="594360"/>
          </a:xfrm>
          <a:prstGeom prst="rect">
            <a:avLst/>
          </a:prstGeom>
          <a:noFill/>
        </p:spPr>
        <p:txBody>
          <a:bodyPr wrap="square"/>
          <a:lstStyle/>
          <a:p>
            <a:pPr algn="ctr">
              <a:spcBef>
                <a:spcPts val="0"/>
              </a:spcBef>
              <a:spcAft>
                <a:spcPts val="0"/>
              </a:spcAft>
            </a:pPr>
            <a:r>
              <a:rPr sz="900" b="0">
                <a:solidFill>
                  <a:srgbClr val="475569"/>
                </a:solidFill>
                <a:latin typeface="IPAPGothic"/>
              </a:rPr>
              <a:t>ウェディング記録、ホテルCX、記念日サービス</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IPAPGothic"/>
              </a:rPr>
              <a:t>R</a:t>
            </a:r>
          </a:p>
        </p:txBody>
      </p:sp>
      <p:sp>
        <p:nvSpPr>
          <p:cNvPr id="19" name="TextBox 18"/>
          <p:cNvSpPr txBox="1"/>
          <p:nvPr/>
        </p:nvSpPr>
        <p:spPr>
          <a:xfrm>
            <a:off x="6163056" y="1883664"/>
            <a:ext cx="2459736" cy="237744"/>
          </a:xfrm>
          <a:prstGeom prst="rect">
            <a:avLst/>
          </a:prstGeom>
          <a:noFill/>
        </p:spPr>
        <p:txBody>
          <a:bodyPr wrap="square"/>
          <a:lstStyle/>
          <a:p>
            <a:pPr algn="ctr">
              <a:spcBef>
                <a:spcPts val="0"/>
              </a:spcBef>
              <a:spcAft>
                <a:spcPts val="0"/>
              </a:spcAft>
            </a:pPr>
            <a:r>
              <a:rPr sz="1100" b="1">
                <a:solidFill>
                  <a:srgbClr val="1E293B"/>
                </a:solidFill>
                <a:latin typeface="IPAPGothic"/>
              </a:rPr>
              <a:t>宗教法人・寺社</a:t>
            </a:r>
          </a:p>
        </p:txBody>
      </p:sp>
      <p:sp>
        <p:nvSpPr>
          <p:cNvPr id="20" name="TextBox 19"/>
          <p:cNvSpPr txBox="1"/>
          <p:nvPr/>
        </p:nvSpPr>
        <p:spPr>
          <a:xfrm>
            <a:off x="6163056" y="2121408"/>
            <a:ext cx="2459736" cy="594360"/>
          </a:xfrm>
          <a:prstGeom prst="rect">
            <a:avLst/>
          </a:prstGeom>
          <a:noFill/>
        </p:spPr>
        <p:txBody>
          <a:bodyPr wrap="square"/>
          <a:lstStyle/>
          <a:p>
            <a:pPr algn="ctr">
              <a:spcBef>
                <a:spcPts val="0"/>
              </a:spcBef>
              <a:spcAft>
                <a:spcPts val="0"/>
              </a:spcAft>
            </a:pPr>
            <a:r>
              <a:rPr sz="900" b="0">
                <a:solidFill>
                  <a:srgbClr val="475569"/>
                </a:solidFill>
                <a:latin typeface="IPAPGothic"/>
              </a:rPr>
              <a:t>檀家記録の永続化、参拝体験DX、文化財保存</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IPAPGothic"/>
              </a:rPr>
              <a:t>G</a:t>
            </a:r>
          </a:p>
        </p:txBody>
      </p:sp>
      <p:sp>
        <p:nvSpPr>
          <p:cNvPr id="24" name="TextBox 23"/>
          <p:cNvSpPr txBox="1"/>
          <p:nvPr/>
        </p:nvSpPr>
        <p:spPr>
          <a:xfrm>
            <a:off x="530352" y="3438144"/>
            <a:ext cx="2459736" cy="237744"/>
          </a:xfrm>
          <a:prstGeom prst="rect">
            <a:avLst/>
          </a:prstGeom>
          <a:noFill/>
        </p:spPr>
        <p:txBody>
          <a:bodyPr wrap="square"/>
          <a:lstStyle/>
          <a:p>
            <a:pPr algn="ctr">
              <a:spcBef>
                <a:spcPts val="0"/>
              </a:spcBef>
              <a:spcAft>
                <a:spcPts val="0"/>
              </a:spcAft>
            </a:pPr>
            <a:r>
              <a:rPr sz="1100" b="1">
                <a:solidFill>
                  <a:srgbClr val="1E293B"/>
                </a:solidFill>
                <a:latin typeface="IPAPGothic"/>
              </a:rPr>
              <a:t>自治体・教育</a:t>
            </a:r>
          </a:p>
        </p:txBody>
      </p:sp>
      <p:sp>
        <p:nvSpPr>
          <p:cNvPr id="25" name="TextBox 24"/>
          <p:cNvSpPr txBox="1"/>
          <p:nvPr/>
        </p:nvSpPr>
        <p:spPr>
          <a:xfrm>
            <a:off x="530352" y="3675888"/>
            <a:ext cx="2459736" cy="594360"/>
          </a:xfrm>
          <a:prstGeom prst="rect">
            <a:avLst/>
          </a:prstGeom>
          <a:noFill/>
        </p:spPr>
        <p:txBody>
          <a:bodyPr wrap="square"/>
          <a:lstStyle/>
          <a:p>
            <a:pPr algn="ctr">
              <a:spcBef>
                <a:spcPts val="0"/>
              </a:spcBef>
              <a:spcAft>
                <a:spcPts val="0"/>
              </a:spcAft>
            </a:pPr>
            <a:r>
              <a:rPr sz="900" b="0">
                <a:solidFill>
                  <a:srgbClr val="475569"/>
                </a:solidFill>
                <a:latin typeface="IPAPGothic"/>
              </a:rPr>
              <a:t>地域アーカイブ、災害記録、学校史の永続化</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IPAPGothic"/>
              </a:rPr>
              <a:t>E</a:t>
            </a:r>
          </a:p>
        </p:txBody>
      </p:sp>
      <p:sp>
        <p:nvSpPr>
          <p:cNvPr id="29" name="TextBox 28"/>
          <p:cNvSpPr txBox="1"/>
          <p:nvPr/>
        </p:nvSpPr>
        <p:spPr>
          <a:xfrm>
            <a:off x="3346704" y="3438144"/>
            <a:ext cx="2459736" cy="237744"/>
          </a:xfrm>
          <a:prstGeom prst="rect">
            <a:avLst/>
          </a:prstGeom>
          <a:noFill/>
        </p:spPr>
        <p:txBody>
          <a:bodyPr wrap="square"/>
          <a:lstStyle/>
          <a:p>
            <a:pPr algn="ctr">
              <a:spcBef>
                <a:spcPts val="0"/>
              </a:spcBef>
              <a:spcAft>
                <a:spcPts val="0"/>
              </a:spcAft>
            </a:pPr>
            <a:r>
              <a:rPr sz="1100" b="1">
                <a:solidFill>
                  <a:srgbClr val="1E293B"/>
                </a:solidFill>
                <a:latin typeface="IPAPGothic"/>
              </a:rPr>
              <a:t>ESG・サステナビリティ</a:t>
            </a:r>
          </a:p>
        </p:txBody>
      </p:sp>
      <p:sp>
        <p:nvSpPr>
          <p:cNvPr id="30" name="TextBox 29"/>
          <p:cNvSpPr txBox="1"/>
          <p:nvPr/>
        </p:nvSpPr>
        <p:spPr>
          <a:xfrm>
            <a:off x="3346704" y="3675888"/>
            <a:ext cx="2459736" cy="594360"/>
          </a:xfrm>
          <a:prstGeom prst="rect">
            <a:avLst/>
          </a:prstGeom>
          <a:noFill/>
        </p:spPr>
        <p:txBody>
          <a:bodyPr wrap="square"/>
          <a:lstStyle/>
          <a:p>
            <a:pPr algn="ctr">
              <a:spcBef>
                <a:spcPts val="0"/>
              </a:spcBef>
              <a:spcAft>
                <a:spcPts val="0"/>
              </a:spcAft>
            </a:pPr>
            <a:r>
              <a:rPr sz="900" b="0">
                <a:solidFill>
                  <a:srgbClr val="475569"/>
                </a:solidFill>
                <a:latin typeface="IPAPGothic"/>
              </a:rPr>
              <a:t>1000年設計の企業理念記録、SDGs実績の永続証明</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IPAPGothic"/>
              </a:rPr>
              <a:t>F</a:t>
            </a:r>
          </a:p>
        </p:txBody>
      </p:sp>
      <p:sp>
        <p:nvSpPr>
          <p:cNvPr id="34" name="TextBox 33"/>
          <p:cNvSpPr txBox="1"/>
          <p:nvPr/>
        </p:nvSpPr>
        <p:spPr>
          <a:xfrm>
            <a:off x="6163056" y="3438144"/>
            <a:ext cx="2459736" cy="237744"/>
          </a:xfrm>
          <a:prstGeom prst="rect">
            <a:avLst/>
          </a:prstGeom>
          <a:noFill/>
        </p:spPr>
        <p:txBody>
          <a:bodyPr wrap="square"/>
          <a:lstStyle/>
          <a:p>
            <a:pPr algn="ctr">
              <a:spcBef>
                <a:spcPts val="0"/>
              </a:spcBef>
              <a:spcAft>
                <a:spcPts val="0"/>
              </a:spcAft>
            </a:pPr>
            <a:r>
              <a:rPr sz="1100" b="1">
                <a:solidFill>
                  <a:srgbClr val="1E293B"/>
                </a:solidFill>
                <a:latin typeface="IPAPGothic"/>
              </a:rPr>
              <a:t>金融・保険</a:t>
            </a:r>
          </a:p>
        </p:txBody>
      </p:sp>
      <p:sp>
        <p:nvSpPr>
          <p:cNvPr id="35" name="TextBox 34"/>
          <p:cNvSpPr txBox="1"/>
          <p:nvPr/>
        </p:nvSpPr>
        <p:spPr>
          <a:xfrm>
            <a:off x="6163056" y="3675888"/>
            <a:ext cx="2459736" cy="594360"/>
          </a:xfrm>
          <a:prstGeom prst="rect">
            <a:avLst/>
          </a:prstGeom>
          <a:noFill/>
        </p:spPr>
        <p:txBody>
          <a:bodyPr wrap="square"/>
          <a:lstStyle/>
          <a:p>
            <a:pPr algn="ctr">
              <a:spcBef>
                <a:spcPts val="0"/>
              </a:spcBef>
              <a:spcAft>
                <a:spcPts val="0"/>
              </a:spcAft>
            </a:pPr>
            <a:r>
              <a:rPr sz="900" b="0">
                <a:solidFill>
                  <a:srgbClr val="475569"/>
                </a:solidFill>
                <a:latin typeface="IPAPGothic"/>
              </a:rPr>
              <a:t>終活関連サービス連携、デジタル遺品対策</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IPAPGothic"/>
              </a:rPr>
              <a:t>TokiStorage — 協業提案</a:t>
            </a:r>
          </a:p>
        </p:txBody>
      </p:sp>
      <p:sp>
        <p:nvSpPr>
          <p:cNvPr id="38" name="TextBox 37"/>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39" name="TextBox 38"/>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IPAPGothic"/>
              </a:rPr>
              <a:t>TEAM &amp; INDEPENDENCE</a:t>
            </a:r>
          </a:p>
        </p:txBody>
      </p:sp>
      <p:pic>
        <p:nvPicPr>
          <p:cNvPr id="5" name="Picture 4" descr="_deck_profile.png"/>
          <p:cNvPicPr>
            <a:picLocks noChangeAspect="1"/>
          </p:cNvPicPr>
          <p:nvPr/>
        </p:nvPicPr>
        <p:blipFill>
          <a:blip r:embed="rId2"/>
          <a:stretch>
            <a:fillRect/>
          </a:stretch>
        </p:blipFill>
        <p:spPr>
          <a:xfrm>
            <a:off x="457200" y="1051560"/>
            <a:ext cx="731520" cy="731520"/>
          </a:xfrm>
          <a:prstGeom prst="rect">
            <a:avLst/>
          </a:prstGeom>
        </p:spPr>
      </p:pic>
      <p:sp>
        <p:nvSpPr>
          <p:cNvPr id="6" name="TextBox 5"/>
          <p:cNvSpPr txBox="1"/>
          <p:nvPr/>
        </p:nvSpPr>
        <p:spPr>
          <a:xfrm>
            <a:off x="1325880" y="1051560"/>
            <a:ext cx="6400800" cy="320040"/>
          </a:xfrm>
          <a:prstGeom prst="rect">
            <a:avLst/>
          </a:prstGeom>
          <a:noFill/>
        </p:spPr>
        <p:txBody>
          <a:bodyPr wrap="square"/>
          <a:lstStyle/>
          <a:p>
            <a:pPr algn="l">
              <a:spcBef>
                <a:spcPts val="0"/>
              </a:spcBef>
              <a:spcAft>
                <a:spcPts val="0"/>
              </a:spcAft>
            </a:pPr>
            <a:r>
              <a:rPr sz="1200" b="1">
                <a:solidFill>
                  <a:srgbClr val="1E293B"/>
                </a:solidFill>
                <a:latin typeface="IPAPGothic"/>
              </a:rPr>
              <a:t>佐藤卓也 — Universal Need株式会社 代表</a:t>
            </a:r>
          </a:p>
        </p:txBody>
      </p:sp>
      <p:sp>
        <p:nvSpPr>
          <p:cNvPr id="7" name="TextBox 6"/>
          <p:cNvSpPr txBox="1"/>
          <p:nvPr/>
        </p:nvSpPr>
        <p:spPr>
          <a:xfrm>
            <a:off x="1325880" y="1389888"/>
            <a:ext cx="6858000" cy="868680"/>
          </a:xfrm>
          <a:prstGeom prst="rect">
            <a:avLst/>
          </a:prstGeom>
          <a:noFill/>
        </p:spPr>
        <p:txBody>
          <a:bodyPr wrap="square"/>
          <a:lstStyle/>
          <a:p>
            <a:pPr algn="l">
              <a:spcBef>
                <a:spcPts val="0"/>
              </a:spcBef>
              <a:spcAft>
                <a:spcPts val="0"/>
              </a:spcAft>
            </a:pPr>
            <a:r>
              <a:rPr sz="100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8" name="Rectangle 7"/>
          <p:cNvSpPr/>
          <p:nvPr/>
        </p:nvSpPr>
        <p:spPr>
          <a:xfrm>
            <a:off x="1325880" y="2286000"/>
            <a:ext cx="98298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2286000"/>
            <a:ext cx="800100" cy="274320"/>
          </a:xfrm>
          <a:prstGeom prst="rect">
            <a:avLst/>
          </a:prstGeom>
          <a:noFill/>
        </p:spPr>
        <p:txBody>
          <a:bodyPr wrap="square" anchor="ctr"/>
          <a:lstStyle/>
          <a:p>
            <a:pPr algn="ctr">
              <a:spcBef>
                <a:spcPts val="0"/>
              </a:spcBef>
              <a:spcAft>
                <a:spcPts val="0"/>
              </a:spcAft>
            </a:pPr>
            <a:r>
              <a:rPr sz="750" b="0">
                <a:solidFill>
                  <a:srgbClr val="475569"/>
                </a:solidFill>
                <a:latin typeface="IPAPGothic"/>
              </a:rPr>
              <a:t>元Big4ファーム</a:t>
            </a:r>
          </a:p>
        </p:txBody>
      </p:sp>
      <p:sp>
        <p:nvSpPr>
          <p:cNvPr id="10" name="Rectangle 9"/>
          <p:cNvSpPr/>
          <p:nvPr/>
        </p:nvSpPr>
        <p:spPr>
          <a:xfrm>
            <a:off x="2400300" y="2286000"/>
            <a:ext cx="146304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91740" y="2286000"/>
            <a:ext cx="1280160" cy="274320"/>
          </a:xfrm>
          <a:prstGeom prst="rect">
            <a:avLst/>
          </a:prstGeom>
          <a:noFill/>
        </p:spPr>
        <p:txBody>
          <a:bodyPr wrap="square" anchor="ctr"/>
          <a:lstStyle/>
          <a:p>
            <a:pPr algn="ctr">
              <a:spcBef>
                <a:spcPts val="0"/>
              </a:spcBef>
              <a:spcAft>
                <a:spcPts val="0"/>
              </a:spcAft>
            </a:pPr>
            <a:r>
              <a:rPr sz="750" b="0">
                <a:solidFill>
                  <a:srgbClr val="475569"/>
                </a:solidFill>
                <a:latin typeface="IPAPGothic"/>
              </a:rPr>
              <a:t>半導体エンジニアリング 20年+</a:t>
            </a:r>
          </a:p>
        </p:txBody>
      </p:sp>
      <p:sp>
        <p:nvSpPr>
          <p:cNvPr id="12" name="Rectangle 11"/>
          <p:cNvSpPr/>
          <p:nvPr/>
        </p:nvSpPr>
        <p:spPr>
          <a:xfrm>
            <a:off x="3954780" y="2286000"/>
            <a:ext cx="112014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46220" y="2286000"/>
            <a:ext cx="937260" cy="274320"/>
          </a:xfrm>
          <a:prstGeom prst="rect">
            <a:avLst/>
          </a:prstGeom>
          <a:noFill/>
        </p:spPr>
        <p:txBody>
          <a:bodyPr wrap="square" anchor="ctr"/>
          <a:lstStyle/>
          <a:p>
            <a:pPr algn="ctr">
              <a:spcBef>
                <a:spcPts val="0"/>
              </a:spcBef>
              <a:spcAft>
                <a:spcPts val="0"/>
              </a:spcAft>
            </a:pPr>
            <a:r>
              <a:rPr sz="750" b="0">
                <a:solidFill>
                  <a:srgbClr val="475569"/>
                </a:solidFill>
                <a:latin typeface="IPAPGothic"/>
              </a:rPr>
              <a:t>自治会長（250世帯）</a:t>
            </a:r>
          </a:p>
        </p:txBody>
      </p:sp>
      <p:sp>
        <p:nvSpPr>
          <p:cNvPr id="14" name="Rectangle 13"/>
          <p:cNvSpPr/>
          <p:nvPr/>
        </p:nvSpPr>
        <p:spPr>
          <a:xfrm>
            <a:off x="5166360" y="2286000"/>
            <a:ext cx="125730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57800" y="2286000"/>
            <a:ext cx="1074420" cy="274320"/>
          </a:xfrm>
          <a:prstGeom prst="rect">
            <a:avLst/>
          </a:prstGeom>
          <a:noFill/>
        </p:spPr>
        <p:txBody>
          <a:bodyPr wrap="square" anchor="ctr"/>
          <a:lstStyle/>
          <a:p>
            <a:pPr algn="ctr">
              <a:spcBef>
                <a:spcPts val="0"/>
              </a:spcBef>
              <a:spcAft>
                <a:spcPts val="0"/>
              </a:spcAft>
            </a:pPr>
            <a:r>
              <a:rPr sz="750" b="0">
                <a:solidFill>
                  <a:srgbClr val="475569"/>
                </a:solidFill>
                <a:latin typeface="IPAPGothic"/>
              </a:rPr>
              <a:t>SoulCarrier主宰</a:t>
            </a:r>
          </a:p>
        </p:txBody>
      </p:sp>
      <p:sp>
        <p:nvSpPr>
          <p:cNvPr id="16" name="Rectangle 15"/>
          <p:cNvSpPr/>
          <p:nvPr/>
        </p:nvSpPr>
        <p:spPr>
          <a:xfrm>
            <a:off x="6515100" y="2286000"/>
            <a:ext cx="105156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06540" y="2286000"/>
            <a:ext cx="868680" cy="274320"/>
          </a:xfrm>
          <a:prstGeom prst="rect">
            <a:avLst/>
          </a:prstGeom>
          <a:noFill/>
        </p:spPr>
        <p:txBody>
          <a:bodyPr wrap="square" anchor="ctr"/>
          <a:lstStyle/>
          <a:p>
            <a:pPr algn="ctr">
              <a:spcBef>
                <a:spcPts val="0"/>
              </a:spcBef>
              <a:spcAft>
                <a:spcPts val="0"/>
              </a:spcAft>
            </a:pPr>
            <a:r>
              <a:rPr sz="750" b="0">
                <a:solidFill>
                  <a:srgbClr val="475569"/>
                </a:solidFill>
                <a:latin typeface="IPAPGothic"/>
              </a:rPr>
              <a:t>オフグリッド実証済み</a:t>
            </a:r>
          </a:p>
        </p:txBody>
      </p:sp>
      <p:sp>
        <p:nvSpPr>
          <p:cNvPr id="18" name="Rectangle 17"/>
          <p:cNvSpPr/>
          <p:nvPr/>
        </p:nvSpPr>
        <p:spPr>
          <a:xfrm>
            <a:off x="1325880" y="2606040"/>
            <a:ext cx="1325880" cy="274320"/>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17320" y="2606040"/>
            <a:ext cx="1143000" cy="274320"/>
          </a:xfrm>
          <a:prstGeom prst="rect">
            <a:avLst/>
          </a:prstGeom>
          <a:noFill/>
        </p:spPr>
        <p:txBody>
          <a:bodyPr wrap="square" anchor="ctr"/>
          <a:lstStyle/>
          <a:p>
            <a:pPr algn="ctr">
              <a:spcBef>
                <a:spcPts val="0"/>
              </a:spcBef>
              <a:spcAft>
                <a:spcPts val="0"/>
              </a:spcAft>
            </a:pPr>
            <a:r>
              <a:rPr sz="750" b="0">
                <a:solidFill>
                  <a:srgbClr val="475569"/>
                </a:solidFill>
                <a:latin typeface="IPAPGothic"/>
              </a:rPr>
              <a:t>佐渡島移住予定（2026春）</a:t>
            </a:r>
          </a:p>
        </p:txBody>
      </p:sp>
      <p:sp>
        <p:nvSpPr>
          <p:cNvPr id="20" name="Rectangle 19"/>
          <p:cNvSpPr/>
          <p:nvPr/>
        </p:nvSpPr>
        <p:spPr>
          <a:xfrm>
            <a:off x="457200" y="3044952"/>
            <a:ext cx="7863840" cy="77724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044952"/>
            <a:ext cx="54864"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118104"/>
            <a:ext cx="7543800" cy="237744"/>
          </a:xfrm>
          <a:prstGeom prst="rect">
            <a:avLst/>
          </a:prstGeom>
          <a:noFill/>
        </p:spPr>
        <p:txBody>
          <a:bodyPr wrap="square"/>
          <a:lstStyle/>
          <a:p>
            <a:pPr algn="l">
              <a:spcBef>
                <a:spcPts val="0"/>
              </a:spcBef>
              <a:spcAft>
                <a:spcPts val="0"/>
              </a:spcAft>
            </a:pPr>
            <a:r>
              <a:rPr sz="1000" b="1">
                <a:solidFill>
                  <a:srgbClr val="1E293B"/>
                </a:solidFill>
                <a:latin typeface="IPAPGothic"/>
              </a:rPr>
              <a:t>独立性（Independence）について</a:t>
            </a:r>
          </a:p>
        </p:txBody>
      </p:sp>
      <p:sp>
        <p:nvSpPr>
          <p:cNvPr id="23" name="TextBox 22"/>
          <p:cNvSpPr txBox="1"/>
          <p:nvPr/>
        </p:nvSpPr>
        <p:spPr>
          <a:xfrm>
            <a:off x="685800" y="3374136"/>
            <a:ext cx="7543800" cy="393192"/>
          </a:xfrm>
          <a:prstGeom prst="rect">
            <a:avLst/>
          </a:prstGeom>
          <a:noFill/>
        </p:spPr>
        <p:txBody>
          <a:bodyPr wrap="square"/>
          <a:lstStyle/>
          <a:p>
            <a:pPr algn="l">
              <a:spcBef>
                <a:spcPts val="0"/>
              </a:spcBef>
              <a:spcAft>
                <a:spcPts val="0"/>
              </a:spcAft>
            </a:pPr>
            <a:r>
              <a:rPr sz="100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spcBef>
                <a:spcPts val="0"/>
              </a:spcBef>
              <a:spcAft>
                <a:spcPts val="0"/>
              </a:spcAft>
            </a:pPr>
            <a:r>
              <a:rPr sz="1300" b="1">
                <a:solidFill>
                  <a:srgbClr val="FFFFFF"/>
                </a:solidFill>
                <a:latin typeface="IPAPGothic"/>
              </a:rPr>
              <a:t>Next Step</a:t>
            </a:r>
          </a:p>
        </p:txBody>
      </p:sp>
      <p:sp>
        <p:nvSpPr>
          <p:cNvPr id="4" name="TextBox 3"/>
          <p:cNvSpPr txBox="1"/>
          <p:nvPr/>
        </p:nvSpPr>
        <p:spPr>
          <a:xfrm>
            <a:off x="457200" y="777240"/>
            <a:ext cx="7315200" cy="457200"/>
          </a:xfrm>
          <a:prstGeom prst="rect">
            <a:avLst/>
          </a:prstGeom>
          <a:noFill/>
        </p:spPr>
        <p:txBody>
          <a:bodyPr wrap="square"/>
          <a:lstStyle/>
          <a:p>
            <a:pPr algn="l">
              <a:spcBef>
                <a:spcPts val="0"/>
              </a:spcBef>
              <a:spcAft>
                <a:spcPts val="0"/>
              </a:spcAft>
            </a:pPr>
            <a:r>
              <a:rPr sz="2000" b="1">
                <a:solidFill>
                  <a:srgbClr val="FFFFFF"/>
                </a:solidFill>
                <a:latin typeface="IPAPGothic"/>
              </a:rPr>
              <a:t>ご検討のステップ</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spcBef>
                <a:spcPts val="0"/>
              </a:spcBef>
              <a:spcAft>
                <a:spcPts val="0"/>
              </a:spcAft>
            </a:pPr>
            <a:r>
              <a:rPr sz="1000" b="1">
                <a:solidFill>
                  <a:srgbClr val="FFFFFF"/>
                </a:solidFill>
                <a:latin typeface="IPAPGothic"/>
              </a:rPr>
              <a:t>01</a:t>
            </a:r>
          </a:p>
        </p:txBody>
      </p:sp>
      <p:sp>
        <p:nvSpPr>
          <p:cNvPr id="7" name="TextBox 6"/>
          <p:cNvSpPr txBox="1"/>
          <p:nvPr/>
        </p:nvSpPr>
        <p:spPr>
          <a:xfrm>
            <a:off x="1280160" y="1517904"/>
            <a:ext cx="3657600" cy="274320"/>
          </a:xfrm>
          <a:prstGeom prst="rect">
            <a:avLst/>
          </a:prstGeom>
          <a:noFill/>
        </p:spPr>
        <p:txBody>
          <a:bodyPr wrap="square"/>
          <a:lstStyle/>
          <a:p>
            <a:pPr algn="l">
              <a:spcBef>
                <a:spcPts val="0"/>
              </a:spcBef>
              <a:spcAft>
                <a:spcPts val="0"/>
              </a:spcAft>
            </a:pPr>
            <a:r>
              <a:rPr sz="1200" b="1">
                <a:solidFill>
                  <a:srgbClr val="FFFFFF"/>
                </a:solidFill>
                <a:latin typeface="IPAPGothic"/>
              </a:rPr>
              <a:t>初回ミーティング（30分）</a:t>
            </a:r>
          </a:p>
        </p:txBody>
      </p:sp>
      <p:sp>
        <p:nvSpPr>
          <p:cNvPr id="8" name="TextBox 7"/>
          <p:cNvSpPr txBox="1"/>
          <p:nvPr/>
        </p:nvSpPr>
        <p:spPr>
          <a:xfrm>
            <a:off x="1280160" y="1773936"/>
            <a:ext cx="6400800" cy="237744"/>
          </a:xfrm>
          <a:prstGeom prst="rect">
            <a:avLst/>
          </a:prstGeom>
          <a:noFill/>
        </p:spPr>
        <p:txBody>
          <a:bodyPr wrap="square"/>
          <a:lstStyle/>
          <a:p>
            <a:pPr algn="l">
              <a:spcBef>
                <a:spcPts val="0"/>
              </a:spcBef>
              <a:spcAft>
                <a:spcPts val="0"/>
              </a:spcAft>
            </a:pPr>
            <a:r>
              <a:rPr sz="1000" b="0">
                <a:solidFill>
                  <a:srgbClr val="BBBBCC"/>
                </a:solidFill>
                <a:latin typeface="IPAPGothic"/>
              </a:rPr>
              <a:t>貴社クライアントの課題感・ポートフォリオを共有</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spcBef>
                <a:spcPts val="0"/>
              </a:spcBef>
              <a:spcAft>
                <a:spcPts val="0"/>
              </a:spcAft>
            </a:pPr>
            <a:r>
              <a:rPr sz="1000" b="1">
                <a:solidFill>
                  <a:srgbClr val="FFFFFF"/>
                </a:solidFill>
                <a:latin typeface="IPAPGothic"/>
              </a:rPr>
              <a:t>02</a:t>
            </a:r>
          </a:p>
        </p:txBody>
      </p:sp>
      <p:sp>
        <p:nvSpPr>
          <p:cNvPr id="11" name="TextBox 10"/>
          <p:cNvSpPr txBox="1"/>
          <p:nvPr/>
        </p:nvSpPr>
        <p:spPr>
          <a:xfrm>
            <a:off x="1280160" y="2176272"/>
            <a:ext cx="3657600" cy="274320"/>
          </a:xfrm>
          <a:prstGeom prst="rect">
            <a:avLst/>
          </a:prstGeom>
          <a:noFill/>
        </p:spPr>
        <p:txBody>
          <a:bodyPr wrap="square"/>
          <a:lstStyle/>
          <a:p>
            <a:pPr algn="l">
              <a:spcBef>
                <a:spcPts val="0"/>
              </a:spcBef>
              <a:spcAft>
                <a:spcPts val="0"/>
              </a:spcAft>
            </a:pPr>
            <a:r>
              <a:rPr sz="1200" b="1">
                <a:solidFill>
                  <a:srgbClr val="FFFFFF"/>
                </a:solidFill>
                <a:latin typeface="IPAPGothic"/>
              </a:rPr>
              <a:t>ユースケース選定</a:t>
            </a:r>
          </a:p>
        </p:txBody>
      </p:sp>
      <p:sp>
        <p:nvSpPr>
          <p:cNvPr id="12" name="TextBox 11"/>
          <p:cNvSpPr txBox="1"/>
          <p:nvPr/>
        </p:nvSpPr>
        <p:spPr>
          <a:xfrm>
            <a:off x="1280160" y="2432304"/>
            <a:ext cx="6400800" cy="237744"/>
          </a:xfrm>
          <a:prstGeom prst="rect">
            <a:avLst/>
          </a:prstGeom>
          <a:noFill/>
        </p:spPr>
        <p:txBody>
          <a:bodyPr wrap="square"/>
          <a:lstStyle/>
          <a:p>
            <a:pPr algn="l">
              <a:spcBef>
                <a:spcPts val="0"/>
              </a:spcBef>
              <a:spcAft>
                <a:spcPts val="0"/>
              </a:spcAft>
            </a:pPr>
            <a:r>
              <a:rPr sz="1000" b="0">
                <a:solidFill>
                  <a:srgbClr val="BBBBCC"/>
                </a:solidFill>
                <a:latin typeface="IPAPGothic"/>
              </a:rPr>
              <a:t>貴社クライアントとの親和性が高い領域を整理</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spcBef>
                <a:spcPts val="0"/>
              </a:spcBef>
              <a:spcAft>
                <a:spcPts val="0"/>
              </a:spcAft>
            </a:pPr>
            <a:r>
              <a:rPr sz="1000" b="1">
                <a:solidFill>
                  <a:srgbClr val="FFFFFF"/>
                </a:solidFill>
                <a:latin typeface="IPAPGothic"/>
              </a:rPr>
              <a:t>03</a:t>
            </a:r>
          </a:p>
        </p:txBody>
      </p:sp>
      <p:sp>
        <p:nvSpPr>
          <p:cNvPr id="15" name="TextBox 14"/>
          <p:cNvSpPr txBox="1"/>
          <p:nvPr/>
        </p:nvSpPr>
        <p:spPr>
          <a:xfrm>
            <a:off x="1280160" y="2834640"/>
            <a:ext cx="3657600" cy="274320"/>
          </a:xfrm>
          <a:prstGeom prst="rect">
            <a:avLst/>
          </a:prstGeom>
          <a:noFill/>
        </p:spPr>
        <p:txBody>
          <a:bodyPr wrap="square"/>
          <a:lstStyle/>
          <a:p>
            <a:pPr algn="l">
              <a:spcBef>
                <a:spcPts val="0"/>
              </a:spcBef>
              <a:spcAft>
                <a:spcPts val="0"/>
              </a:spcAft>
            </a:pPr>
            <a:r>
              <a:rPr sz="1200" b="1">
                <a:solidFill>
                  <a:srgbClr val="FFFFFF"/>
                </a:solidFill>
                <a:latin typeface="IPAPGothic"/>
              </a:rPr>
              <a:t>提携モデル設計</a:t>
            </a:r>
          </a:p>
        </p:txBody>
      </p:sp>
      <p:sp>
        <p:nvSpPr>
          <p:cNvPr id="16" name="TextBox 15"/>
          <p:cNvSpPr txBox="1"/>
          <p:nvPr/>
        </p:nvSpPr>
        <p:spPr>
          <a:xfrm>
            <a:off x="1280160" y="3090672"/>
            <a:ext cx="6400800" cy="237744"/>
          </a:xfrm>
          <a:prstGeom prst="rect">
            <a:avLst/>
          </a:prstGeom>
          <a:noFill/>
        </p:spPr>
        <p:txBody>
          <a:bodyPr wrap="square"/>
          <a:lstStyle/>
          <a:p>
            <a:pPr algn="l">
              <a:spcBef>
                <a:spcPts val="0"/>
              </a:spcBef>
              <a:spcAft>
                <a:spcPts val="0"/>
              </a:spcAft>
            </a:pPr>
            <a:r>
              <a:rPr sz="1000" b="0">
                <a:solidFill>
                  <a:srgbClr val="BBBBCC"/>
                </a:solidFill>
                <a:latin typeface="IPAPGothic"/>
              </a:rPr>
              <a:t>最適なモデルの選択・条件・スコープの整理</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spcBef>
                <a:spcPts val="0"/>
              </a:spcBef>
              <a:spcAft>
                <a:spcPts val="0"/>
              </a:spcAft>
            </a:pPr>
            <a:r>
              <a:rPr sz="1000" b="1">
                <a:solidFill>
                  <a:srgbClr val="FFFFFF"/>
                </a:solidFill>
                <a:latin typeface="IPAPGothic"/>
              </a:rPr>
              <a:t>04</a:t>
            </a:r>
          </a:p>
        </p:txBody>
      </p:sp>
      <p:sp>
        <p:nvSpPr>
          <p:cNvPr id="19" name="TextBox 18"/>
          <p:cNvSpPr txBox="1"/>
          <p:nvPr/>
        </p:nvSpPr>
        <p:spPr>
          <a:xfrm>
            <a:off x="1280160" y="3493008"/>
            <a:ext cx="3657600" cy="274320"/>
          </a:xfrm>
          <a:prstGeom prst="rect">
            <a:avLst/>
          </a:prstGeom>
          <a:noFill/>
        </p:spPr>
        <p:txBody>
          <a:bodyPr wrap="square"/>
          <a:lstStyle/>
          <a:p>
            <a:pPr algn="l">
              <a:spcBef>
                <a:spcPts val="0"/>
              </a:spcBef>
              <a:spcAft>
                <a:spcPts val="0"/>
              </a:spcAft>
            </a:pPr>
            <a:r>
              <a:rPr sz="1200" b="1">
                <a:solidFill>
                  <a:srgbClr val="FFFFFF"/>
                </a:solidFill>
                <a:latin typeface="IPAPGothic"/>
              </a:rPr>
              <a:t>パイロット実施</a:t>
            </a:r>
          </a:p>
        </p:txBody>
      </p:sp>
      <p:sp>
        <p:nvSpPr>
          <p:cNvPr id="20" name="TextBox 19"/>
          <p:cNvSpPr txBox="1"/>
          <p:nvPr/>
        </p:nvSpPr>
        <p:spPr>
          <a:xfrm>
            <a:off x="1280160" y="3749040"/>
            <a:ext cx="6400800" cy="237744"/>
          </a:xfrm>
          <a:prstGeom prst="rect">
            <a:avLst/>
          </a:prstGeom>
          <a:noFill/>
        </p:spPr>
        <p:txBody>
          <a:bodyPr wrap="square"/>
          <a:lstStyle/>
          <a:p>
            <a:pPr algn="l">
              <a:spcBef>
                <a:spcPts val="0"/>
              </a:spcBef>
              <a:spcAft>
                <a:spcPts val="0"/>
              </a:spcAft>
            </a:pPr>
            <a:r>
              <a:rPr sz="1000" b="0">
                <a:solidFill>
                  <a:srgbClr val="BBBBCC"/>
                </a:solidFill>
                <a:latin typeface="IPAPGothic"/>
              </a:rPr>
              <a:t>1〜2件のクライアントで実証・フィードバック</a:t>
            </a:r>
          </a:p>
        </p:txBody>
      </p:sp>
      <p:sp>
        <p:nvSpPr>
          <p:cNvPr id="21" name="TextBox 20"/>
          <p:cNvSpPr txBox="1"/>
          <p:nvPr/>
        </p:nvSpPr>
        <p:spPr>
          <a:xfrm>
            <a:off x="731520" y="4229100"/>
            <a:ext cx="7315200" cy="274320"/>
          </a:xfrm>
          <a:prstGeom prst="rect">
            <a:avLst/>
          </a:prstGeom>
          <a:noFill/>
        </p:spPr>
        <p:txBody>
          <a:bodyPr wrap="square"/>
          <a:lstStyle/>
          <a:p>
            <a:pPr algn="l">
              <a:spcBef>
                <a:spcPts val="0"/>
              </a:spcBef>
              <a:spcAft>
                <a:spcPts val="0"/>
              </a:spcAft>
            </a:pPr>
            <a:r>
              <a:rPr sz="1000" b="0">
                <a:solidFill>
                  <a:srgbClr val="94A3B8"/>
                </a:solidFill>
                <a:latin typeface="IPAPGothic"/>
              </a:rPr>
              <a:t>Universal Need株式会社　代表取締役　佐藤卓也</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spcBef>
                <a:spcPts val="0"/>
              </a:spcBef>
              <a:spcAft>
                <a:spcPts val="0"/>
              </a:spcAft>
            </a:pPr>
            <a:r>
              <a:rPr sz="900" b="0">
                <a:solidFill>
                  <a:srgbClr val="94A3B8"/>
                </a:solidFill>
                <a:latin typeface="IPAPGothic"/>
              </a:rPr>
              <a:t>Universal Need株式会社 — TokiStorage</a:t>
            </a:r>
          </a:p>
        </p:txBody>
      </p:sp>
      <p:sp>
        <p:nvSpPr>
          <p:cNvPr id="24" name="TextBox 23"/>
          <p:cNvSpPr txBox="1"/>
          <p:nvPr/>
        </p:nvSpPr>
        <p:spPr>
          <a:xfrm>
            <a:off x="3657600" y="4640580"/>
            <a:ext cx="1828800" cy="32004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25" name="TextBox 24"/>
          <p:cNvSpPr txBox="1"/>
          <p:nvPr/>
        </p:nvSpPr>
        <p:spPr>
          <a:xfrm>
            <a:off x="8229600" y="4640580"/>
            <a:ext cx="457200" cy="320040"/>
          </a:xfrm>
          <a:prstGeom prst="rect">
            <a:avLst/>
          </a:prstGeom>
          <a:noFill/>
        </p:spPr>
        <p:txBody>
          <a:bodyPr wrap="square"/>
          <a:lstStyle/>
          <a:p>
            <a:pPr algn="r">
              <a:spcBef>
                <a:spcPts val="0"/>
              </a:spcBef>
              <a:spcAft>
                <a:spcPts val="0"/>
              </a:spcAft>
            </a:pPr>
            <a:r>
              <a:rPr sz="900" b="1">
                <a:solidFill>
                  <a:srgbClr val="94A3B8"/>
                </a:solidFill>
                <a:latin typeface="IPAP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spcBef>
                <a:spcPts val="0"/>
              </a:spcBef>
              <a:spcAft>
                <a:spcPts val="0"/>
              </a:spcAft>
            </a:pPr>
            <a:r>
              <a:rPr sz="1400" b="1">
                <a:solidFill>
                  <a:srgbClr val="94A3B8"/>
                </a:solidFill>
                <a:latin typeface="IPAPGothic"/>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spcBef>
                <a:spcPts val="0"/>
              </a:spcBef>
              <a:spcAft>
                <a:spcPts val="0"/>
              </a:spcAft>
            </a:pPr>
            <a:r>
              <a:rPr sz="900" b="0">
                <a:solidFill>
                  <a:srgbClr val="475569"/>
                </a:solidFill>
                <a:latin typeface="IPAPGothic"/>
              </a:rPr>
              <a:t>本資料は、Universal Need株式会社（以下「当社」）がパートナーシップのご検討のために作成した機密資料です。
本資料に含まれる情報は、当社の現時点における見解および計画に基づくものであり、その正確性、完全性、または将来の結果を保証するものではありません。
本資料は情報提供を目的としており、法的助言、投資助言、その他いかなる専門的助言を構成するものでもありません。
本資料の全部または一部を、当社の事前の書面による同意なく、第三者に開示、複製、または配布することを禁じます。</a:t>
            </a:r>
          </a:p>
        </p:txBody>
      </p:sp>
      <p:sp>
        <p:nvSpPr>
          <p:cNvPr id="6" name="TextBox 5"/>
          <p:cNvSpPr txBox="1"/>
          <p:nvPr/>
        </p:nvSpPr>
        <p:spPr>
          <a:xfrm>
            <a:off x="914400" y="4046220"/>
            <a:ext cx="7315200" cy="274320"/>
          </a:xfrm>
          <a:prstGeom prst="rect">
            <a:avLst/>
          </a:prstGeom>
          <a:noFill/>
        </p:spPr>
        <p:txBody>
          <a:bodyPr wrap="square"/>
          <a:lstStyle/>
          <a:p>
            <a:pPr algn="l">
              <a:spcBef>
                <a:spcPts val="0"/>
              </a:spcBef>
              <a:spcAft>
                <a:spcPts val="0"/>
              </a:spcAft>
            </a:pPr>
            <a:r>
              <a:rPr sz="800" b="0">
                <a:solidFill>
                  <a:srgbClr val="94A3B8"/>
                </a:solidFill>
                <a:latin typeface="IPAPGothic"/>
              </a:rPr>
              <a:t>© 2026 Universal Need株式会社.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IPAPGothic"/>
              </a:rPr>
              <a:t>Universal Need株式会社 — TokiStorage</a:t>
            </a:r>
          </a:p>
        </p:txBody>
      </p:sp>
      <p:sp>
        <p:nvSpPr>
          <p:cNvPr id="9" name="TextBox 8"/>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10" name="TextBox 9"/>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IPAPGothic"/>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