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4572000" cy="274320"/>
          </a:xfrm>
          <a:prstGeom prst="rect">
            <a:avLst/>
          </a:prstGeom>
          <a:noFill/>
        </p:spPr>
        <p:txBody>
          <a:bodyPr wrap="square"/>
          <a:lstStyle/>
          <a:p>
            <a:pPr algn="l">
              <a:spcBef>
                <a:spcPts val="0"/>
              </a:spcBef>
              <a:spcAft>
                <a:spcPts val="0"/>
              </a:spcAft>
            </a:pPr>
            <a:r>
              <a:rPr sz="700" b="0">
                <a:solidFill>
                  <a:srgbClr val="94A3B8"/>
                </a:solidFill>
                <a:latin typeface="IPAPGothic"/>
              </a:rPr>
              <a:t>Partnership Proposal — Confidential</a:t>
            </a:r>
          </a:p>
        </p:txBody>
      </p:sp>
      <p:sp>
        <p:nvSpPr>
          <p:cNvPr id="4" name="TextBox 3"/>
          <p:cNvSpPr txBox="1"/>
          <p:nvPr/>
        </p:nvSpPr>
        <p:spPr>
          <a:xfrm>
            <a:off x="914400" y="1371600"/>
            <a:ext cx="7315200" cy="1097280"/>
          </a:xfrm>
          <a:prstGeom prst="rect">
            <a:avLst/>
          </a:prstGeom>
          <a:noFill/>
        </p:spPr>
        <p:txBody>
          <a:bodyPr wrap="square"/>
          <a:lstStyle/>
          <a:p>
            <a:pPr algn="l">
              <a:spcBef>
                <a:spcPts val="0"/>
              </a:spcBef>
              <a:spcAft>
                <a:spcPts val="0"/>
              </a:spcAft>
            </a:pPr>
            <a:r>
              <a:rPr sz="2200" b="1">
                <a:solidFill>
                  <a:srgbClr val="FFFFFF"/>
                </a:solidFill>
                <a:latin typeface="IPAPGothic"/>
              </a:rPr>
              <a:t>貴社クライアントに、
「千年の存在証明」を。</a:t>
            </a:r>
          </a:p>
        </p:txBody>
      </p:sp>
      <p:sp>
        <p:nvSpPr>
          <p:cNvPr id="5" name="TextBox 4"/>
          <p:cNvSpPr txBox="1"/>
          <p:nvPr/>
        </p:nvSpPr>
        <p:spPr>
          <a:xfrm>
            <a:off x="914400" y="2651760"/>
            <a:ext cx="6400800" cy="731520"/>
          </a:xfrm>
          <a:prstGeom prst="rect">
            <a:avLst/>
          </a:prstGeom>
          <a:noFill/>
        </p:spPr>
        <p:txBody>
          <a:bodyPr wrap="square"/>
          <a:lstStyle/>
          <a:p>
            <a:pPr algn="l">
              <a:spcBef>
                <a:spcPts val="0"/>
              </a:spcBef>
              <a:spcAft>
                <a:spcPts val="0"/>
              </a:spcAft>
            </a:pPr>
            <a:r>
              <a:rPr sz="1000" b="0">
                <a:solidFill>
                  <a:srgbClr val="BBBBCC"/>
                </a:solidFill>
                <a:latin typeface="IPAPGothic"/>
              </a:rPr>
              <a:t>テクノロジーは揃っています。ユースケースも200以上。
足りないのは、届ける仕組みです。</a:t>
            </a:r>
          </a:p>
        </p:txBody>
      </p:sp>
      <p:sp>
        <p:nvSpPr>
          <p:cNvPr id="6" name="Rectangle 5"/>
          <p:cNvSpPr/>
          <p:nvPr/>
        </p:nvSpPr>
        <p:spPr>
          <a:xfrm>
            <a:off x="0" y="459486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668012"/>
            <a:ext cx="2743200" cy="274320"/>
          </a:xfrm>
          <a:prstGeom prst="rect">
            <a:avLst/>
          </a:prstGeom>
          <a:noFill/>
        </p:spPr>
        <p:txBody>
          <a:bodyPr wrap="square"/>
          <a:lstStyle/>
          <a:p>
            <a:pPr algn="l">
              <a:spcBef>
                <a:spcPts val="0"/>
              </a:spcBef>
              <a:spcAft>
                <a:spcPts val="0"/>
              </a:spcAft>
            </a:pPr>
            <a:r>
              <a:rPr sz="650" b="0">
                <a:solidFill>
                  <a:srgbClr val="94A3B8"/>
                </a:solidFill>
                <a:latin typeface="IPAPGothic"/>
              </a:rPr>
              <a:t>Universal Need株式会社</a:t>
            </a:r>
          </a:p>
        </p:txBody>
      </p:sp>
      <p:sp>
        <p:nvSpPr>
          <p:cNvPr id="8" name="TextBox 7"/>
          <p:cNvSpPr txBox="1"/>
          <p:nvPr/>
        </p:nvSpPr>
        <p:spPr>
          <a:xfrm>
            <a:off x="3657600" y="4668012"/>
            <a:ext cx="1828800" cy="274320"/>
          </a:xfrm>
          <a:prstGeom prst="rect">
            <a:avLst/>
          </a:prstGeom>
          <a:noFill/>
        </p:spPr>
        <p:txBody>
          <a:bodyPr wrap="square"/>
          <a:lstStyle/>
          <a:p>
            <a:pPr algn="ctr">
              <a:spcBef>
                <a:spcPts val="0"/>
              </a:spcBef>
              <a:spcAft>
                <a:spcPts val="0"/>
              </a:spcAft>
            </a:pPr>
            <a:r>
              <a:rPr sz="650" b="0">
                <a:solidFill>
                  <a:srgbClr val="94A3B8"/>
                </a:solidFill>
                <a:latin typeface="IPAPGothic"/>
              </a:rPr>
              <a:t>TokiStorage</a:t>
            </a:r>
          </a:p>
        </p:txBody>
      </p:sp>
      <p:sp>
        <p:nvSpPr>
          <p:cNvPr id="9" name="TextBox 8"/>
          <p:cNvSpPr txBox="1"/>
          <p:nvPr/>
        </p:nvSpPr>
        <p:spPr>
          <a:xfrm>
            <a:off x="7315200" y="4668012"/>
            <a:ext cx="1371600" cy="274320"/>
          </a:xfrm>
          <a:prstGeom prst="rect">
            <a:avLst/>
          </a:prstGeom>
          <a:noFill/>
        </p:spPr>
        <p:txBody>
          <a:bodyPr wrap="square"/>
          <a:lstStyle/>
          <a:p>
            <a:pPr algn="r">
              <a:spcBef>
                <a:spcPts val="0"/>
              </a:spcBef>
              <a:spcAft>
                <a:spcPts val="0"/>
              </a:spcAft>
            </a:pPr>
            <a:r>
              <a:rPr sz="650" b="0">
                <a:solidFill>
                  <a:srgbClr val="94A3B8"/>
                </a:solidFill>
                <a:latin typeface="IPAP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02920"/>
          </a:xfrm>
          <a:prstGeom prst="rect">
            <a:avLst/>
          </a:prstGeom>
          <a:noFill/>
        </p:spPr>
        <p:txBody>
          <a:bodyPr wrap="square" anchor="ctr"/>
          <a:lstStyle/>
          <a:p>
            <a:pPr algn="l">
              <a:spcBef>
                <a:spcPts val="0"/>
              </a:spcBef>
              <a:spcAft>
                <a:spcPts val="0"/>
              </a:spcAft>
            </a:pPr>
            <a:r>
              <a:rPr sz="900" b="1">
                <a:solidFill>
                  <a:srgbClr val="FFFFFF"/>
                </a:solidFill>
                <a:latin typeface="IPAPGothic"/>
              </a:rPr>
              <a:t>既存のデジタルサービスは「今」に最適化されており、千年スケールの保存レイヤーが構造的に不在である</a:t>
            </a:r>
          </a:p>
        </p:txBody>
      </p:sp>
      <p:sp>
        <p:nvSpPr>
          <p:cNvPr id="4" name="TextBox 3"/>
          <p:cNvSpPr txBox="1"/>
          <p:nvPr/>
        </p:nvSpPr>
        <p:spPr>
          <a:xfrm>
            <a:off x="457200" y="640080"/>
            <a:ext cx="2743200" cy="228600"/>
          </a:xfrm>
          <a:prstGeom prst="rect">
            <a:avLst/>
          </a:prstGeom>
          <a:noFill/>
        </p:spPr>
        <p:txBody>
          <a:bodyPr wrap="square"/>
          <a:lstStyle/>
          <a:p>
            <a:pPr algn="l">
              <a:spcBef>
                <a:spcPts val="0"/>
              </a:spcBef>
              <a:spcAft>
                <a:spcPts val="0"/>
              </a:spcAft>
            </a:pPr>
            <a:r>
              <a:rPr sz="700" b="1">
                <a:solidFill>
                  <a:srgbClr val="2563EB"/>
                </a:solidFill>
                <a:latin typeface="IPAPGothic"/>
              </a:rPr>
              <a:t>BACKGROUND</a:t>
            </a:r>
          </a:p>
        </p:txBody>
      </p:sp>
      <p:sp>
        <p:nvSpPr>
          <p:cNvPr id="5" name="Rectangle 4"/>
          <p:cNvSpPr/>
          <p:nvPr/>
        </p:nvSpPr>
        <p:spPr>
          <a:xfrm>
            <a:off x="457200" y="914400"/>
            <a:ext cx="2606040" cy="32918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987552"/>
            <a:ext cx="457200" cy="228600"/>
          </a:xfrm>
          <a:prstGeom prst="rect">
            <a:avLst/>
          </a:prstGeom>
          <a:noFill/>
        </p:spPr>
        <p:txBody>
          <a:bodyPr wrap="square"/>
          <a:lstStyle/>
          <a:p>
            <a:pPr algn="l">
              <a:spcBef>
                <a:spcPts val="0"/>
              </a:spcBef>
              <a:spcAft>
                <a:spcPts val="0"/>
              </a:spcAft>
            </a:pPr>
            <a:r>
              <a:rPr sz="1100" b="1">
                <a:solidFill>
                  <a:srgbClr val="2563EB"/>
                </a:solidFill>
                <a:latin typeface="IPAPGothic"/>
              </a:rPr>
              <a:t>01</a:t>
            </a:r>
          </a:p>
        </p:txBody>
      </p:sp>
      <p:sp>
        <p:nvSpPr>
          <p:cNvPr id="7" name="TextBox 6"/>
          <p:cNvSpPr txBox="1"/>
          <p:nvPr/>
        </p:nvSpPr>
        <p:spPr>
          <a:xfrm>
            <a:off x="566928" y="1234440"/>
            <a:ext cx="2386584" cy="201168"/>
          </a:xfrm>
          <a:prstGeom prst="rect">
            <a:avLst/>
          </a:prstGeom>
          <a:noFill/>
        </p:spPr>
        <p:txBody>
          <a:bodyPr wrap="square"/>
          <a:lstStyle/>
          <a:p>
            <a:pPr algn="l">
              <a:spcBef>
                <a:spcPts val="0"/>
              </a:spcBef>
              <a:spcAft>
                <a:spcPts val="0"/>
              </a:spcAft>
            </a:pPr>
            <a:r>
              <a:rPr sz="800" b="1">
                <a:solidFill>
                  <a:srgbClr val="1E293B"/>
                </a:solidFill>
                <a:latin typeface="IPAPGothic"/>
              </a:rPr>
              <a:t>デジタルは「今」に最適化</a:t>
            </a:r>
          </a:p>
        </p:txBody>
      </p:sp>
      <p:sp>
        <p:nvSpPr>
          <p:cNvPr id="8" name="TextBox 7"/>
          <p:cNvSpPr txBox="1"/>
          <p:nvPr/>
        </p:nvSpPr>
        <p:spPr>
          <a:xfrm>
            <a:off x="566928" y="1444752"/>
            <a:ext cx="2386584" cy="2670048"/>
          </a:xfrm>
          <a:prstGeom prst="rect">
            <a:avLst/>
          </a:prstGeom>
          <a:noFill/>
        </p:spPr>
        <p:txBody>
          <a:bodyPr wrap="square"/>
          <a:lstStyle/>
          <a:p>
            <a:pPr algn="l">
              <a:spcBef>
                <a:spcPts val="0"/>
              </a:spcBef>
              <a:spcAft>
                <a:spcPts val="0"/>
              </a:spcAft>
            </a:pPr>
            <a:r>
              <a:rPr sz="700" b="0">
                <a:solidFill>
                  <a:srgbClr val="475569"/>
                </a:solidFill>
                <a:latin typeface="IPAPGothic"/>
              </a:rPr>
              <a:t>クラウドやSNSは日常の記録に極めて優秀。しかし100年・1000年スケールは設計対象外。時間軸が違えば、必要な設計も違う。</a:t>
            </a:r>
          </a:p>
        </p:txBody>
      </p:sp>
      <p:sp>
        <p:nvSpPr>
          <p:cNvPr id="9" name="Rectangle 8"/>
          <p:cNvSpPr/>
          <p:nvPr/>
        </p:nvSpPr>
        <p:spPr>
          <a:xfrm>
            <a:off x="3273552" y="914400"/>
            <a:ext cx="2606040" cy="32918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0" y="987552"/>
            <a:ext cx="457200" cy="228600"/>
          </a:xfrm>
          <a:prstGeom prst="rect">
            <a:avLst/>
          </a:prstGeom>
          <a:noFill/>
        </p:spPr>
        <p:txBody>
          <a:bodyPr wrap="square"/>
          <a:lstStyle/>
          <a:p>
            <a:pPr algn="l">
              <a:spcBef>
                <a:spcPts val="0"/>
              </a:spcBef>
              <a:spcAft>
                <a:spcPts val="0"/>
              </a:spcAft>
            </a:pPr>
            <a:r>
              <a:rPr sz="1100" b="1">
                <a:solidFill>
                  <a:srgbClr val="2563EB"/>
                </a:solidFill>
                <a:latin typeface="IPAPGothic"/>
              </a:rPr>
              <a:t>02</a:t>
            </a:r>
          </a:p>
        </p:txBody>
      </p:sp>
      <p:sp>
        <p:nvSpPr>
          <p:cNvPr id="11" name="TextBox 10"/>
          <p:cNvSpPr txBox="1"/>
          <p:nvPr/>
        </p:nvSpPr>
        <p:spPr>
          <a:xfrm>
            <a:off x="3383280" y="1234440"/>
            <a:ext cx="2386584" cy="201168"/>
          </a:xfrm>
          <a:prstGeom prst="rect">
            <a:avLst/>
          </a:prstGeom>
          <a:noFill/>
        </p:spPr>
        <p:txBody>
          <a:bodyPr wrap="square"/>
          <a:lstStyle/>
          <a:p>
            <a:pPr algn="l">
              <a:spcBef>
                <a:spcPts val="0"/>
              </a:spcBef>
              <a:spcAft>
                <a:spcPts val="0"/>
              </a:spcAft>
            </a:pPr>
            <a:r>
              <a:rPr sz="800" b="1">
                <a:solidFill>
                  <a:srgbClr val="1E293B"/>
                </a:solidFill>
                <a:latin typeface="IPAPGothic"/>
              </a:rPr>
              <a:t>「墓じまい」が社会課題に</a:t>
            </a:r>
          </a:p>
        </p:txBody>
      </p:sp>
      <p:sp>
        <p:nvSpPr>
          <p:cNvPr id="12" name="TextBox 11"/>
          <p:cNvSpPr txBox="1"/>
          <p:nvPr/>
        </p:nvSpPr>
        <p:spPr>
          <a:xfrm>
            <a:off x="3383280" y="1444752"/>
            <a:ext cx="2386584" cy="2670048"/>
          </a:xfrm>
          <a:prstGeom prst="rect">
            <a:avLst/>
          </a:prstGeom>
          <a:noFill/>
        </p:spPr>
        <p:txBody>
          <a:bodyPr wrap="square"/>
          <a:lstStyle/>
          <a:p>
            <a:pPr algn="l">
              <a:spcBef>
                <a:spcPts val="0"/>
              </a:spcBef>
              <a:spcAft>
                <a:spcPts val="0"/>
              </a:spcAft>
            </a:pPr>
            <a:r>
              <a:rPr sz="700" b="0">
                <a:solidFill>
                  <a:srgbClr val="475569"/>
                </a:solidFill>
                <a:latin typeface="IPAPGothic"/>
              </a:rPr>
              <a:t>無縁墓は年間数万基。2040年には単身世帯が4割超。「誰が記憶を残すのか」は個人の問題から社会の問題へ移行。</a:t>
            </a:r>
          </a:p>
        </p:txBody>
      </p:sp>
      <p:sp>
        <p:nvSpPr>
          <p:cNvPr id="13" name="Rectangle 12"/>
          <p:cNvSpPr/>
          <p:nvPr/>
        </p:nvSpPr>
        <p:spPr>
          <a:xfrm>
            <a:off x="6089904" y="914400"/>
            <a:ext cx="2606040" cy="32918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987552"/>
            <a:ext cx="457200" cy="228600"/>
          </a:xfrm>
          <a:prstGeom prst="rect">
            <a:avLst/>
          </a:prstGeom>
          <a:noFill/>
        </p:spPr>
        <p:txBody>
          <a:bodyPr wrap="square"/>
          <a:lstStyle/>
          <a:p>
            <a:pPr algn="l">
              <a:spcBef>
                <a:spcPts val="0"/>
              </a:spcBef>
              <a:spcAft>
                <a:spcPts val="0"/>
              </a:spcAft>
            </a:pPr>
            <a:r>
              <a:rPr sz="1100" b="1">
                <a:solidFill>
                  <a:srgbClr val="2563EB"/>
                </a:solidFill>
                <a:latin typeface="IPAPGothic"/>
              </a:rPr>
              <a:t>03</a:t>
            </a:r>
          </a:p>
        </p:txBody>
      </p:sp>
      <p:sp>
        <p:nvSpPr>
          <p:cNvPr id="15" name="TextBox 14"/>
          <p:cNvSpPr txBox="1"/>
          <p:nvPr/>
        </p:nvSpPr>
        <p:spPr>
          <a:xfrm>
            <a:off x="6199632" y="1234440"/>
            <a:ext cx="2386584" cy="201168"/>
          </a:xfrm>
          <a:prstGeom prst="rect">
            <a:avLst/>
          </a:prstGeom>
          <a:noFill/>
        </p:spPr>
        <p:txBody>
          <a:bodyPr wrap="square"/>
          <a:lstStyle/>
          <a:p>
            <a:pPr algn="l">
              <a:spcBef>
                <a:spcPts val="0"/>
              </a:spcBef>
              <a:spcAft>
                <a:spcPts val="0"/>
              </a:spcAft>
            </a:pPr>
            <a:r>
              <a:rPr sz="800" b="1">
                <a:solidFill>
                  <a:srgbClr val="1E293B"/>
                </a:solidFill>
                <a:latin typeface="IPAPGothic"/>
              </a:rPr>
              <a:t>千年レイヤーが不在</a:t>
            </a:r>
          </a:p>
        </p:txBody>
      </p:sp>
      <p:sp>
        <p:nvSpPr>
          <p:cNvPr id="16" name="TextBox 15"/>
          <p:cNvSpPr txBox="1"/>
          <p:nvPr/>
        </p:nvSpPr>
        <p:spPr>
          <a:xfrm>
            <a:off x="6199632" y="1444752"/>
            <a:ext cx="2386584" cy="2670048"/>
          </a:xfrm>
          <a:prstGeom prst="rect">
            <a:avLst/>
          </a:prstGeom>
          <a:noFill/>
        </p:spPr>
        <p:txBody>
          <a:bodyPr wrap="square"/>
          <a:lstStyle/>
          <a:p>
            <a:pPr algn="l">
              <a:spcBef>
                <a:spcPts val="0"/>
              </a:spcBef>
              <a:spcAft>
                <a:spcPts val="0"/>
              </a:spcAft>
            </a:pPr>
            <a:r>
              <a:rPr sz="700" b="0">
                <a:solidFill>
                  <a:srgbClr val="475569"/>
                </a:solidFill>
                <a:latin typeface="IPAPGothic"/>
              </a:rPr>
              <a:t>デジタル遺品整理、AI故人再現——市場は急成長。しかし全て既存インフラ上。補完する千年レイヤーが求められている。</a:t>
            </a:r>
          </a:p>
        </p:txBody>
      </p:sp>
      <p:sp>
        <p:nvSpPr>
          <p:cNvPr id="17" name="Rectangle 16"/>
          <p:cNvSpPr/>
          <p:nvPr/>
        </p:nvSpPr>
        <p:spPr>
          <a:xfrm>
            <a:off x="0" y="4823460"/>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48860"/>
            <a:ext cx="3657600" cy="256032"/>
          </a:xfrm>
          <a:prstGeom prst="rect">
            <a:avLst/>
          </a:prstGeom>
          <a:noFill/>
        </p:spPr>
        <p:txBody>
          <a:bodyPr wrap="square"/>
          <a:lstStyle/>
          <a:p>
            <a:pPr algn="l">
              <a:spcBef>
                <a:spcPts val="0"/>
              </a:spcBef>
              <a:spcAft>
                <a:spcPts val="0"/>
              </a:spcAft>
            </a:pPr>
            <a:r>
              <a:rPr sz="650" b="0">
                <a:solidFill>
                  <a:srgbClr val="94A3B8"/>
                </a:solidFill>
                <a:latin typeface="IPAPGothic"/>
              </a:rPr>
              <a:t>TokiStorage — 協業提案</a:t>
            </a:r>
          </a:p>
        </p:txBody>
      </p:sp>
      <p:sp>
        <p:nvSpPr>
          <p:cNvPr id="19" name="TextBox 18"/>
          <p:cNvSpPr txBox="1"/>
          <p:nvPr/>
        </p:nvSpPr>
        <p:spPr>
          <a:xfrm>
            <a:off x="3657600" y="4848860"/>
            <a:ext cx="1828800" cy="256032"/>
          </a:xfrm>
          <a:prstGeom prst="rect">
            <a:avLst/>
          </a:prstGeom>
          <a:noFill/>
        </p:spPr>
        <p:txBody>
          <a:bodyPr wrap="square"/>
          <a:lstStyle/>
          <a:p>
            <a:pPr algn="ctr">
              <a:spcBef>
                <a:spcPts val="0"/>
              </a:spcBef>
              <a:spcAft>
                <a:spcPts val="0"/>
              </a:spcAft>
            </a:pPr>
            <a:r>
              <a:rPr sz="650" b="0">
                <a:solidFill>
                  <a:srgbClr val="94A3B8"/>
                </a:solidFill>
                <a:latin typeface="IPAPGothic"/>
              </a:rPr>
              <a:t>Confidential</a:t>
            </a:r>
          </a:p>
        </p:txBody>
      </p:sp>
      <p:sp>
        <p:nvSpPr>
          <p:cNvPr id="20" name="TextBox 19"/>
          <p:cNvSpPr txBox="1"/>
          <p:nvPr/>
        </p:nvSpPr>
        <p:spPr>
          <a:xfrm>
            <a:off x="8229600" y="4848860"/>
            <a:ext cx="457200" cy="256032"/>
          </a:xfrm>
          <a:prstGeom prst="rect">
            <a:avLst/>
          </a:prstGeom>
          <a:noFill/>
        </p:spPr>
        <p:txBody>
          <a:bodyPr wrap="square"/>
          <a:lstStyle/>
          <a:p>
            <a:pPr algn="r">
              <a:spcBef>
                <a:spcPts val="0"/>
              </a:spcBef>
              <a:spcAft>
                <a:spcPts val="0"/>
              </a:spcAft>
            </a:pPr>
            <a:r>
              <a:rPr sz="650" b="1">
                <a:solidFill>
                  <a:srgbClr val="94A3B8"/>
                </a:solidFill>
                <a:latin typeface="IPAP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02920"/>
          </a:xfrm>
          <a:prstGeom prst="rect">
            <a:avLst/>
          </a:prstGeom>
          <a:noFill/>
        </p:spPr>
        <p:txBody>
          <a:bodyPr wrap="square" anchor="ctr"/>
          <a:lstStyle/>
          <a:p>
            <a:pPr algn="l">
              <a:spcBef>
                <a:spcPts val="0"/>
              </a:spcBef>
              <a:spcAft>
                <a:spcPts val="0"/>
              </a:spcAft>
            </a:pPr>
            <a:r>
              <a:rPr sz="900" b="1">
                <a:solidFill>
                  <a:srgbClr val="FFFFFF"/>
                </a:solidFill>
                <a:latin typeface="IPAPGothic"/>
              </a:rPr>
              <a:t>TokiStorageは技術・ユースケース・思想基盤・展開網の4つを「設計思想ごと」提供できる</a:t>
            </a:r>
          </a:p>
        </p:txBody>
      </p:sp>
      <p:sp>
        <p:nvSpPr>
          <p:cNvPr id="4" name="TextBox 3"/>
          <p:cNvSpPr txBox="1"/>
          <p:nvPr/>
        </p:nvSpPr>
        <p:spPr>
          <a:xfrm>
            <a:off x="457200" y="640080"/>
            <a:ext cx="2743200" cy="228600"/>
          </a:xfrm>
          <a:prstGeom prst="rect">
            <a:avLst/>
          </a:prstGeom>
          <a:noFill/>
        </p:spPr>
        <p:txBody>
          <a:bodyPr wrap="square"/>
          <a:lstStyle/>
          <a:p>
            <a:pPr algn="l">
              <a:spcBef>
                <a:spcPts val="0"/>
              </a:spcBef>
              <a:spcAft>
                <a:spcPts val="0"/>
              </a:spcAft>
            </a:pPr>
            <a:r>
              <a:rPr sz="700" b="1">
                <a:solidFill>
                  <a:srgbClr val="2563EB"/>
                </a:solidFill>
                <a:latin typeface="IPAPGothic"/>
              </a:rPr>
              <a:t>OUR OFFERING</a:t>
            </a:r>
          </a:p>
        </p:txBody>
      </p:sp>
      <p:sp>
        <p:nvSpPr>
          <p:cNvPr id="5" name="Rectangle 4"/>
          <p:cNvSpPr/>
          <p:nvPr/>
        </p:nvSpPr>
        <p:spPr>
          <a:xfrm>
            <a:off x="457200" y="914400"/>
            <a:ext cx="3931920" cy="15544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6928" y="1024128"/>
            <a:ext cx="292608" cy="29260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292608" cy="292608"/>
          </a:xfrm>
          <a:prstGeom prst="rect">
            <a:avLst/>
          </a:prstGeom>
          <a:noFill/>
        </p:spPr>
        <p:txBody>
          <a:bodyPr wrap="square" anchor="ctr"/>
          <a:lstStyle/>
          <a:p>
            <a:pPr algn="ctr">
              <a:spcBef>
                <a:spcPts val="0"/>
              </a:spcBef>
              <a:spcAft>
                <a:spcPts val="0"/>
              </a:spcAft>
            </a:pPr>
            <a:r>
              <a:rPr sz="900" b="1">
                <a:solidFill>
                  <a:srgbClr val="2563EB"/>
                </a:solidFill>
                <a:latin typeface="IPAPGothic"/>
              </a:rPr>
              <a:t>Q</a:t>
            </a:r>
          </a:p>
        </p:txBody>
      </p:sp>
      <p:sp>
        <p:nvSpPr>
          <p:cNvPr id="8" name="TextBox 7"/>
          <p:cNvSpPr txBox="1"/>
          <p:nvPr/>
        </p:nvSpPr>
        <p:spPr>
          <a:xfrm>
            <a:off x="932688" y="1024128"/>
            <a:ext cx="3337560" cy="182880"/>
          </a:xfrm>
          <a:prstGeom prst="rect">
            <a:avLst/>
          </a:prstGeom>
          <a:noFill/>
        </p:spPr>
        <p:txBody>
          <a:bodyPr wrap="square"/>
          <a:lstStyle/>
          <a:p>
            <a:pPr algn="l">
              <a:spcBef>
                <a:spcPts val="0"/>
              </a:spcBef>
              <a:spcAft>
                <a:spcPts val="0"/>
              </a:spcAft>
            </a:pPr>
            <a:r>
              <a:rPr sz="800" b="1">
                <a:solidFill>
                  <a:srgbClr val="1E293B"/>
                </a:solidFill>
                <a:latin typeface="IPAPGothic"/>
              </a:rPr>
              <a:t>石英ガラス記録技術</a:t>
            </a:r>
          </a:p>
        </p:txBody>
      </p:sp>
      <p:sp>
        <p:nvSpPr>
          <p:cNvPr id="9" name="TextBox 8"/>
          <p:cNvSpPr txBox="1"/>
          <p:nvPr/>
        </p:nvSpPr>
        <p:spPr>
          <a:xfrm>
            <a:off x="932688" y="1225296"/>
            <a:ext cx="3337560" cy="1170432"/>
          </a:xfrm>
          <a:prstGeom prst="rect">
            <a:avLst/>
          </a:prstGeom>
          <a:noFill/>
        </p:spPr>
        <p:txBody>
          <a:bodyPr wrap="square"/>
          <a:lstStyle/>
          <a:p>
            <a:pPr algn="l">
              <a:spcBef>
                <a:spcPts val="0"/>
              </a:spcBef>
              <a:spcAft>
                <a:spcPts val="0"/>
              </a:spcAft>
            </a:pPr>
            <a:r>
              <a:rPr sz="650" b="0">
                <a:solidFill>
                  <a:srgbClr val="475569"/>
                </a:solidFill>
                <a:latin typeface="IPAPGothic"/>
              </a:rPr>
              <a:t>金属蒸着によるQRコード刻印。サーバー・電源ゼロ。SLA 100%、1000年保証。スマホカメラで読取可能。</a:t>
            </a:r>
          </a:p>
        </p:txBody>
      </p:sp>
      <p:sp>
        <p:nvSpPr>
          <p:cNvPr id="10" name="Rectangle 9"/>
          <p:cNvSpPr/>
          <p:nvPr/>
        </p:nvSpPr>
        <p:spPr>
          <a:xfrm>
            <a:off x="4617720" y="914400"/>
            <a:ext cx="3931920" cy="15544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27448" y="1024128"/>
            <a:ext cx="292608" cy="29260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27448" y="1024128"/>
            <a:ext cx="292608" cy="292608"/>
          </a:xfrm>
          <a:prstGeom prst="rect">
            <a:avLst/>
          </a:prstGeom>
          <a:noFill/>
        </p:spPr>
        <p:txBody>
          <a:bodyPr wrap="square" anchor="ctr"/>
          <a:lstStyle/>
          <a:p>
            <a:pPr algn="ctr">
              <a:spcBef>
                <a:spcPts val="0"/>
              </a:spcBef>
              <a:spcAft>
                <a:spcPts val="0"/>
              </a:spcAft>
            </a:pPr>
            <a:r>
              <a:rPr sz="900" b="1">
                <a:solidFill>
                  <a:srgbClr val="2563EB"/>
                </a:solidFill>
                <a:latin typeface="IPAPGothic"/>
              </a:rPr>
              <a:t>U</a:t>
            </a:r>
          </a:p>
        </p:txBody>
      </p:sp>
      <p:sp>
        <p:nvSpPr>
          <p:cNvPr id="13" name="TextBox 12"/>
          <p:cNvSpPr txBox="1"/>
          <p:nvPr/>
        </p:nvSpPr>
        <p:spPr>
          <a:xfrm>
            <a:off x="5093208" y="1024128"/>
            <a:ext cx="3337560" cy="182880"/>
          </a:xfrm>
          <a:prstGeom prst="rect">
            <a:avLst/>
          </a:prstGeom>
          <a:noFill/>
        </p:spPr>
        <p:txBody>
          <a:bodyPr wrap="square"/>
          <a:lstStyle/>
          <a:p>
            <a:pPr algn="l">
              <a:spcBef>
                <a:spcPts val="0"/>
              </a:spcBef>
              <a:spcAft>
                <a:spcPts val="0"/>
              </a:spcAft>
            </a:pPr>
            <a:r>
              <a:rPr sz="800" b="1">
                <a:solidFill>
                  <a:srgbClr val="1E293B"/>
                </a:solidFill>
                <a:latin typeface="IPAPGothic"/>
              </a:rPr>
              <a:t>200+ ユースケース（業界別整理済み）</a:t>
            </a:r>
          </a:p>
        </p:txBody>
      </p:sp>
      <p:sp>
        <p:nvSpPr>
          <p:cNvPr id="14" name="TextBox 13"/>
          <p:cNvSpPr txBox="1"/>
          <p:nvPr/>
        </p:nvSpPr>
        <p:spPr>
          <a:xfrm>
            <a:off x="5093208" y="1225296"/>
            <a:ext cx="3337560" cy="1170432"/>
          </a:xfrm>
          <a:prstGeom prst="rect">
            <a:avLst/>
          </a:prstGeom>
          <a:noFill/>
        </p:spPr>
        <p:txBody>
          <a:bodyPr wrap="square"/>
          <a:lstStyle/>
          <a:p>
            <a:pPr algn="l">
              <a:spcBef>
                <a:spcPts val="0"/>
              </a:spcBef>
              <a:spcAft>
                <a:spcPts val="0"/>
              </a:spcAft>
            </a:pPr>
            <a:r>
              <a:rPr sz="650" b="0">
                <a:solidFill>
                  <a:srgbClr val="475569"/>
                </a:solidFill>
                <a:latin typeface="IPAPGothic"/>
              </a:rPr>
              <a:t>終活・婚礼・寺社・学校・企業・自治体・NGO・ホテル・航空。提案書にそのまま転用可能な粒度。</a:t>
            </a:r>
          </a:p>
        </p:txBody>
      </p:sp>
      <p:sp>
        <p:nvSpPr>
          <p:cNvPr id="15" name="Rectangle 14"/>
          <p:cNvSpPr/>
          <p:nvPr/>
        </p:nvSpPr>
        <p:spPr>
          <a:xfrm>
            <a:off x="457200" y="2651760"/>
            <a:ext cx="3931920" cy="15544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6928" y="2761488"/>
            <a:ext cx="292608" cy="29260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761488"/>
            <a:ext cx="292608" cy="292608"/>
          </a:xfrm>
          <a:prstGeom prst="rect">
            <a:avLst/>
          </a:prstGeom>
          <a:noFill/>
        </p:spPr>
        <p:txBody>
          <a:bodyPr wrap="square" anchor="ctr"/>
          <a:lstStyle/>
          <a:p>
            <a:pPr algn="ctr">
              <a:spcBef>
                <a:spcPts val="0"/>
              </a:spcBef>
              <a:spcAft>
                <a:spcPts val="0"/>
              </a:spcAft>
            </a:pPr>
            <a:r>
              <a:rPr sz="900" b="1">
                <a:solidFill>
                  <a:srgbClr val="2563EB"/>
                </a:solidFill>
                <a:latin typeface="IPAPGothic"/>
              </a:rPr>
              <a:t>E</a:t>
            </a:r>
          </a:p>
        </p:txBody>
      </p:sp>
      <p:sp>
        <p:nvSpPr>
          <p:cNvPr id="18" name="TextBox 17"/>
          <p:cNvSpPr txBox="1"/>
          <p:nvPr/>
        </p:nvSpPr>
        <p:spPr>
          <a:xfrm>
            <a:off x="932688" y="2761488"/>
            <a:ext cx="3337560" cy="182880"/>
          </a:xfrm>
          <a:prstGeom prst="rect">
            <a:avLst/>
          </a:prstGeom>
          <a:noFill/>
        </p:spPr>
        <p:txBody>
          <a:bodyPr wrap="square"/>
          <a:lstStyle/>
          <a:p>
            <a:pPr algn="l">
              <a:spcBef>
                <a:spcPts val="0"/>
              </a:spcBef>
              <a:spcAft>
                <a:spcPts val="0"/>
              </a:spcAft>
            </a:pPr>
            <a:r>
              <a:rPr sz="800" b="1">
                <a:solidFill>
                  <a:srgbClr val="1E293B"/>
                </a:solidFill>
                <a:latin typeface="IPAPGothic"/>
              </a:rPr>
              <a:t>70+ 思想エッセイ（9領域）</a:t>
            </a:r>
          </a:p>
        </p:txBody>
      </p:sp>
      <p:sp>
        <p:nvSpPr>
          <p:cNvPr id="19" name="TextBox 18"/>
          <p:cNvSpPr txBox="1"/>
          <p:nvPr/>
        </p:nvSpPr>
        <p:spPr>
          <a:xfrm>
            <a:off x="932688" y="2962656"/>
            <a:ext cx="3337560" cy="1170432"/>
          </a:xfrm>
          <a:prstGeom prst="rect">
            <a:avLst/>
          </a:prstGeom>
          <a:noFill/>
        </p:spPr>
        <p:txBody>
          <a:bodyPr wrap="square"/>
          <a:lstStyle/>
          <a:p>
            <a:pPr algn="l">
              <a:spcBef>
                <a:spcPts val="0"/>
              </a:spcBef>
              <a:spcAft>
                <a:spcPts val="0"/>
              </a:spcAft>
            </a:pPr>
            <a:r>
              <a:rPr sz="650" b="0">
                <a:solidFill>
                  <a:srgbClr val="475569"/>
                </a:solidFill>
                <a:latin typeface="IPAPGothic"/>
              </a:rPr>
              <a:t>存在証明を心理学・宗教・経済・AI・宇宙まで展開。知的コンテンツとしてクライアント提案に活用可能。</a:t>
            </a:r>
          </a:p>
        </p:txBody>
      </p:sp>
      <p:sp>
        <p:nvSpPr>
          <p:cNvPr id="20" name="Rectangle 19"/>
          <p:cNvSpPr/>
          <p:nvPr/>
        </p:nvSpPr>
        <p:spPr>
          <a:xfrm>
            <a:off x="4617720" y="2651760"/>
            <a:ext cx="3931920" cy="15544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27448" y="2761488"/>
            <a:ext cx="292608" cy="29260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27448" y="2761488"/>
            <a:ext cx="292608" cy="292608"/>
          </a:xfrm>
          <a:prstGeom prst="rect">
            <a:avLst/>
          </a:prstGeom>
          <a:noFill/>
        </p:spPr>
        <p:txBody>
          <a:bodyPr wrap="square" anchor="ctr"/>
          <a:lstStyle/>
          <a:p>
            <a:pPr algn="ctr">
              <a:spcBef>
                <a:spcPts val="0"/>
              </a:spcBef>
              <a:spcAft>
                <a:spcPts val="0"/>
              </a:spcAft>
            </a:pPr>
            <a:r>
              <a:rPr sz="900" b="1">
                <a:solidFill>
                  <a:srgbClr val="2563EB"/>
                </a:solidFill>
                <a:latin typeface="IPAPGothic"/>
              </a:rPr>
              <a:t>A</a:t>
            </a:r>
          </a:p>
        </p:txBody>
      </p:sp>
      <p:sp>
        <p:nvSpPr>
          <p:cNvPr id="23" name="TextBox 22"/>
          <p:cNvSpPr txBox="1"/>
          <p:nvPr/>
        </p:nvSpPr>
        <p:spPr>
          <a:xfrm>
            <a:off x="5093208" y="2761488"/>
            <a:ext cx="3337560" cy="182880"/>
          </a:xfrm>
          <a:prstGeom prst="rect">
            <a:avLst/>
          </a:prstGeom>
          <a:noFill/>
        </p:spPr>
        <p:txBody>
          <a:bodyPr wrap="square"/>
          <a:lstStyle/>
          <a:p>
            <a:pPr algn="l">
              <a:spcBef>
                <a:spcPts val="0"/>
              </a:spcBef>
              <a:spcAft>
                <a:spcPts val="0"/>
              </a:spcAft>
            </a:pPr>
            <a:r>
              <a:rPr sz="800" b="1">
                <a:solidFill>
                  <a:srgbClr val="1E293B"/>
                </a:solidFill>
                <a:latin typeface="IPAPGothic"/>
              </a:rPr>
              <a:t>Pearl Soap + アンバサダー網</a:t>
            </a:r>
          </a:p>
        </p:txBody>
      </p:sp>
      <p:sp>
        <p:nvSpPr>
          <p:cNvPr id="24" name="TextBox 23"/>
          <p:cNvSpPr txBox="1"/>
          <p:nvPr/>
        </p:nvSpPr>
        <p:spPr>
          <a:xfrm>
            <a:off x="5093208" y="2962656"/>
            <a:ext cx="3337560" cy="1170432"/>
          </a:xfrm>
          <a:prstGeom prst="rect">
            <a:avLst/>
          </a:prstGeom>
          <a:noFill/>
        </p:spPr>
        <p:txBody>
          <a:bodyPr wrap="square"/>
          <a:lstStyle/>
          <a:p>
            <a:pPr algn="l">
              <a:spcBef>
                <a:spcPts val="0"/>
              </a:spcBef>
              <a:spcAft>
                <a:spcPts val="0"/>
              </a:spcAft>
            </a:pPr>
            <a:r>
              <a:rPr sz="650" b="0">
                <a:solidFill>
                  <a:srgbClr val="475569"/>
                </a:solidFill>
                <a:latin typeface="IPAPGothic"/>
              </a:rPr>
              <a:t>贈与経済の実践。全国にワークショップ展開可能な分散型運動体。エンドユーザーとの接点を提供。</a:t>
            </a:r>
          </a:p>
        </p:txBody>
      </p:sp>
      <p:sp>
        <p:nvSpPr>
          <p:cNvPr id="25" name="Rectangle 24"/>
          <p:cNvSpPr/>
          <p:nvPr/>
        </p:nvSpPr>
        <p:spPr>
          <a:xfrm>
            <a:off x="0" y="4823460"/>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48860"/>
            <a:ext cx="3657600" cy="256032"/>
          </a:xfrm>
          <a:prstGeom prst="rect">
            <a:avLst/>
          </a:prstGeom>
          <a:noFill/>
        </p:spPr>
        <p:txBody>
          <a:bodyPr wrap="square"/>
          <a:lstStyle/>
          <a:p>
            <a:pPr algn="l">
              <a:spcBef>
                <a:spcPts val="0"/>
              </a:spcBef>
              <a:spcAft>
                <a:spcPts val="0"/>
              </a:spcAft>
            </a:pPr>
            <a:r>
              <a:rPr sz="650" b="0">
                <a:solidFill>
                  <a:srgbClr val="94A3B8"/>
                </a:solidFill>
                <a:latin typeface="IPAPGothic"/>
              </a:rPr>
              <a:t>TokiStorage — 協業提案</a:t>
            </a:r>
          </a:p>
        </p:txBody>
      </p:sp>
      <p:sp>
        <p:nvSpPr>
          <p:cNvPr id="27" name="TextBox 26"/>
          <p:cNvSpPr txBox="1"/>
          <p:nvPr/>
        </p:nvSpPr>
        <p:spPr>
          <a:xfrm>
            <a:off x="3657600" y="4848860"/>
            <a:ext cx="1828800" cy="256032"/>
          </a:xfrm>
          <a:prstGeom prst="rect">
            <a:avLst/>
          </a:prstGeom>
          <a:noFill/>
        </p:spPr>
        <p:txBody>
          <a:bodyPr wrap="square"/>
          <a:lstStyle/>
          <a:p>
            <a:pPr algn="ctr">
              <a:spcBef>
                <a:spcPts val="0"/>
              </a:spcBef>
              <a:spcAft>
                <a:spcPts val="0"/>
              </a:spcAft>
            </a:pPr>
            <a:r>
              <a:rPr sz="650" b="0">
                <a:solidFill>
                  <a:srgbClr val="94A3B8"/>
                </a:solidFill>
                <a:latin typeface="IPAPGothic"/>
              </a:rPr>
              <a:t>Confidential</a:t>
            </a:r>
          </a:p>
        </p:txBody>
      </p:sp>
      <p:sp>
        <p:nvSpPr>
          <p:cNvPr id="28" name="TextBox 27"/>
          <p:cNvSpPr txBox="1"/>
          <p:nvPr/>
        </p:nvSpPr>
        <p:spPr>
          <a:xfrm>
            <a:off x="8229600" y="4848860"/>
            <a:ext cx="457200" cy="256032"/>
          </a:xfrm>
          <a:prstGeom prst="rect">
            <a:avLst/>
          </a:prstGeom>
          <a:noFill/>
        </p:spPr>
        <p:txBody>
          <a:bodyPr wrap="square"/>
          <a:lstStyle/>
          <a:p>
            <a:pPr algn="r">
              <a:spcBef>
                <a:spcPts val="0"/>
              </a:spcBef>
              <a:spcAft>
                <a:spcPts val="0"/>
              </a:spcAft>
            </a:pPr>
            <a:r>
              <a:rPr sz="650" b="1">
                <a:solidFill>
                  <a:srgbClr val="94A3B8"/>
                </a:solidFill>
                <a:latin typeface="IPAP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02920"/>
          </a:xfrm>
          <a:prstGeom prst="rect">
            <a:avLst/>
          </a:prstGeom>
          <a:noFill/>
        </p:spPr>
        <p:txBody>
          <a:bodyPr wrap="square" anchor="ctr"/>
          <a:lstStyle/>
          <a:p>
            <a:pPr algn="l">
              <a:spcBef>
                <a:spcPts val="0"/>
              </a:spcBef>
              <a:spcAft>
                <a:spcPts val="0"/>
              </a:spcAft>
            </a:pPr>
            <a:r>
              <a:rPr sz="900" b="1">
                <a:solidFill>
                  <a:srgbClr val="FFFFFF"/>
                </a:solidFill>
                <a:latin typeface="IPAPGothic"/>
              </a:rPr>
              <a:t>TokiStorageは既存デジタルサービスの「競合」ではなく「千年レイヤー」として補完する位置づけである</a:t>
            </a:r>
          </a:p>
        </p:txBody>
      </p:sp>
      <p:sp>
        <p:nvSpPr>
          <p:cNvPr id="4" name="TextBox 3"/>
          <p:cNvSpPr txBox="1"/>
          <p:nvPr/>
        </p:nvSpPr>
        <p:spPr>
          <a:xfrm>
            <a:off x="457200" y="640080"/>
            <a:ext cx="2743200" cy="228600"/>
          </a:xfrm>
          <a:prstGeom prst="rect">
            <a:avLst/>
          </a:prstGeom>
          <a:noFill/>
        </p:spPr>
        <p:txBody>
          <a:bodyPr wrap="square"/>
          <a:lstStyle/>
          <a:p>
            <a:pPr algn="l">
              <a:spcBef>
                <a:spcPts val="0"/>
              </a:spcBef>
              <a:spcAft>
                <a:spcPts val="0"/>
              </a:spcAft>
            </a:pPr>
            <a:r>
              <a:rPr sz="700" b="1">
                <a:solidFill>
                  <a:srgbClr val="2563EB"/>
                </a:solidFill>
                <a:latin typeface="IPAPGothic"/>
              </a:rPr>
              <a:t>POSITIONING</a:t>
            </a:r>
          </a:p>
        </p:txBody>
      </p:sp>
      <p:sp>
        <p:nvSpPr>
          <p:cNvPr id="5" name="Rectangle 4"/>
          <p:cNvSpPr/>
          <p:nvPr/>
        </p:nvSpPr>
        <p:spPr>
          <a:xfrm>
            <a:off x="640080" y="914400"/>
            <a:ext cx="1188720" cy="347472"/>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914400"/>
            <a:ext cx="1042416" cy="347472"/>
          </a:xfrm>
          <a:prstGeom prst="rect">
            <a:avLst/>
          </a:prstGeom>
          <a:noFill/>
        </p:spPr>
        <p:txBody>
          <a:bodyPr wrap="square" anchor="ctr"/>
          <a:lstStyle/>
          <a:p>
            <a:pPr algn="l">
              <a:spcBef>
                <a:spcPts val="0"/>
              </a:spcBef>
              <a:spcAft>
                <a:spcPts val="0"/>
              </a:spcAft>
            </a:pPr>
            <a:r>
              <a:rPr sz="650" b="1">
                <a:solidFill>
                  <a:srgbClr val="FFFFFF"/>
                </a:solidFill>
                <a:latin typeface="IPAPGothic"/>
              </a:rPr>
              <a:t/>
            </a:r>
          </a:p>
        </p:txBody>
      </p:sp>
      <p:sp>
        <p:nvSpPr>
          <p:cNvPr id="7" name="Rectangle 6"/>
          <p:cNvSpPr/>
          <p:nvPr/>
        </p:nvSpPr>
        <p:spPr>
          <a:xfrm>
            <a:off x="1828800" y="914400"/>
            <a:ext cx="3291840" cy="347472"/>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901952" y="914400"/>
            <a:ext cx="3145536" cy="347472"/>
          </a:xfrm>
          <a:prstGeom prst="rect">
            <a:avLst/>
          </a:prstGeom>
          <a:noFill/>
        </p:spPr>
        <p:txBody>
          <a:bodyPr wrap="square" anchor="ctr"/>
          <a:lstStyle/>
          <a:p>
            <a:pPr algn="l">
              <a:spcBef>
                <a:spcPts val="0"/>
              </a:spcBef>
              <a:spcAft>
                <a:spcPts val="0"/>
              </a:spcAft>
            </a:pPr>
            <a:r>
              <a:rPr sz="650" b="1">
                <a:solidFill>
                  <a:srgbClr val="FFFFFF"/>
                </a:solidFill>
                <a:latin typeface="IPAPGothic"/>
              </a:rPr>
              <a:t>デジタルサービス（日常の記録）</a:t>
            </a:r>
          </a:p>
        </p:txBody>
      </p:sp>
      <p:sp>
        <p:nvSpPr>
          <p:cNvPr id="9" name="Rectangle 8"/>
          <p:cNvSpPr/>
          <p:nvPr/>
        </p:nvSpPr>
        <p:spPr>
          <a:xfrm>
            <a:off x="5120640" y="914400"/>
            <a:ext cx="3383280" cy="347472"/>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93792" y="914400"/>
            <a:ext cx="3236976" cy="347472"/>
          </a:xfrm>
          <a:prstGeom prst="rect">
            <a:avLst/>
          </a:prstGeom>
          <a:noFill/>
        </p:spPr>
        <p:txBody>
          <a:bodyPr wrap="square" anchor="ctr"/>
          <a:lstStyle/>
          <a:p>
            <a:pPr algn="l">
              <a:spcBef>
                <a:spcPts val="0"/>
              </a:spcBef>
              <a:spcAft>
                <a:spcPts val="0"/>
              </a:spcAft>
            </a:pPr>
            <a:r>
              <a:rPr sz="650" b="1">
                <a:solidFill>
                  <a:srgbClr val="FFFFFF"/>
                </a:solidFill>
                <a:latin typeface="IPAPGothic"/>
              </a:rPr>
              <a:t>TokiStorage（千年の記録）</a:t>
            </a:r>
          </a:p>
        </p:txBody>
      </p:sp>
      <p:sp>
        <p:nvSpPr>
          <p:cNvPr id="11" name="Rectangle 10"/>
          <p:cNvSpPr/>
          <p:nvPr/>
        </p:nvSpPr>
        <p:spPr>
          <a:xfrm>
            <a:off x="640080" y="1261872"/>
            <a:ext cx="1188720" cy="34747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1261872"/>
            <a:ext cx="1042416" cy="347472"/>
          </a:xfrm>
          <a:prstGeom prst="rect">
            <a:avLst/>
          </a:prstGeom>
          <a:noFill/>
        </p:spPr>
        <p:txBody>
          <a:bodyPr wrap="square" anchor="ctr"/>
          <a:lstStyle/>
          <a:p>
            <a:pPr algn="l">
              <a:spcBef>
                <a:spcPts val="0"/>
              </a:spcBef>
              <a:spcAft>
                <a:spcPts val="0"/>
              </a:spcAft>
            </a:pPr>
            <a:r>
              <a:rPr sz="700" b="1">
                <a:solidFill>
                  <a:srgbClr val="1E293B"/>
                </a:solidFill>
                <a:latin typeface="IPAPGothic"/>
              </a:rPr>
              <a:t>記録媒体</a:t>
            </a:r>
          </a:p>
        </p:txBody>
      </p:sp>
      <p:sp>
        <p:nvSpPr>
          <p:cNvPr id="13" name="Rectangle 12"/>
          <p:cNvSpPr/>
          <p:nvPr/>
        </p:nvSpPr>
        <p:spPr>
          <a:xfrm>
            <a:off x="1828800" y="1261872"/>
            <a:ext cx="3291840" cy="34747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01952" y="1261872"/>
            <a:ext cx="3145536" cy="347472"/>
          </a:xfrm>
          <a:prstGeom prst="rect">
            <a:avLst/>
          </a:prstGeom>
          <a:noFill/>
        </p:spPr>
        <p:txBody>
          <a:bodyPr wrap="square" anchor="ctr"/>
          <a:lstStyle/>
          <a:p>
            <a:pPr algn="l">
              <a:spcBef>
                <a:spcPts val="0"/>
              </a:spcBef>
              <a:spcAft>
                <a:spcPts val="0"/>
              </a:spcAft>
            </a:pPr>
            <a:r>
              <a:rPr sz="700" b="0">
                <a:solidFill>
                  <a:srgbClr val="475569"/>
                </a:solidFill>
                <a:latin typeface="IPAPGothic"/>
              </a:rPr>
              <a:t>クラウド / HDD</a:t>
            </a:r>
          </a:p>
        </p:txBody>
      </p:sp>
      <p:sp>
        <p:nvSpPr>
          <p:cNvPr id="15" name="Rectangle 14"/>
          <p:cNvSpPr/>
          <p:nvPr/>
        </p:nvSpPr>
        <p:spPr>
          <a:xfrm>
            <a:off x="5120640" y="1261872"/>
            <a:ext cx="3383280" cy="347472"/>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93792" y="1261872"/>
            <a:ext cx="3236976" cy="347472"/>
          </a:xfrm>
          <a:prstGeom prst="rect">
            <a:avLst/>
          </a:prstGeom>
          <a:noFill/>
        </p:spPr>
        <p:txBody>
          <a:bodyPr wrap="square" anchor="ctr"/>
          <a:lstStyle/>
          <a:p>
            <a:pPr algn="l">
              <a:spcBef>
                <a:spcPts val="0"/>
              </a:spcBef>
              <a:spcAft>
                <a:spcPts val="0"/>
              </a:spcAft>
            </a:pPr>
            <a:r>
              <a:rPr sz="700" b="0">
                <a:solidFill>
                  <a:srgbClr val="1D4ED8"/>
                </a:solidFill>
                <a:latin typeface="IPAPGothic"/>
              </a:rPr>
              <a:t>石英ガラス（物理）</a:t>
            </a:r>
          </a:p>
        </p:txBody>
      </p:sp>
      <p:sp>
        <p:nvSpPr>
          <p:cNvPr id="17" name="Rectangle 16"/>
          <p:cNvSpPr/>
          <p:nvPr/>
        </p:nvSpPr>
        <p:spPr>
          <a:xfrm>
            <a:off x="640080" y="1609344"/>
            <a:ext cx="1188720" cy="34747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1609344"/>
            <a:ext cx="1042416" cy="347472"/>
          </a:xfrm>
          <a:prstGeom prst="rect">
            <a:avLst/>
          </a:prstGeom>
          <a:noFill/>
        </p:spPr>
        <p:txBody>
          <a:bodyPr wrap="square" anchor="ctr"/>
          <a:lstStyle/>
          <a:p>
            <a:pPr algn="l">
              <a:spcBef>
                <a:spcPts val="0"/>
              </a:spcBef>
              <a:spcAft>
                <a:spcPts val="0"/>
              </a:spcAft>
            </a:pPr>
            <a:r>
              <a:rPr sz="700" b="1">
                <a:solidFill>
                  <a:srgbClr val="1E293B"/>
                </a:solidFill>
                <a:latin typeface="IPAPGothic"/>
              </a:rPr>
              <a:t>得意な時間軸</a:t>
            </a:r>
          </a:p>
        </p:txBody>
      </p:sp>
      <p:sp>
        <p:nvSpPr>
          <p:cNvPr id="19" name="Rectangle 18"/>
          <p:cNvSpPr/>
          <p:nvPr/>
        </p:nvSpPr>
        <p:spPr>
          <a:xfrm>
            <a:off x="1828800" y="1609344"/>
            <a:ext cx="3291840" cy="34747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01952" y="1609344"/>
            <a:ext cx="3145536" cy="347472"/>
          </a:xfrm>
          <a:prstGeom prst="rect">
            <a:avLst/>
          </a:prstGeom>
          <a:noFill/>
        </p:spPr>
        <p:txBody>
          <a:bodyPr wrap="square" anchor="ctr"/>
          <a:lstStyle/>
          <a:p>
            <a:pPr algn="l">
              <a:spcBef>
                <a:spcPts val="0"/>
              </a:spcBef>
              <a:spcAft>
                <a:spcPts val="0"/>
              </a:spcAft>
            </a:pPr>
            <a:r>
              <a:rPr sz="700" b="0">
                <a:solidFill>
                  <a:srgbClr val="475569"/>
                </a:solidFill>
                <a:latin typeface="IPAPGothic"/>
              </a:rPr>
              <a:t>今〜数十年（日常利用に最適）</a:t>
            </a:r>
          </a:p>
        </p:txBody>
      </p:sp>
      <p:sp>
        <p:nvSpPr>
          <p:cNvPr id="21" name="Rectangle 20"/>
          <p:cNvSpPr/>
          <p:nvPr/>
        </p:nvSpPr>
        <p:spPr>
          <a:xfrm>
            <a:off x="5120640" y="1609344"/>
            <a:ext cx="3383280" cy="347472"/>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93792" y="1609344"/>
            <a:ext cx="3236976" cy="347472"/>
          </a:xfrm>
          <a:prstGeom prst="rect">
            <a:avLst/>
          </a:prstGeom>
          <a:noFill/>
        </p:spPr>
        <p:txBody>
          <a:bodyPr wrap="square" anchor="ctr"/>
          <a:lstStyle/>
          <a:p>
            <a:pPr algn="l">
              <a:spcBef>
                <a:spcPts val="0"/>
              </a:spcBef>
              <a:spcAft>
                <a:spcPts val="0"/>
              </a:spcAft>
            </a:pPr>
            <a:r>
              <a:rPr sz="700" b="0">
                <a:solidFill>
                  <a:srgbClr val="1D4ED8"/>
                </a:solidFill>
                <a:latin typeface="IPAPGothic"/>
              </a:rPr>
              <a:t>100年〜1000年（永続保存に特化）</a:t>
            </a:r>
          </a:p>
        </p:txBody>
      </p:sp>
      <p:sp>
        <p:nvSpPr>
          <p:cNvPr id="23" name="Rectangle 22"/>
          <p:cNvSpPr/>
          <p:nvPr/>
        </p:nvSpPr>
        <p:spPr>
          <a:xfrm>
            <a:off x="640080" y="1956816"/>
            <a:ext cx="1188720" cy="34747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1956816"/>
            <a:ext cx="1042416" cy="347472"/>
          </a:xfrm>
          <a:prstGeom prst="rect">
            <a:avLst/>
          </a:prstGeom>
          <a:noFill/>
        </p:spPr>
        <p:txBody>
          <a:bodyPr wrap="square" anchor="ctr"/>
          <a:lstStyle/>
          <a:p>
            <a:pPr algn="l">
              <a:spcBef>
                <a:spcPts val="0"/>
              </a:spcBef>
              <a:spcAft>
                <a:spcPts val="0"/>
              </a:spcAft>
            </a:pPr>
            <a:r>
              <a:rPr sz="700" b="1">
                <a:solidFill>
                  <a:srgbClr val="1E293B"/>
                </a:solidFill>
                <a:latin typeface="IPAPGothic"/>
              </a:rPr>
              <a:t>インフラ</a:t>
            </a:r>
          </a:p>
        </p:txBody>
      </p:sp>
      <p:sp>
        <p:nvSpPr>
          <p:cNvPr id="25" name="Rectangle 24"/>
          <p:cNvSpPr/>
          <p:nvPr/>
        </p:nvSpPr>
        <p:spPr>
          <a:xfrm>
            <a:off x="1828800" y="1956816"/>
            <a:ext cx="3291840" cy="34747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901952" y="1956816"/>
            <a:ext cx="3145536" cy="347472"/>
          </a:xfrm>
          <a:prstGeom prst="rect">
            <a:avLst/>
          </a:prstGeom>
          <a:noFill/>
        </p:spPr>
        <p:txBody>
          <a:bodyPr wrap="square" anchor="ctr"/>
          <a:lstStyle/>
          <a:p>
            <a:pPr algn="l">
              <a:spcBef>
                <a:spcPts val="0"/>
              </a:spcBef>
              <a:spcAft>
                <a:spcPts val="0"/>
              </a:spcAft>
            </a:pPr>
            <a:r>
              <a:rPr sz="700" b="0">
                <a:solidFill>
                  <a:srgbClr val="475569"/>
                </a:solidFill>
                <a:latin typeface="IPAPGothic"/>
              </a:rPr>
              <a:t>サーバー・電源（利便性の源泉）</a:t>
            </a:r>
          </a:p>
        </p:txBody>
      </p:sp>
      <p:sp>
        <p:nvSpPr>
          <p:cNvPr id="27" name="Rectangle 26"/>
          <p:cNvSpPr/>
          <p:nvPr/>
        </p:nvSpPr>
        <p:spPr>
          <a:xfrm>
            <a:off x="5120640" y="1956816"/>
            <a:ext cx="3383280" cy="347472"/>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93792" y="1956816"/>
            <a:ext cx="3236976" cy="347472"/>
          </a:xfrm>
          <a:prstGeom prst="rect">
            <a:avLst/>
          </a:prstGeom>
          <a:noFill/>
        </p:spPr>
        <p:txBody>
          <a:bodyPr wrap="square" anchor="ctr"/>
          <a:lstStyle/>
          <a:p>
            <a:pPr algn="l">
              <a:spcBef>
                <a:spcPts val="0"/>
              </a:spcBef>
              <a:spcAft>
                <a:spcPts val="0"/>
              </a:spcAft>
            </a:pPr>
            <a:r>
              <a:rPr sz="700" b="0">
                <a:solidFill>
                  <a:srgbClr val="1D4ED8"/>
                </a:solidFill>
                <a:latin typeface="IPAPGothic"/>
              </a:rPr>
              <a:t>不要（GitHub分散管理）</a:t>
            </a:r>
          </a:p>
        </p:txBody>
      </p:sp>
      <p:sp>
        <p:nvSpPr>
          <p:cNvPr id="29" name="Rectangle 28"/>
          <p:cNvSpPr/>
          <p:nvPr/>
        </p:nvSpPr>
        <p:spPr>
          <a:xfrm>
            <a:off x="640080" y="2304288"/>
            <a:ext cx="1188720" cy="34747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2304288"/>
            <a:ext cx="1042416" cy="347472"/>
          </a:xfrm>
          <a:prstGeom prst="rect">
            <a:avLst/>
          </a:prstGeom>
          <a:noFill/>
        </p:spPr>
        <p:txBody>
          <a:bodyPr wrap="square" anchor="ctr"/>
          <a:lstStyle/>
          <a:p>
            <a:pPr algn="l">
              <a:spcBef>
                <a:spcPts val="0"/>
              </a:spcBef>
              <a:spcAft>
                <a:spcPts val="0"/>
              </a:spcAft>
            </a:pPr>
            <a:r>
              <a:rPr sz="700" b="1">
                <a:solidFill>
                  <a:srgbClr val="1E293B"/>
                </a:solidFill>
                <a:latin typeface="IPAPGothic"/>
              </a:rPr>
              <a:t>読み取り</a:t>
            </a:r>
          </a:p>
        </p:txBody>
      </p:sp>
      <p:sp>
        <p:nvSpPr>
          <p:cNvPr id="31" name="Rectangle 30"/>
          <p:cNvSpPr/>
          <p:nvPr/>
        </p:nvSpPr>
        <p:spPr>
          <a:xfrm>
            <a:off x="1828800" y="2304288"/>
            <a:ext cx="3291840" cy="34747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01952" y="2304288"/>
            <a:ext cx="3145536" cy="347472"/>
          </a:xfrm>
          <a:prstGeom prst="rect">
            <a:avLst/>
          </a:prstGeom>
          <a:noFill/>
        </p:spPr>
        <p:txBody>
          <a:bodyPr wrap="square" anchor="ctr"/>
          <a:lstStyle/>
          <a:p>
            <a:pPr algn="l">
              <a:spcBef>
                <a:spcPts val="0"/>
              </a:spcBef>
              <a:spcAft>
                <a:spcPts val="0"/>
              </a:spcAft>
            </a:pPr>
            <a:r>
              <a:rPr sz="700" b="0">
                <a:solidFill>
                  <a:srgbClr val="475569"/>
                </a:solidFill>
                <a:latin typeface="IPAPGothic"/>
              </a:rPr>
              <a:t>専用アプリ / ログイン</a:t>
            </a:r>
          </a:p>
        </p:txBody>
      </p:sp>
      <p:sp>
        <p:nvSpPr>
          <p:cNvPr id="33" name="Rectangle 32"/>
          <p:cNvSpPr/>
          <p:nvPr/>
        </p:nvSpPr>
        <p:spPr>
          <a:xfrm>
            <a:off x="5120640" y="2304288"/>
            <a:ext cx="3383280" cy="347472"/>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3792" y="2304288"/>
            <a:ext cx="3236976" cy="347472"/>
          </a:xfrm>
          <a:prstGeom prst="rect">
            <a:avLst/>
          </a:prstGeom>
          <a:noFill/>
        </p:spPr>
        <p:txBody>
          <a:bodyPr wrap="square" anchor="ctr"/>
          <a:lstStyle/>
          <a:p>
            <a:pPr algn="l">
              <a:spcBef>
                <a:spcPts val="0"/>
              </a:spcBef>
              <a:spcAft>
                <a:spcPts val="0"/>
              </a:spcAft>
            </a:pPr>
            <a:r>
              <a:rPr sz="700" b="0">
                <a:solidFill>
                  <a:srgbClr val="1D4ED8"/>
                </a:solidFill>
                <a:latin typeface="IPAPGothic"/>
              </a:rPr>
              <a:t>スマホのカメラだけ</a:t>
            </a:r>
          </a:p>
        </p:txBody>
      </p:sp>
      <p:sp>
        <p:nvSpPr>
          <p:cNvPr id="35" name="Rectangle 34"/>
          <p:cNvSpPr/>
          <p:nvPr/>
        </p:nvSpPr>
        <p:spPr>
          <a:xfrm>
            <a:off x="640080" y="2651760"/>
            <a:ext cx="1188720" cy="34747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3232" y="2651760"/>
            <a:ext cx="1042416" cy="347472"/>
          </a:xfrm>
          <a:prstGeom prst="rect">
            <a:avLst/>
          </a:prstGeom>
          <a:noFill/>
        </p:spPr>
        <p:txBody>
          <a:bodyPr wrap="square" anchor="ctr"/>
          <a:lstStyle/>
          <a:p>
            <a:pPr algn="l">
              <a:spcBef>
                <a:spcPts val="0"/>
              </a:spcBef>
              <a:spcAft>
                <a:spcPts val="0"/>
              </a:spcAft>
            </a:pPr>
            <a:r>
              <a:rPr sz="700" b="1">
                <a:solidFill>
                  <a:srgbClr val="1E293B"/>
                </a:solidFill>
                <a:latin typeface="IPAPGothic"/>
              </a:rPr>
              <a:t>文化的厚み</a:t>
            </a:r>
          </a:p>
        </p:txBody>
      </p:sp>
      <p:sp>
        <p:nvSpPr>
          <p:cNvPr id="37" name="Rectangle 36"/>
          <p:cNvSpPr/>
          <p:nvPr/>
        </p:nvSpPr>
        <p:spPr>
          <a:xfrm>
            <a:off x="1828800" y="2651760"/>
            <a:ext cx="3291840" cy="34747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901952" y="2651760"/>
            <a:ext cx="3145536" cy="347472"/>
          </a:xfrm>
          <a:prstGeom prst="rect">
            <a:avLst/>
          </a:prstGeom>
          <a:noFill/>
        </p:spPr>
        <p:txBody>
          <a:bodyPr wrap="square" anchor="ctr"/>
          <a:lstStyle/>
          <a:p>
            <a:pPr algn="l">
              <a:spcBef>
                <a:spcPts val="0"/>
              </a:spcBef>
              <a:spcAft>
                <a:spcPts val="0"/>
              </a:spcAft>
            </a:pPr>
            <a:r>
              <a:rPr sz="700" b="0">
                <a:solidFill>
                  <a:srgbClr val="475569"/>
                </a:solidFill>
                <a:latin typeface="IPAPGothic"/>
              </a:rPr>
              <a:t>機能・利便性が価値の中心</a:t>
            </a:r>
          </a:p>
        </p:txBody>
      </p:sp>
      <p:sp>
        <p:nvSpPr>
          <p:cNvPr id="39" name="Rectangle 38"/>
          <p:cNvSpPr/>
          <p:nvPr/>
        </p:nvSpPr>
        <p:spPr>
          <a:xfrm>
            <a:off x="5120640" y="2651760"/>
            <a:ext cx="3383280" cy="347472"/>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193792" y="2651760"/>
            <a:ext cx="3236976" cy="347472"/>
          </a:xfrm>
          <a:prstGeom prst="rect">
            <a:avLst/>
          </a:prstGeom>
          <a:noFill/>
        </p:spPr>
        <p:txBody>
          <a:bodyPr wrap="square" anchor="ctr"/>
          <a:lstStyle/>
          <a:p>
            <a:pPr algn="l">
              <a:spcBef>
                <a:spcPts val="0"/>
              </a:spcBef>
              <a:spcAft>
                <a:spcPts val="0"/>
              </a:spcAft>
            </a:pPr>
            <a:r>
              <a:rPr sz="700" b="0">
                <a:solidFill>
                  <a:srgbClr val="1D4ED8"/>
                </a:solidFill>
                <a:latin typeface="IPAPGothic"/>
              </a:rPr>
              <a:t>70+ エッセイ＋贈与経済の実践</a:t>
            </a:r>
          </a:p>
        </p:txBody>
      </p:sp>
      <p:sp>
        <p:nvSpPr>
          <p:cNvPr id="41" name="Rectangle 40"/>
          <p:cNvSpPr/>
          <p:nvPr/>
        </p:nvSpPr>
        <p:spPr>
          <a:xfrm>
            <a:off x="640080" y="2999232"/>
            <a:ext cx="1188720" cy="34747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3232" y="2999232"/>
            <a:ext cx="1042416" cy="347472"/>
          </a:xfrm>
          <a:prstGeom prst="rect">
            <a:avLst/>
          </a:prstGeom>
          <a:noFill/>
        </p:spPr>
        <p:txBody>
          <a:bodyPr wrap="square" anchor="ctr"/>
          <a:lstStyle/>
          <a:p>
            <a:pPr algn="l">
              <a:spcBef>
                <a:spcPts val="0"/>
              </a:spcBef>
              <a:spcAft>
                <a:spcPts val="0"/>
              </a:spcAft>
            </a:pPr>
            <a:r>
              <a:rPr sz="700" b="1">
                <a:solidFill>
                  <a:srgbClr val="1E293B"/>
                </a:solidFill>
                <a:latin typeface="IPAPGothic"/>
              </a:rPr>
              <a:t>社会的接点</a:t>
            </a:r>
          </a:p>
        </p:txBody>
      </p:sp>
      <p:sp>
        <p:nvSpPr>
          <p:cNvPr id="43" name="Rectangle 42"/>
          <p:cNvSpPr/>
          <p:nvPr/>
        </p:nvSpPr>
        <p:spPr>
          <a:xfrm>
            <a:off x="1828800" y="2999232"/>
            <a:ext cx="3291840" cy="34747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901952" y="2999232"/>
            <a:ext cx="3145536" cy="347472"/>
          </a:xfrm>
          <a:prstGeom prst="rect">
            <a:avLst/>
          </a:prstGeom>
          <a:noFill/>
        </p:spPr>
        <p:txBody>
          <a:bodyPr wrap="square" anchor="ctr"/>
          <a:lstStyle/>
          <a:p>
            <a:pPr algn="l">
              <a:spcBef>
                <a:spcPts val="0"/>
              </a:spcBef>
              <a:spcAft>
                <a:spcPts val="0"/>
              </a:spcAft>
            </a:pPr>
            <a:r>
              <a:rPr sz="700" b="0">
                <a:solidFill>
                  <a:srgbClr val="475569"/>
                </a:solidFill>
                <a:latin typeface="IPAPGothic"/>
              </a:rPr>
              <a:t>プラットフォームとしての貢献</a:t>
            </a:r>
          </a:p>
        </p:txBody>
      </p:sp>
      <p:sp>
        <p:nvSpPr>
          <p:cNvPr id="45" name="Rectangle 44"/>
          <p:cNvSpPr/>
          <p:nvPr/>
        </p:nvSpPr>
        <p:spPr>
          <a:xfrm>
            <a:off x="5120640" y="2999232"/>
            <a:ext cx="3383280" cy="347472"/>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93792" y="2999232"/>
            <a:ext cx="3236976" cy="347472"/>
          </a:xfrm>
          <a:prstGeom prst="rect">
            <a:avLst/>
          </a:prstGeom>
          <a:noFill/>
        </p:spPr>
        <p:txBody>
          <a:bodyPr wrap="square" anchor="ctr"/>
          <a:lstStyle/>
          <a:p>
            <a:pPr algn="l">
              <a:spcBef>
                <a:spcPts val="0"/>
              </a:spcBef>
              <a:spcAft>
                <a:spcPts val="0"/>
              </a:spcAft>
            </a:pPr>
            <a:r>
              <a:rPr sz="700" b="0">
                <a:solidFill>
                  <a:srgbClr val="1D4ED8"/>
                </a:solidFill>
                <a:latin typeface="IPAPGothic"/>
              </a:rPr>
              <a:t>SoulCarrier（無縁墓・遺骨送還活動）</a:t>
            </a:r>
          </a:p>
        </p:txBody>
      </p:sp>
      <p:sp>
        <p:nvSpPr>
          <p:cNvPr id="47" name="Rectangle 46"/>
          <p:cNvSpPr/>
          <p:nvPr/>
        </p:nvSpPr>
        <p:spPr>
          <a:xfrm>
            <a:off x="0" y="4823460"/>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4848860"/>
            <a:ext cx="3657600" cy="256032"/>
          </a:xfrm>
          <a:prstGeom prst="rect">
            <a:avLst/>
          </a:prstGeom>
          <a:noFill/>
        </p:spPr>
        <p:txBody>
          <a:bodyPr wrap="square"/>
          <a:lstStyle/>
          <a:p>
            <a:pPr algn="l">
              <a:spcBef>
                <a:spcPts val="0"/>
              </a:spcBef>
              <a:spcAft>
                <a:spcPts val="0"/>
              </a:spcAft>
            </a:pPr>
            <a:r>
              <a:rPr sz="650" b="0">
                <a:solidFill>
                  <a:srgbClr val="94A3B8"/>
                </a:solidFill>
                <a:latin typeface="IPAPGothic"/>
              </a:rPr>
              <a:t>TokiStorage — 協業提案</a:t>
            </a:r>
          </a:p>
        </p:txBody>
      </p:sp>
      <p:sp>
        <p:nvSpPr>
          <p:cNvPr id="49" name="TextBox 48"/>
          <p:cNvSpPr txBox="1"/>
          <p:nvPr/>
        </p:nvSpPr>
        <p:spPr>
          <a:xfrm>
            <a:off x="3657600" y="4848860"/>
            <a:ext cx="1828800" cy="256032"/>
          </a:xfrm>
          <a:prstGeom prst="rect">
            <a:avLst/>
          </a:prstGeom>
          <a:noFill/>
        </p:spPr>
        <p:txBody>
          <a:bodyPr wrap="square"/>
          <a:lstStyle/>
          <a:p>
            <a:pPr algn="ctr">
              <a:spcBef>
                <a:spcPts val="0"/>
              </a:spcBef>
              <a:spcAft>
                <a:spcPts val="0"/>
              </a:spcAft>
            </a:pPr>
            <a:r>
              <a:rPr sz="650" b="0">
                <a:solidFill>
                  <a:srgbClr val="94A3B8"/>
                </a:solidFill>
                <a:latin typeface="IPAPGothic"/>
              </a:rPr>
              <a:t>Confidential</a:t>
            </a:r>
          </a:p>
        </p:txBody>
      </p:sp>
      <p:sp>
        <p:nvSpPr>
          <p:cNvPr id="50" name="TextBox 49"/>
          <p:cNvSpPr txBox="1"/>
          <p:nvPr/>
        </p:nvSpPr>
        <p:spPr>
          <a:xfrm>
            <a:off x="8229600" y="4848860"/>
            <a:ext cx="457200" cy="256032"/>
          </a:xfrm>
          <a:prstGeom prst="rect">
            <a:avLst/>
          </a:prstGeom>
          <a:noFill/>
        </p:spPr>
        <p:txBody>
          <a:bodyPr wrap="square"/>
          <a:lstStyle/>
          <a:p>
            <a:pPr algn="r">
              <a:spcBef>
                <a:spcPts val="0"/>
              </a:spcBef>
              <a:spcAft>
                <a:spcPts val="0"/>
              </a:spcAft>
            </a:pPr>
            <a:r>
              <a:rPr sz="650" b="1">
                <a:solidFill>
                  <a:srgbClr val="94A3B8"/>
                </a:solidFill>
                <a:latin typeface="IPAP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02920"/>
          </a:xfrm>
          <a:prstGeom prst="rect">
            <a:avLst/>
          </a:prstGeom>
          <a:noFill/>
        </p:spPr>
        <p:txBody>
          <a:bodyPr wrap="square" anchor="ctr"/>
          <a:lstStyle/>
          <a:p>
            <a:pPr algn="l">
              <a:spcBef>
                <a:spcPts val="0"/>
              </a:spcBef>
              <a:spcAft>
                <a:spcPts val="0"/>
              </a:spcAft>
            </a:pPr>
            <a:r>
              <a:rPr sz="900" b="1">
                <a:solidFill>
                  <a:srgbClr val="FFFFFF"/>
                </a:solidFill>
                <a:latin typeface="IPAPGothic"/>
              </a:rPr>
              <a:t>貴社のビジネスモデルに応じた3つの提携モデルを用意しており、段階的な移行も可能</a:t>
            </a:r>
          </a:p>
        </p:txBody>
      </p:sp>
      <p:sp>
        <p:nvSpPr>
          <p:cNvPr id="4" name="TextBox 3"/>
          <p:cNvSpPr txBox="1"/>
          <p:nvPr/>
        </p:nvSpPr>
        <p:spPr>
          <a:xfrm>
            <a:off x="457200" y="640080"/>
            <a:ext cx="2743200" cy="228600"/>
          </a:xfrm>
          <a:prstGeom prst="rect">
            <a:avLst/>
          </a:prstGeom>
          <a:noFill/>
        </p:spPr>
        <p:txBody>
          <a:bodyPr wrap="square"/>
          <a:lstStyle/>
          <a:p>
            <a:pPr algn="l">
              <a:spcBef>
                <a:spcPts val="0"/>
              </a:spcBef>
              <a:spcAft>
                <a:spcPts val="0"/>
              </a:spcAft>
            </a:pPr>
            <a:r>
              <a:rPr sz="700" b="1">
                <a:solidFill>
                  <a:srgbClr val="2563EB"/>
                </a:solidFill>
                <a:latin typeface="IPAPGothic"/>
              </a:rPr>
              <a:t>PARTNERSHIP MODELS</a:t>
            </a:r>
          </a:p>
        </p:txBody>
      </p:sp>
      <p:sp>
        <p:nvSpPr>
          <p:cNvPr id="5" name="Rectangle 4"/>
          <p:cNvSpPr/>
          <p:nvPr/>
        </p:nvSpPr>
        <p:spPr>
          <a:xfrm>
            <a:off x="457200" y="914400"/>
            <a:ext cx="7863840" cy="68580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005840"/>
            <a:ext cx="502920" cy="5029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05840"/>
            <a:ext cx="502920" cy="502920"/>
          </a:xfrm>
          <a:prstGeom prst="rect">
            <a:avLst/>
          </a:prstGeom>
          <a:noFill/>
        </p:spPr>
        <p:txBody>
          <a:bodyPr wrap="square" anchor="ctr"/>
          <a:lstStyle/>
          <a:p>
            <a:pPr algn="ctr">
              <a:spcBef>
                <a:spcPts val="0"/>
              </a:spcBef>
              <a:spcAft>
                <a:spcPts val="0"/>
              </a:spcAft>
            </a:pPr>
            <a:r>
              <a:rPr sz="600" b="1">
                <a:solidFill>
                  <a:srgbClr val="FFFFFF"/>
                </a:solidFill>
                <a:latin typeface="IPAPGothic"/>
              </a:rPr>
              <a:t>紹介
モデル</a:t>
            </a:r>
          </a:p>
        </p:txBody>
      </p:sp>
      <p:sp>
        <p:nvSpPr>
          <p:cNvPr id="8" name="TextBox 7"/>
          <p:cNvSpPr txBox="1"/>
          <p:nvPr/>
        </p:nvSpPr>
        <p:spPr>
          <a:xfrm>
            <a:off x="1188720" y="987552"/>
            <a:ext cx="6995160" cy="182880"/>
          </a:xfrm>
          <a:prstGeom prst="rect">
            <a:avLst/>
          </a:prstGeom>
          <a:noFill/>
        </p:spPr>
        <p:txBody>
          <a:bodyPr wrap="square"/>
          <a:lstStyle/>
          <a:p>
            <a:pPr algn="l">
              <a:spcBef>
                <a:spcPts val="0"/>
              </a:spcBef>
              <a:spcAft>
                <a:spcPts val="0"/>
              </a:spcAft>
            </a:pPr>
            <a:r>
              <a:rPr sz="750" b="1">
                <a:solidFill>
                  <a:srgbClr val="1E293B"/>
                </a:solidFill>
                <a:latin typeface="IPAPGothic"/>
              </a:rPr>
              <a:t>A. クライアント紹介型パートナーシップ</a:t>
            </a:r>
          </a:p>
        </p:txBody>
      </p:sp>
      <p:sp>
        <p:nvSpPr>
          <p:cNvPr id="9" name="TextBox 8"/>
          <p:cNvSpPr txBox="1"/>
          <p:nvPr/>
        </p:nvSpPr>
        <p:spPr>
          <a:xfrm>
            <a:off x="1188720" y="1170432"/>
            <a:ext cx="6995160" cy="228600"/>
          </a:xfrm>
          <a:prstGeom prst="rect">
            <a:avLst/>
          </a:prstGeom>
          <a:noFill/>
        </p:spPr>
        <p:txBody>
          <a:bodyPr wrap="square"/>
          <a:lstStyle/>
          <a:p>
            <a:pPr algn="l">
              <a:spcBef>
                <a:spcPts val="0"/>
              </a:spcBef>
              <a:spcAft>
                <a:spcPts val="0"/>
              </a:spcAft>
            </a:pPr>
            <a:r>
              <a:rPr sz="650" b="0">
                <a:solidFill>
                  <a:srgbClr val="475569"/>
                </a:solidFill>
                <a:latin typeface="IPAPGothic"/>
              </a:rPr>
              <a:t>紹介ベースで連携。リファラルフィーをお支払い。クライアント対応・納品はTokiStorage側で完結。</a:t>
            </a:r>
          </a:p>
        </p:txBody>
      </p:sp>
      <p:sp>
        <p:nvSpPr>
          <p:cNvPr id="10" name="TextBox 9"/>
          <p:cNvSpPr txBox="1"/>
          <p:nvPr/>
        </p:nvSpPr>
        <p:spPr>
          <a:xfrm>
            <a:off x="1188720" y="1389888"/>
            <a:ext cx="6995160" cy="182880"/>
          </a:xfrm>
          <a:prstGeom prst="rect">
            <a:avLst/>
          </a:prstGeom>
          <a:noFill/>
        </p:spPr>
        <p:txBody>
          <a:bodyPr wrap="square"/>
          <a:lstStyle/>
          <a:p>
            <a:pPr algn="l">
              <a:spcBef>
                <a:spcPts val="0"/>
              </a:spcBef>
              <a:spcAft>
                <a:spcPts val="0"/>
              </a:spcAft>
            </a:pPr>
            <a:r>
              <a:rPr sz="600" b="0">
                <a:solidFill>
                  <a:srgbClr val="2563EB"/>
                </a:solidFill>
                <a:latin typeface="IPAPGothic"/>
              </a:rPr>
              <a:t>例：終活コンサル→存在証明を提案 / 葬祭業DX→メモリアルオプション追加</a:t>
            </a:r>
          </a:p>
        </p:txBody>
      </p:sp>
      <p:sp>
        <p:nvSpPr>
          <p:cNvPr id="11" name="Rectangle 10"/>
          <p:cNvSpPr/>
          <p:nvPr/>
        </p:nvSpPr>
        <p:spPr>
          <a:xfrm>
            <a:off x="457200" y="1709928"/>
            <a:ext cx="7863840" cy="68580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1801368"/>
            <a:ext cx="502920" cy="50292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801368"/>
            <a:ext cx="502920" cy="502920"/>
          </a:xfrm>
          <a:prstGeom prst="rect">
            <a:avLst/>
          </a:prstGeom>
          <a:noFill/>
        </p:spPr>
        <p:txBody>
          <a:bodyPr wrap="square" anchor="ctr"/>
          <a:lstStyle/>
          <a:p>
            <a:pPr algn="ctr">
              <a:spcBef>
                <a:spcPts val="0"/>
              </a:spcBef>
              <a:spcAft>
                <a:spcPts val="0"/>
              </a:spcAft>
            </a:pPr>
            <a:r>
              <a:rPr sz="600" b="1">
                <a:solidFill>
                  <a:srgbClr val="FFFFFF"/>
                </a:solidFill>
                <a:latin typeface="IPAPGothic"/>
              </a:rPr>
              <a:t>共同
提案</a:t>
            </a:r>
          </a:p>
        </p:txBody>
      </p:sp>
      <p:sp>
        <p:nvSpPr>
          <p:cNvPr id="14" name="TextBox 13"/>
          <p:cNvSpPr txBox="1"/>
          <p:nvPr/>
        </p:nvSpPr>
        <p:spPr>
          <a:xfrm>
            <a:off x="1188720" y="1783080"/>
            <a:ext cx="6995160" cy="182880"/>
          </a:xfrm>
          <a:prstGeom prst="rect">
            <a:avLst/>
          </a:prstGeom>
          <a:noFill/>
        </p:spPr>
        <p:txBody>
          <a:bodyPr wrap="square"/>
          <a:lstStyle/>
          <a:p>
            <a:pPr algn="l">
              <a:spcBef>
                <a:spcPts val="0"/>
              </a:spcBef>
              <a:spcAft>
                <a:spcPts val="0"/>
              </a:spcAft>
            </a:pPr>
            <a:r>
              <a:rPr sz="750" b="1">
                <a:solidFill>
                  <a:srgbClr val="1E293B"/>
                </a:solidFill>
                <a:latin typeface="IPAPGothic"/>
              </a:rPr>
              <a:t>B. 共同ソリューション型</a:t>
            </a:r>
          </a:p>
        </p:txBody>
      </p:sp>
      <p:sp>
        <p:nvSpPr>
          <p:cNvPr id="15" name="TextBox 14"/>
          <p:cNvSpPr txBox="1"/>
          <p:nvPr/>
        </p:nvSpPr>
        <p:spPr>
          <a:xfrm>
            <a:off x="1188720" y="1965960"/>
            <a:ext cx="6995160" cy="228600"/>
          </a:xfrm>
          <a:prstGeom prst="rect">
            <a:avLst/>
          </a:prstGeom>
          <a:noFill/>
        </p:spPr>
        <p:txBody>
          <a:bodyPr wrap="square"/>
          <a:lstStyle/>
          <a:p>
            <a:pPr algn="l">
              <a:spcBef>
                <a:spcPts val="0"/>
              </a:spcBef>
              <a:spcAft>
                <a:spcPts val="0"/>
              </a:spcAft>
            </a:pPr>
            <a:r>
              <a:rPr sz="650" b="0">
                <a:solidFill>
                  <a:srgbClr val="475569"/>
                </a:solidFill>
                <a:latin typeface="IPAPGothic"/>
              </a:rPr>
              <a:t>貴社コンサルにTokiStorageを組み込んだ共同提案。ESG・地方創生・文化保存の「出口」として千年記録を位置づけ。</a:t>
            </a:r>
          </a:p>
        </p:txBody>
      </p:sp>
      <p:sp>
        <p:nvSpPr>
          <p:cNvPr id="16" name="TextBox 15"/>
          <p:cNvSpPr txBox="1"/>
          <p:nvPr/>
        </p:nvSpPr>
        <p:spPr>
          <a:xfrm>
            <a:off x="1188720" y="2185416"/>
            <a:ext cx="6995160" cy="182880"/>
          </a:xfrm>
          <a:prstGeom prst="rect">
            <a:avLst/>
          </a:prstGeom>
          <a:noFill/>
        </p:spPr>
        <p:txBody>
          <a:bodyPr wrap="square"/>
          <a:lstStyle/>
          <a:p>
            <a:pPr algn="l">
              <a:spcBef>
                <a:spcPts val="0"/>
              </a:spcBef>
              <a:spcAft>
                <a:spcPts val="0"/>
              </a:spcAft>
            </a:pPr>
            <a:r>
              <a:rPr sz="600" b="0">
                <a:solidFill>
                  <a:srgbClr val="2563EB"/>
                </a:solidFill>
                <a:latin typeface="IPAPGothic"/>
              </a:rPr>
              <a:t>例：自治体DX→地域記憶アーカイブ / ホテルCX改革→ゲスト記録のアップグレード</a:t>
            </a:r>
          </a:p>
        </p:txBody>
      </p:sp>
      <p:sp>
        <p:nvSpPr>
          <p:cNvPr id="17" name="Rectangle 16"/>
          <p:cNvSpPr/>
          <p:nvPr/>
        </p:nvSpPr>
        <p:spPr>
          <a:xfrm>
            <a:off x="457200" y="2505456"/>
            <a:ext cx="7863840" cy="68580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2596896"/>
            <a:ext cx="502920" cy="50292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2596896"/>
            <a:ext cx="502920" cy="502920"/>
          </a:xfrm>
          <a:prstGeom prst="rect">
            <a:avLst/>
          </a:prstGeom>
          <a:noFill/>
        </p:spPr>
        <p:txBody>
          <a:bodyPr wrap="square" anchor="ctr"/>
          <a:lstStyle/>
          <a:p>
            <a:pPr algn="ctr">
              <a:spcBef>
                <a:spcPts val="0"/>
              </a:spcBef>
              <a:spcAft>
                <a:spcPts val="0"/>
              </a:spcAft>
            </a:pPr>
            <a:r>
              <a:rPr sz="600" b="1">
                <a:solidFill>
                  <a:srgbClr val="FFFFFF"/>
                </a:solidFill>
                <a:latin typeface="IPAPGothic"/>
              </a:rPr>
              <a:t>事業
共創</a:t>
            </a:r>
          </a:p>
        </p:txBody>
      </p:sp>
      <p:sp>
        <p:nvSpPr>
          <p:cNvPr id="20" name="TextBox 19"/>
          <p:cNvSpPr txBox="1"/>
          <p:nvPr/>
        </p:nvSpPr>
        <p:spPr>
          <a:xfrm>
            <a:off x="1188720" y="2578608"/>
            <a:ext cx="6995160" cy="182880"/>
          </a:xfrm>
          <a:prstGeom prst="rect">
            <a:avLst/>
          </a:prstGeom>
          <a:noFill/>
        </p:spPr>
        <p:txBody>
          <a:bodyPr wrap="square"/>
          <a:lstStyle/>
          <a:p>
            <a:pPr algn="l">
              <a:spcBef>
                <a:spcPts val="0"/>
              </a:spcBef>
              <a:spcAft>
                <a:spcPts val="0"/>
              </a:spcAft>
            </a:pPr>
            <a:r>
              <a:rPr sz="750" b="1">
                <a:solidFill>
                  <a:srgbClr val="1E293B"/>
                </a:solidFill>
                <a:latin typeface="IPAPGothic"/>
              </a:rPr>
              <a:t>C. 新規事業共創型</a:t>
            </a:r>
          </a:p>
        </p:txBody>
      </p:sp>
      <p:sp>
        <p:nvSpPr>
          <p:cNvPr id="21" name="TextBox 20"/>
          <p:cNvSpPr txBox="1"/>
          <p:nvPr/>
        </p:nvSpPr>
        <p:spPr>
          <a:xfrm>
            <a:off x="1188720" y="2761488"/>
            <a:ext cx="6995160" cy="228600"/>
          </a:xfrm>
          <a:prstGeom prst="rect">
            <a:avLst/>
          </a:prstGeom>
          <a:noFill/>
        </p:spPr>
        <p:txBody>
          <a:bodyPr wrap="square"/>
          <a:lstStyle/>
          <a:p>
            <a:pPr algn="l">
              <a:spcBef>
                <a:spcPts val="0"/>
              </a:spcBef>
              <a:spcAft>
                <a:spcPts val="0"/>
              </a:spcAft>
            </a:pPr>
            <a:r>
              <a:rPr sz="650" b="0">
                <a:solidFill>
                  <a:srgbClr val="475569"/>
                </a:solidFill>
                <a:latin typeface="IPAPGothic"/>
              </a:rPr>
              <a:t>存在証明を軸に新規事業を共同立ち上げ。技術・思想・ユースケースはTokiStorage、市場アクセス・信用・スケールは貴社。</a:t>
            </a:r>
          </a:p>
        </p:txBody>
      </p:sp>
      <p:sp>
        <p:nvSpPr>
          <p:cNvPr id="22" name="TextBox 21"/>
          <p:cNvSpPr txBox="1"/>
          <p:nvPr/>
        </p:nvSpPr>
        <p:spPr>
          <a:xfrm>
            <a:off x="1188720" y="2980944"/>
            <a:ext cx="6995160" cy="182880"/>
          </a:xfrm>
          <a:prstGeom prst="rect">
            <a:avLst/>
          </a:prstGeom>
          <a:noFill/>
        </p:spPr>
        <p:txBody>
          <a:bodyPr wrap="square"/>
          <a:lstStyle/>
          <a:p>
            <a:pPr algn="l">
              <a:spcBef>
                <a:spcPts val="0"/>
              </a:spcBef>
              <a:spcAft>
                <a:spcPts val="0"/>
              </a:spcAft>
            </a:pPr>
            <a:r>
              <a:rPr sz="600" b="0">
                <a:solidFill>
                  <a:srgbClr val="2563EB"/>
                </a:solidFill>
                <a:latin typeface="IPAPGothic"/>
              </a:rPr>
              <a:t>例：メモリアルテック新規事業 / 企業向け永続アーカイブサービス</a:t>
            </a:r>
          </a:p>
        </p:txBody>
      </p:sp>
      <p:sp>
        <p:nvSpPr>
          <p:cNvPr id="23" name="Rectangle 22"/>
          <p:cNvSpPr/>
          <p:nvPr/>
        </p:nvSpPr>
        <p:spPr>
          <a:xfrm>
            <a:off x="0" y="4823460"/>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48860"/>
            <a:ext cx="3657600" cy="256032"/>
          </a:xfrm>
          <a:prstGeom prst="rect">
            <a:avLst/>
          </a:prstGeom>
          <a:noFill/>
        </p:spPr>
        <p:txBody>
          <a:bodyPr wrap="square"/>
          <a:lstStyle/>
          <a:p>
            <a:pPr algn="l">
              <a:spcBef>
                <a:spcPts val="0"/>
              </a:spcBef>
              <a:spcAft>
                <a:spcPts val="0"/>
              </a:spcAft>
            </a:pPr>
            <a:r>
              <a:rPr sz="650" b="0">
                <a:solidFill>
                  <a:srgbClr val="94A3B8"/>
                </a:solidFill>
                <a:latin typeface="IPAPGothic"/>
              </a:rPr>
              <a:t>TokiStorage — 協業提案</a:t>
            </a:r>
          </a:p>
        </p:txBody>
      </p:sp>
      <p:sp>
        <p:nvSpPr>
          <p:cNvPr id="25" name="TextBox 24"/>
          <p:cNvSpPr txBox="1"/>
          <p:nvPr/>
        </p:nvSpPr>
        <p:spPr>
          <a:xfrm>
            <a:off x="3657600" y="4848860"/>
            <a:ext cx="1828800" cy="256032"/>
          </a:xfrm>
          <a:prstGeom prst="rect">
            <a:avLst/>
          </a:prstGeom>
          <a:noFill/>
        </p:spPr>
        <p:txBody>
          <a:bodyPr wrap="square"/>
          <a:lstStyle/>
          <a:p>
            <a:pPr algn="ctr">
              <a:spcBef>
                <a:spcPts val="0"/>
              </a:spcBef>
              <a:spcAft>
                <a:spcPts val="0"/>
              </a:spcAft>
            </a:pPr>
            <a:r>
              <a:rPr sz="650" b="0">
                <a:solidFill>
                  <a:srgbClr val="94A3B8"/>
                </a:solidFill>
                <a:latin typeface="IPAPGothic"/>
              </a:rPr>
              <a:t>Confidential</a:t>
            </a:r>
          </a:p>
        </p:txBody>
      </p:sp>
      <p:sp>
        <p:nvSpPr>
          <p:cNvPr id="26" name="TextBox 25"/>
          <p:cNvSpPr txBox="1"/>
          <p:nvPr/>
        </p:nvSpPr>
        <p:spPr>
          <a:xfrm>
            <a:off x="8229600" y="4848860"/>
            <a:ext cx="457200" cy="256032"/>
          </a:xfrm>
          <a:prstGeom prst="rect">
            <a:avLst/>
          </a:prstGeom>
          <a:noFill/>
        </p:spPr>
        <p:txBody>
          <a:bodyPr wrap="square"/>
          <a:lstStyle/>
          <a:p>
            <a:pPr algn="r">
              <a:spcBef>
                <a:spcPts val="0"/>
              </a:spcBef>
              <a:spcAft>
                <a:spcPts val="0"/>
              </a:spcAft>
            </a:pPr>
            <a:r>
              <a:rPr sz="650" b="1">
                <a:solidFill>
                  <a:srgbClr val="94A3B8"/>
                </a:solidFill>
                <a:latin typeface="IPAP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02920"/>
          </a:xfrm>
          <a:prstGeom prst="rect">
            <a:avLst/>
          </a:prstGeom>
          <a:noFill/>
        </p:spPr>
        <p:txBody>
          <a:bodyPr wrap="square" anchor="ctr"/>
          <a:lstStyle/>
          <a:p>
            <a:pPr algn="l">
              <a:spcBef>
                <a:spcPts val="0"/>
              </a:spcBef>
              <a:spcAft>
                <a:spcPts val="0"/>
              </a:spcAft>
            </a:pPr>
            <a:r>
              <a:rPr sz="900" b="1">
                <a:solidFill>
                  <a:srgbClr val="FFFFFF"/>
                </a:solidFill>
                <a:latin typeface="IPAPGothic"/>
              </a:rPr>
              <a:t>クライアント・パートナー・TokiStorageの三者がWinになる収益設計を採用している</a:t>
            </a:r>
          </a:p>
        </p:txBody>
      </p:sp>
      <p:sp>
        <p:nvSpPr>
          <p:cNvPr id="4" name="TextBox 3"/>
          <p:cNvSpPr txBox="1"/>
          <p:nvPr/>
        </p:nvSpPr>
        <p:spPr>
          <a:xfrm>
            <a:off x="457200" y="640080"/>
            <a:ext cx="2743200" cy="228600"/>
          </a:xfrm>
          <a:prstGeom prst="rect">
            <a:avLst/>
          </a:prstGeom>
          <a:noFill/>
        </p:spPr>
        <p:txBody>
          <a:bodyPr wrap="square"/>
          <a:lstStyle/>
          <a:p>
            <a:pPr algn="l">
              <a:spcBef>
                <a:spcPts val="0"/>
              </a:spcBef>
              <a:spcAft>
                <a:spcPts val="0"/>
              </a:spcAft>
            </a:pPr>
            <a:r>
              <a:rPr sz="700" b="1">
                <a:solidFill>
                  <a:srgbClr val="2563EB"/>
                </a:solidFill>
                <a:latin typeface="IPAPGothic"/>
              </a:rPr>
              <a:t>REVENUE FLOW</a:t>
            </a:r>
          </a:p>
        </p:txBody>
      </p:sp>
      <p:sp>
        <p:nvSpPr>
          <p:cNvPr id="5" name="Rectangle 4"/>
          <p:cNvSpPr/>
          <p:nvPr/>
        </p:nvSpPr>
        <p:spPr>
          <a:xfrm>
            <a:off x="822960" y="1097280"/>
            <a:ext cx="2194560" cy="77724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152144"/>
            <a:ext cx="2048256" cy="201168"/>
          </a:xfrm>
          <a:prstGeom prst="rect">
            <a:avLst/>
          </a:prstGeom>
          <a:noFill/>
        </p:spPr>
        <p:txBody>
          <a:bodyPr wrap="square"/>
          <a:lstStyle/>
          <a:p>
            <a:pPr algn="ctr">
              <a:spcBef>
                <a:spcPts val="0"/>
              </a:spcBef>
              <a:spcAft>
                <a:spcPts val="0"/>
              </a:spcAft>
            </a:pPr>
            <a:r>
              <a:rPr sz="800" b="1">
                <a:solidFill>
                  <a:srgbClr val="16A34A"/>
                </a:solidFill>
                <a:latin typeface="IPAPGothic"/>
              </a:rPr>
              <a:t>クライアント</a:t>
            </a:r>
          </a:p>
        </p:txBody>
      </p:sp>
      <p:sp>
        <p:nvSpPr>
          <p:cNvPr id="7" name="TextBox 6"/>
          <p:cNvSpPr txBox="1"/>
          <p:nvPr/>
        </p:nvSpPr>
        <p:spPr>
          <a:xfrm>
            <a:off x="896112" y="1371600"/>
            <a:ext cx="2048256" cy="448056"/>
          </a:xfrm>
          <a:prstGeom prst="rect">
            <a:avLst/>
          </a:prstGeom>
          <a:noFill/>
        </p:spPr>
        <p:txBody>
          <a:bodyPr wrap="square"/>
          <a:lstStyle/>
          <a:p>
            <a:pPr algn="ctr">
              <a:spcBef>
                <a:spcPts val="0"/>
              </a:spcBef>
              <a:spcAft>
                <a:spcPts val="0"/>
              </a:spcAft>
            </a:pPr>
            <a:r>
              <a:rPr sz="650" b="0">
                <a:solidFill>
                  <a:srgbClr val="475569"/>
                </a:solidFill>
                <a:latin typeface="IPAPGothic"/>
              </a:rPr>
              <a:t>千年の存在証明
社会的意義の実感</a:t>
            </a:r>
          </a:p>
        </p:txBody>
      </p:sp>
      <p:sp>
        <p:nvSpPr>
          <p:cNvPr id="8" name="TextBox 7"/>
          <p:cNvSpPr txBox="1"/>
          <p:nvPr/>
        </p:nvSpPr>
        <p:spPr>
          <a:xfrm>
            <a:off x="3108960" y="1280160"/>
            <a:ext cx="274320" cy="274320"/>
          </a:xfrm>
          <a:prstGeom prst="rect">
            <a:avLst/>
          </a:prstGeom>
          <a:noFill/>
        </p:spPr>
        <p:txBody>
          <a:bodyPr wrap="square"/>
          <a:lstStyle/>
          <a:p>
            <a:pPr algn="ctr">
              <a:spcBef>
                <a:spcPts val="0"/>
              </a:spcBef>
              <a:spcAft>
                <a:spcPts val="0"/>
              </a:spcAft>
            </a:pPr>
            <a:r>
              <a:rPr sz="1400" b="0">
                <a:solidFill>
                  <a:srgbClr val="94A3B8"/>
                </a:solidFill>
                <a:latin typeface="IPAPGothic"/>
              </a:rPr>
              <a:t>←</a:t>
            </a:r>
          </a:p>
        </p:txBody>
      </p:sp>
      <p:sp>
        <p:nvSpPr>
          <p:cNvPr id="9" name="Rectangle 8"/>
          <p:cNvSpPr/>
          <p:nvPr/>
        </p:nvSpPr>
        <p:spPr>
          <a:xfrm>
            <a:off x="3474720" y="1097280"/>
            <a:ext cx="2194560" cy="77724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47872" y="1152144"/>
            <a:ext cx="2048256" cy="201168"/>
          </a:xfrm>
          <a:prstGeom prst="rect">
            <a:avLst/>
          </a:prstGeom>
          <a:noFill/>
        </p:spPr>
        <p:txBody>
          <a:bodyPr wrap="square"/>
          <a:lstStyle/>
          <a:p>
            <a:pPr algn="ctr">
              <a:spcBef>
                <a:spcPts val="0"/>
              </a:spcBef>
              <a:spcAft>
                <a:spcPts val="0"/>
              </a:spcAft>
            </a:pPr>
            <a:r>
              <a:rPr sz="800" b="1">
                <a:solidFill>
                  <a:srgbClr val="2563EB"/>
                </a:solidFill>
                <a:latin typeface="IPAPGothic"/>
              </a:rPr>
              <a:t>パートナー（貴社）</a:t>
            </a:r>
          </a:p>
        </p:txBody>
      </p:sp>
      <p:sp>
        <p:nvSpPr>
          <p:cNvPr id="11" name="TextBox 10"/>
          <p:cNvSpPr txBox="1"/>
          <p:nvPr/>
        </p:nvSpPr>
        <p:spPr>
          <a:xfrm>
            <a:off x="3547872" y="1371600"/>
            <a:ext cx="2048256" cy="448056"/>
          </a:xfrm>
          <a:prstGeom prst="rect">
            <a:avLst/>
          </a:prstGeom>
          <a:noFill/>
        </p:spPr>
        <p:txBody>
          <a:bodyPr wrap="square"/>
          <a:lstStyle/>
          <a:p>
            <a:pPr algn="ctr">
              <a:spcBef>
                <a:spcPts val="0"/>
              </a:spcBef>
              <a:spcAft>
                <a:spcPts val="0"/>
              </a:spcAft>
            </a:pPr>
            <a:r>
              <a:rPr sz="650" b="0">
                <a:solidFill>
                  <a:srgbClr val="475569"/>
                </a:solidFill>
                <a:latin typeface="IPAPGothic"/>
              </a:rPr>
              <a:t>紹介フィー or 共同提案収益
クライアントLTV向上</a:t>
            </a:r>
          </a:p>
        </p:txBody>
      </p:sp>
      <p:sp>
        <p:nvSpPr>
          <p:cNvPr id="12" name="TextBox 11"/>
          <p:cNvSpPr txBox="1"/>
          <p:nvPr/>
        </p:nvSpPr>
        <p:spPr>
          <a:xfrm>
            <a:off x="5760720" y="1280160"/>
            <a:ext cx="274320" cy="274320"/>
          </a:xfrm>
          <a:prstGeom prst="rect">
            <a:avLst/>
          </a:prstGeom>
          <a:noFill/>
        </p:spPr>
        <p:txBody>
          <a:bodyPr wrap="square"/>
          <a:lstStyle/>
          <a:p>
            <a:pPr algn="ctr">
              <a:spcBef>
                <a:spcPts val="0"/>
              </a:spcBef>
              <a:spcAft>
                <a:spcPts val="0"/>
              </a:spcAft>
            </a:pPr>
            <a:r>
              <a:rPr sz="1400" b="0">
                <a:solidFill>
                  <a:srgbClr val="94A3B8"/>
                </a:solidFill>
                <a:latin typeface="IPAPGothic"/>
              </a:rPr>
              <a:t>←</a:t>
            </a:r>
          </a:p>
        </p:txBody>
      </p:sp>
      <p:sp>
        <p:nvSpPr>
          <p:cNvPr id="13" name="Rectangle 12"/>
          <p:cNvSpPr/>
          <p:nvPr/>
        </p:nvSpPr>
        <p:spPr>
          <a:xfrm>
            <a:off x="6126480" y="1097280"/>
            <a:ext cx="2194560" cy="77724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1152144"/>
            <a:ext cx="2048256" cy="201168"/>
          </a:xfrm>
          <a:prstGeom prst="rect">
            <a:avLst/>
          </a:prstGeom>
          <a:noFill/>
        </p:spPr>
        <p:txBody>
          <a:bodyPr wrap="square"/>
          <a:lstStyle/>
          <a:p>
            <a:pPr algn="ctr">
              <a:spcBef>
                <a:spcPts val="0"/>
              </a:spcBef>
              <a:spcAft>
                <a:spcPts val="0"/>
              </a:spcAft>
            </a:pPr>
            <a:r>
              <a:rPr sz="800" b="1">
                <a:solidFill>
                  <a:srgbClr val="92400E"/>
                </a:solidFill>
                <a:latin typeface="IPAPGothic"/>
              </a:rPr>
              <a:t>TokiStorage</a:t>
            </a:r>
          </a:p>
        </p:txBody>
      </p:sp>
      <p:sp>
        <p:nvSpPr>
          <p:cNvPr id="15" name="TextBox 14"/>
          <p:cNvSpPr txBox="1"/>
          <p:nvPr/>
        </p:nvSpPr>
        <p:spPr>
          <a:xfrm>
            <a:off x="6199632" y="1371600"/>
            <a:ext cx="2048256" cy="448056"/>
          </a:xfrm>
          <a:prstGeom prst="rect">
            <a:avLst/>
          </a:prstGeom>
          <a:noFill/>
        </p:spPr>
        <p:txBody>
          <a:bodyPr wrap="square"/>
          <a:lstStyle/>
          <a:p>
            <a:pPr algn="ctr">
              <a:spcBef>
                <a:spcPts val="0"/>
              </a:spcBef>
              <a:spcAft>
                <a:spcPts val="0"/>
              </a:spcAft>
            </a:pPr>
            <a:r>
              <a:rPr sz="650" b="0">
                <a:solidFill>
                  <a:srgbClr val="475569"/>
                </a:solidFill>
                <a:latin typeface="IPAPGothic"/>
              </a:rPr>
              <a:t>技術・思想・納品
収益の一部→SoulCarrier活動</a:t>
            </a:r>
          </a:p>
        </p:txBody>
      </p:sp>
      <p:sp>
        <p:nvSpPr>
          <p:cNvPr id="16" name="Rectangle 15"/>
          <p:cNvSpPr/>
          <p:nvPr/>
        </p:nvSpPr>
        <p:spPr>
          <a:xfrm>
            <a:off x="457200" y="2194560"/>
            <a:ext cx="7863840" cy="91440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194560"/>
            <a:ext cx="45720" cy="9144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267712"/>
            <a:ext cx="7589520" cy="201168"/>
          </a:xfrm>
          <a:prstGeom prst="rect">
            <a:avLst/>
          </a:prstGeom>
          <a:noFill/>
        </p:spPr>
        <p:txBody>
          <a:bodyPr wrap="square"/>
          <a:lstStyle/>
          <a:p>
            <a:pPr algn="l">
              <a:spcBef>
                <a:spcPts val="0"/>
              </a:spcBef>
              <a:spcAft>
                <a:spcPts val="0"/>
              </a:spcAft>
            </a:pPr>
            <a:r>
              <a:rPr sz="750" b="1">
                <a:solidFill>
                  <a:srgbClr val="1E293B"/>
                </a:solidFill>
                <a:latin typeface="IPAPGothic"/>
              </a:rPr>
              <a:t>初期パートナー優遇</a:t>
            </a:r>
          </a:p>
        </p:txBody>
      </p:sp>
      <p:sp>
        <p:nvSpPr>
          <p:cNvPr id="19" name="TextBox 18"/>
          <p:cNvSpPr txBox="1"/>
          <p:nvPr/>
        </p:nvSpPr>
        <p:spPr>
          <a:xfrm>
            <a:off x="640080" y="2487168"/>
            <a:ext cx="7589520" cy="548640"/>
          </a:xfrm>
          <a:prstGeom prst="rect">
            <a:avLst/>
          </a:prstGeom>
          <a:noFill/>
        </p:spPr>
        <p:txBody>
          <a:bodyPr wrap="square"/>
          <a:lstStyle/>
          <a:p>
            <a:pPr algn="l">
              <a:spcBef>
                <a:spcPts val="0"/>
              </a:spcBef>
              <a:spcAft>
                <a:spcPts val="0"/>
              </a:spcAft>
            </a:pPr>
            <a:r>
              <a:rPr sz="650" b="0">
                <a:solidFill>
                  <a:srgbClr val="475569"/>
                </a:solidFill>
                <a:latin typeface="IPAPGothic"/>
              </a:rPr>
              <a:t>複数のコンサルティングファームに順次ご提案を進めています。最初に提携いただいたファームには、紹介モデルの優先条件・エリア独占権など、初期パートナーならではのインセンティブをご用意します。</a:t>
            </a:r>
          </a:p>
        </p:txBody>
      </p:sp>
      <p:sp>
        <p:nvSpPr>
          <p:cNvPr id="20" name="Rectangle 19"/>
          <p:cNvSpPr/>
          <p:nvPr/>
        </p:nvSpPr>
        <p:spPr>
          <a:xfrm>
            <a:off x="0" y="4823460"/>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48860"/>
            <a:ext cx="3657600" cy="256032"/>
          </a:xfrm>
          <a:prstGeom prst="rect">
            <a:avLst/>
          </a:prstGeom>
          <a:noFill/>
        </p:spPr>
        <p:txBody>
          <a:bodyPr wrap="square"/>
          <a:lstStyle/>
          <a:p>
            <a:pPr algn="l">
              <a:spcBef>
                <a:spcPts val="0"/>
              </a:spcBef>
              <a:spcAft>
                <a:spcPts val="0"/>
              </a:spcAft>
            </a:pPr>
            <a:r>
              <a:rPr sz="650" b="0">
                <a:solidFill>
                  <a:srgbClr val="94A3B8"/>
                </a:solidFill>
                <a:latin typeface="IPAPGothic"/>
              </a:rPr>
              <a:t>TokiStorage — 協業提案</a:t>
            </a:r>
          </a:p>
        </p:txBody>
      </p:sp>
      <p:sp>
        <p:nvSpPr>
          <p:cNvPr id="22" name="TextBox 21"/>
          <p:cNvSpPr txBox="1"/>
          <p:nvPr/>
        </p:nvSpPr>
        <p:spPr>
          <a:xfrm>
            <a:off x="3657600" y="4848860"/>
            <a:ext cx="1828800" cy="256032"/>
          </a:xfrm>
          <a:prstGeom prst="rect">
            <a:avLst/>
          </a:prstGeom>
          <a:noFill/>
        </p:spPr>
        <p:txBody>
          <a:bodyPr wrap="square"/>
          <a:lstStyle/>
          <a:p>
            <a:pPr algn="ctr">
              <a:spcBef>
                <a:spcPts val="0"/>
              </a:spcBef>
              <a:spcAft>
                <a:spcPts val="0"/>
              </a:spcAft>
            </a:pPr>
            <a:r>
              <a:rPr sz="650" b="0">
                <a:solidFill>
                  <a:srgbClr val="94A3B8"/>
                </a:solidFill>
                <a:latin typeface="IPAPGothic"/>
              </a:rPr>
              <a:t>Confidential</a:t>
            </a:r>
          </a:p>
        </p:txBody>
      </p:sp>
      <p:sp>
        <p:nvSpPr>
          <p:cNvPr id="23" name="TextBox 22"/>
          <p:cNvSpPr txBox="1"/>
          <p:nvPr/>
        </p:nvSpPr>
        <p:spPr>
          <a:xfrm>
            <a:off x="8229600" y="4848860"/>
            <a:ext cx="457200" cy="256032"/>
          </a:xfrm>
          <a:prstGeom prst="rect">
            <a:avLst/>
          </a:prstGeom>
          <a:noFill/>
        </p:spPr>
        <p:txBody>
          <a:bodyPr wrap="square"/>
          <a:lstStyle/>
          <a:p>
            <a:pPr algn="r">
              <a:spcBef>
                <a:spcPts val="0"/>
              </a:spcBef>
              <a:spcAft>
                <a:spcPts val="0"/>
              </a:spcAft>
            </a:pPr>
            <a:r>
              <a:rPr sz="650" b="1">
                <a:solidFill>
                  <a:srgbClr val="94A3B8"/>
                </a:solidFill>
                <a:latin typeface="IPAP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02920"/>
          </a:xfrm>
          <a:prstGeom prst="rect">
            <a:avLst/>
          </a:prstGeom>
          <a:noFill/>
        </p:spPr>
        <p:txBody>
          <a:bodyPr wrap="square" anchor="ctr"/>
          <a:lstStyle/>
          <a:p>
            <a:pPr algn="l">
              <a:spcBef>
                <a:spcPts val="0"/>
              </a:spcBef>
              <a:spcAft>
                <a:spcPts val="0"/>
              </a:spcAft>
            </a:pPr>
            <a:r>
              <a:rPr sz="900" b="1">
                <a:solidFill>
                  <a:srgbClr val="FFFFFF"/>
                </a:solidFill>
                <a:latin typeface="IPAPGothic"/>
              </a:rPr>
              <a:t>葬祭・ホスピタリティ・宗教法人・自治体・ESG・金融の6領域で特に高い親和性がある</a:t>
            </a:r>
          </a:p>
        </p:txBody>
      </p:sp>
      <p:sp>
        <p:nvSpPr>
          <p:cNvPr id="4" name="TextBox 3"/>
          <p:cNvSpPr txBox="1"/>
          <p:nvPr/>
        </p:nvSpPr>
        <p:spPr>
          <a:xfrm>
            <a:off x="457200" y="640080"/>
            <a:ext cx="2743200" cy="228600"/>
          </a:xfrm>
          <a:prstGeom prst="rect">
            <a:avLst/>
          </a:prstGeom>
          <a:noFill/>
        </p:spPr>
        <p:txBody>
          <a:bodyPr wrap="square"/>
          <a:lstStyle/>
          <a:p>
            <a:pPr algn="l">
              <a:spcBef>
                <a:spcPts val="0"/>
              </a:spcBef>
              <a:spcAft>
                <a:spcPts val="0"/>
              </a:spcAft>
            </a:pPr>
            <a:r>
              <a:rPr sz="700" b="1">
                <a:solidFill>
                  <a:srgbClr val="2563EB"/>
                </a:solidFill>
                <a:latin typeface="IPAPGothic"/>
              </a:rPr>
              <a:t>CLIENT FIT</a:t>
            </a:r>
          </a:p>
        </p:txBody>
      </p:sp>
      <p:sp>
        <p:nvSpPr>
          <p:cNvPr id="5" name="TextBox 4"/>
          <p:cNvSpPr txBox="1"/>
          <p:nvPr/>
        </p:nvSpPr>
        <p:spPr>
          <a:xfrm>
            <a:off x="457200" y="868680"/>
            <a:ext cx="7315200" cy="228600"/>
          </a:xfrm>
          <a:prstGeom prst="rect">
            <a:avLst/>
          </a:prstGeom>
          <a:noFill/>
        </p:spPr>
        <p:txBody>
          <a:bodyPr wrap="square"/>
          <a:lstStyle/>
          <a:p>
            <a:pPr algn="l">
              <a:spcBef>
                <a:spcPts val="0"/>
              </a:spcBef>
              <a:spcAft>
                <a:spcPts val="0"/>
              </a:spcAft>
            </a:pPr>
            <a:r>
              <a:rPr sz="800" b="0">
                <a:solidFill>
                  <a:srgbClr val="475569"/>
                </a:solidFill>
                <a:latin typeface="IPAPGothic"/>
              </a:rPr>
              <a:t>貴社のクライアントポートフォリオに、以下のセクターはありませんか。</a:t>
            </a:r>
          </a:p>
        </p:txBody>
      </p:sp>
      <p:sp>
        <p:nvSpPr>
          <p:cNvPr id="6" name="Rectangle 5"/>
          <p:cNvSpPr/>
          <p:nvPr/>
        </p:nvSpPr>
        <p:spPr>
          <a:xfrm>
            <a:off x="457200" y="1188720"/>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95628" y="1261872"/>
            <a:ext cx="329184" cy="329184"/>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95628" y="1261872"/>
            <a:ext cx="329184" cy="329184"/>
          </a:xfrm>
          <a:prstGeom prst="rect">
            <a:avLst/>
          </a:prstGeom>
          <a:noFill/>
        </p:spPr>
        <p:txBody>
          <a:bodyPr wrap="square" anchor="ctr"/>
          <a:lstStyle/>
          <a:p>
            <a:pPr algn="ctr">
              <a:spcBef>
                <a:spcPts val="0"/>
              </a:spcBef>
              <a:spcAft>
                <a:spcPts val="0"/>
              </a:spcAft>
            </a:pPr>
            <a:r>
              <a:rPr sz="900" b="1">
                <a:solidFill>
                  <a:srgbClr val="2563EB"/>
                </a:solidFill>
                <a:latin typeface="IPAPGothic"/>
              </a:rPr>
              <a:t>M</a:t>
            </a:r>
          </a:p>
        </p:txBody>
      </p:sp>
      <p:sp>
        <p:nvSpPr>
          <p:cNvPr id="9" name="TextBox 8"/>
          <p:cNvSpPr txBox="1"/>
          <p:nvPr/>
        </p:nvSpPr>
        <p:spPr>
          <a:xfrm>
            <a:off x="512064" y="1627632"/>
            <a:ext cx="2496312" cy="182880"/>
          </a:xfrm>
          <a:prstGeom prst="rect">
            <a:avLst/>
          </a:prstGeom>
          <a:noFill/>
        </p:spPr>
        <p:txBody>
          <a:bodyPr wrap="square"/>
          <a:lstStyle/>
          <a:p>
            <a:pPr algn="ctr">
              <a:spcBef>
                <a:spcPts val="0"/>
              </a:spcBef>
              <a:spcAft>
                <a:spcPts val="0"/>
              </a:spcAft>
            </a:pPr>
            <a:r>
              <a:rPr sz="700" b="1">
                <a:solidFill>
                  <a:srgbClr val="1E293B"/>
                </a:solidFill>
                <a:latin typeface="IPAPGothic"/>
              </a:rPr>
              <a:t>葬祭・メモリアル</a:t>
            </a:r>
          </a:p>
        </p:txBody>
      </p:sp>
      <p:sp>
        <p:nvSpPr>
          <p:cNvPr id="10" name="TextBox 9"/>
          <p:cNvSpPr txBox="1"/>
          <p:nvPr/>
        </p:nvSpPr>
        <p:spPr>
          <a:xfrm>
            <a:off x="512064" y="1810512"/>
            <a:ext cx="2496312" cy="658368"/>
          </a:xfrm>
          <a:prstGeom prst="rect">
            <a:avLst/>
          </a:prstGeom>
          <a:noFill/>
        </p:spPr>
        <p:txBody>
          <a:bodyPr wrap="square"/>
          <a:lstStyle/>
          <a:p>
            <a:pPr algn="ctr">
              <a:spcBef>
                <a:spcPts val="0"/>
              </a:spcBef>
              <a:spcAft>
                <a:spcPts val="0"/>
              </a:spcAft>
            </a:pPr>
            <a:r>
              <a:rPr sz="600" b="0">
                <a:solidFill>
                  <a:srgbClr val="475569"/>
                </a:solidFill>
                <a:latin typeface="IPAPGothic"/>
              </a:rPr>
              <a:t>墓じまい代替、永代供養デジタル化、遺族向け新サービス</a:t>
            </a:r>
          </a:p>
        </p:txBody>
      </p:sp>
      <p:sp>
        <p:nvSpPr>
          <p:cNvPr id="11" name="Rectangle 10"/>
          <p:cNvSpPr/>
          <p:nvPr/>
        </p:nvSpPr>
        <p:spPr>
          <a:xfrm>
            <a:off x="3273552" y="1188720"/>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411980" y="1261872"/>
            <a:ext cx="329184" cy="329184"/>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11980" y="1261872"/>
            <a:ext cx="329184" cy="329184"/>
          </a:xfrm>
          <a:prstGeom prst="rect">
            <a:avLst/>
          </a:prstGeom>
          <a:noFill/>
        </p:spPr>
        <p:txBody>
          <a:bodyPr wrap="square" anchor="ctr"/>
          <a:lstStyle/>
          <a:p>
            <a:pPr algn="ctr">
              <a:spcBef>
                <a:spcPts val="0"/>
              </a:spcBef>
              <a:spcAft>
                <a:spcPts val="0"/>
              </a:spcAft>
            </a:pPr>
            <a:r>
              <a:rPr sz="900" b="1">
                <a:solidFill>
                  <a:srgbClr val="2563EB"/>
                </a:solidFill>
                <a:latin typeface="IPAPGothic"/>
              </a:rPr>
              <a:t>H</a:t>
            </a:r>
          </a:p>
        </p:txBody>
      </p:sp>
      <p:sp>
        <p:nvSpPr>
          <p:cNvPr id="14" name="TextBox 13"/>
          <p:cNvSpPr txBox="1"/>
          <p:nvPr/>
        </p:nvSpPr>
        <p:spPr>
          <a:xfrm>
            <a:off x="3328416" y="1627632"/>
            <a:ext cx="2496312" cy="182880"/>
          </a:xfrm>
          <a:prstGeom prst="rect">
            <a:avLst/>
          </a:prstGeom>
          <a:noFill/>
        </p:spPr>
        <p:txBody>
          <a:bodyPr wrap="square"/>
          <a:lstStyle/>
          <a:p>
            <a:pPr algn="ctr">
              <a:spcBef>
                <a:spcPts val="0"/>
              </a:spcBef>
              <a:spcAft>
                <a:spcPts val="0"/>
              </a:spcAft>
            </a:pPr>
            <a:r>
              <a:rPr sz="700" b="1">
                <a:solidFill>
                  <a:srgbClr val="1E293B"/>
                </a:solidFill>
                <a:latin typeface="IPAPGothic"/>
              </a:rPr>
              <a:t>ホスピタリティ</a:t>
            </a:r>
          </a:p>
        </p:txBody>
      </p:sp>
      <p:sp>
        <p:nvSpPr>
          <p:cNvPr id="15" name="TextBox 14"/>
          <p:cNvSpPr txBox="1"/>
          <p:nvPr/>
        </p:nvSpPr>
        <p:spPr>
          <a:xfrm>
            <a:off x="3328416" y="1810512"/>
            <a:ext cx="2496312" cy="658368"/>
          </a:xfrm>
          <a:prstGeom prst="rect">
            <a:avLst/>
          </a:prstGeom>
          <a:noFill/>
        </p:spPr>
        <p:txBody>
          <a:bodyPr wrap="square"/>
          <a:lstStyle/>
          <a:p>
            <a:pPr algn="ctr">
              <a:spcBef>
                <a:spcPts val="0"/>
              </a:spcBef>
              <a:spcAft>
                <a:spcPts val="0"/>
              </a:spcAft>
            </a:pPr>
            <a:r>
              <a:rPr sz="600" b="0">
                <a:solidFill>
                  <a:srgbClr val="475569"/>
                </a:solidFill>
                <a:latin typeface="IPAPGothic"/>
              </a:rPr>
              <a:t>ウェディング記録、ホテルCX、記念日サービス</a:t>
            </a:r>
          </a:p>
        </p:txBody>
      </p:sp>
      <p:sp>
        <p:nvSpPr>
          <p:cNvPr id="16" name="Rectangle 15"/>
          <p:cNvSpPr/>
          <p:nvPr/>
        </p:nvSpPr>
        <p:spPr>
          <a:xfrm>
            <a:off x="6089904" y="1188720"/>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28332" y="1261872"/>
            <a:ext cx="329184" cy="329184"/>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8332" y="1261872"/>
            <a:ext cx="329184" cy="329184"/>
          </a:xfrm>
          <a:prstGeom prst="rect">
            <a:avLst/>
          </a:prstGeom>
          <a:noFill/>
        </p:spPr>
        <p:txBody>
          <a:bodyPr wrap="square" anchor="ctr"/>
          <a:lstStyle/>
          <a:p>
            <a:pPr algn="ctr">
              <a:spcBef>
                <a:spcPts val="0"/>
              </a:spcBef>
              <a:spcAft>
                <a:spcPts val="0"/>
              </a:spcAft>
            </a:pPr>
            <a:r>
              <a:rPr sz="900" b="1">
                <a:solidFill>
                  <a:srgbClr val="2563EB"/>
                </a:solidFill>
                <a:latin typeface="IPAPGothic"/>
              </a:rPr>
              <a:t>R</a:t>
            </a:r>
          </a:p>
        </p:txBody>
      </p:sp>
      <p:sp>
        <p:nvSpPr>
          <p:cNvPr id="19" name="TextBox 18"/>
          <p:cNvSpPr txBox="1"/>
          <p:nvPr/>
        </p:nvSpPr>
        <p:spPr>
          <a:xfrm>
            <a:off x="6144768" y="1627632"/>
            <a:ext cx="2496312" cy="182880"/>
          </a:xfrm>
          <a:prstGeom prst="rect">
            <a:avLst/>
          </a:prstGeom>
          <a:noFill/>
        </p:spPr>
        <p:txBody>
          <a:bodyPr wrap="square"/>
          <a:lstStyle/>
          <a:p>
            <a:pPr algn="ctr">
              <a:spcBef>
                <a:spcPts val="0"/>
              </a:spcBef>
              <a:spcAft>
                <a:spcPts val="0"/>
              </a:spcAft>
            </a:pPr>
            <a:r>
              <a:rPr sz="700" b="1">
                <a:solidFill>
                  <a:srgbClr val="1E293B"/>
                </a:solidFill>
                <a:latin typeface="IPAPGothic"/>
              </a:rPr>
              <a:t>宗教法人・寺社</a:t>
            </a:r>
          </a:p>
        </p:txBody>
      </p:sp>
      <p:sp>
        <p:nvSpPr>
          <p:cNvPr id="20" name="TextBox 19"/>
          <p:cNvSpPr txBox="1"/>
          <p:nvPr/>
        </p:nvSpPr>
        <p:spPr>
          <a:xfrm>
            <a:off x="6144768" y="1810512"/>
            <a:ext cx="2496312" cy="658368"/>
          </a:xfrm>
          <a:prstGeom prst="rect">
            <a:avLst/>
          </a:prstGeom>
          <a:noFill/>
        </p:spPr>
        <p:txBody>
          <a:bodyPr wrap="square"/>
          <a:lstStyle/>
          <a:p>
            <a:pPr algn="ctr">
              <a:spcBef>
                <a:spcPts val="0"/>
              </a:spcBef>
              <a:spcAft>
                <a:spcPts val="0"/>
              </a:spcAft>
            </a:pPr>
            <a:r>
              <a:rPr sz="600" b="0">
                <a:solidFill>
                  <a:srgbClr val="475569"/>
                </a:solidFill>
                <a:latin typeface="IPAPGothic"/>
              </a:rPr>
              <a:t>檀家記録の永続化、参拝体験DX、文化財保存</a:t>
            </a:r>
          </a:p>
        </p:txBody>
      </p:sp>
      <p:sp>
        <p:nvSpPr>
          <p:cNvPr id="21" name="Rectangle 20"/>
          <p:cNvSpPr/>
          <p:nvPr/>
        </p:nvSpPr>
        <p:spPr>
          <a:xfrm>
            <a:off x="457200" y="2679192"/>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95628" y="2752344"/>
            <a:ext cx="329184" cy="329184"/>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95628" y="2752344"/>
            <a:ext cx="329184" cy="329184"/>
          </a:xfrm>
          <a:prstGeom prst="rect">
            <a:avLst/>
          </a:prstGeom>
          <a:noFill/>
        </p:spPr>
        <p:txBody>
          <a:bodyPr wrap="square" anchor="ctr"/>
          <a:lstStyle/>
          <a:p>
            <a:pPr algn="ctr">
              <a:spcBef>
                <a:spcPts val="0"/>
              </a:spcBef>
              <a:spcAft>
                <a:spcPts val="0"/>
              </a:spcAft>
            </a:pPr>
            <a:r>
              <a:rPr sz="900" b="1">
                <a:solidFill>
                  <a:srgbClr val="2563EB"/>
                </a:solidFill>
                <a:latin typeface="IPAPGothic"/>
              </a:rPr>
              <a:t>G</a:t>
            </a:r>
          </a:p>
        </p:txBody>
      </p:sp>
      <p:sp>
        <p:nvSpPr>
          <p:cNvPr id="24" name="TextBox 23"/>
          <p:cNvSpPr txBox="1"/>
          <p:nvPr/>
        </p:nvSpPr>
        <p:spPr>
          <a:xfrm>
            <a:off x="512064" y="3118104"/>
            <a:ext cx="2496312" cy="182880"/>
          </a:xfrm>
          <a:prstGeom prst="rect">
            <a:avLst/>
          </a:prstGeom>
          <a:noFill/>
        </p:spPr>
        <p:txBody>
          <a:bodyPr wrap="square"/>
          <a:lstStyle/>
          <a:p>
            <a:pPr algn="ctr">
              <a:spcBef>
                <a:spcPts val="0"/>
              </a:spcBef>
              <a:spcAft>
                <a:spcPts val="0"/>
              </a:spcAft>
            </a:pPr>
            <a:r>
              <a:rPr sz="700" b="1">
                <a:solidFill>
                  <a:srgbClr val="1E293B"/>
                </a:solidFill>
                <a:latin typeface="IPAPGothic"/>
              </a:rPr>
              <a:t>自治体・教育</a:t>
            </a:r>
          </a:p>
        </p:txBody>
      </p:sp>
      <p:sp>
        <p:nvSpPr>
          <p:cNvPr id="25" name="TextBox 24"/>
          <p:cNvSpPr txBox="1"/>
          <p:nvPr/>
        </p:nvSpPr>
        <p:spPr>
          <a:xfrm>
            <a:off x="512064" y="3300984"/>
            <a:ext cx="2496312" cy="658368"/>
          </a:xfrm>
          <a:prstGeom prst="rect">
            <a:avLst/>
          </a:prstGeom>
          <a:noFill/>
        </p:spPr>
        <p:txBody>
          <a:bodyPr wrap="square"/>
          <a:lstStyle/>
          <a:p>
            <a:pPr algn="ctr">
              <a:spcBef>
                <a:spcPts val="0"/>
              </a:spcBef>
              <a:spcAft>
                <a:spcPts val="0"/>
              </a:spcAft>
            </a:pPr>
            <a:r>
              <a:rPr sz="600" b="0">
                <a:solidFill>
                  <a:srgbClr val="475569"/>
                </a:solidFill>
                <a:latin typeface="IPAPGothic"/>
              </a:rPr>
              <a:t>地域アーカイブ、災害記録、学校史の永続化</a:t>
            </a:r>
          </a:p>
        </p:txBody>
      </p:sp>
      <p:sp>
        <p:nvSpPr>
          <p:cNvPr id="26" name="Rectangle 25"/>
          <p:cNvSpPr/>
          <p:nvPr/>
        </p:nvSpPr>
        <p:spPr>
          <a:xfrm>
            <a:off x="3273552" y="2679192"/>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411980" y="2752344"/>
            <a:ext cx="329184" cy="329184"/>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11980" y="2752344"/>
            <a:ext cx="329184" cy="329184"/>
          </a:xfrm>
          <a:prstGeom prst="rect">
            <a:avLst/>
          </a:prstGeom>
          <a:noFill/>
        </p:spPr>
        <p:txBody>
          <a:bodyPr wrap="square" anchor="ctr"/>
          <a:lstStyle/>
          <a:p>
            <a:pPr algn="ctr">
              <a:spcBef>
                <a:spcPts val="0"/>
              </a:spcBef>
              <a:spcAft>
                <a:spcPts val="0"/>
              </a:spcAft>
            </a:pPr>
            <a:r>
              <a:rPr sz="900" b="1">
                <a:solidFill>
                  <a:srgbClr val="2563EB"/>
                </a:solidFill>
                <a:latin typeface="IPAPGothic"/>
              </a:rPr>
              <a:t>E</a:t>
            </a:r>
          </a:p>
        </p:txBody>
      </p:sp>
      <p:sp>
        <p:nvSpPr>
          <p:cNvPr id="29" name="TextBox 28"/>
          <p:cNvSpPr txBox="1"/>
          <p:nvPr/>
        </p:nvSpPr>
        <p:spPr>
          <a:xfrm>
            <a:off x="3328416" y="3118104"/>
            <a:ext cx="2496312" cy="182880"/>
          </a:xfrm>
          <a:prstGeom prst="rect">
            <a:avLst/>
          </a:prstGeom>
          <a:noFill/>
        </p:spPr>
        <p:txBody>
          <a:bodyPr wrap="square"/>
          <a:lstStyle/>
          <a:p>
            <a:pPr algn="ctr">
              <a:spcBef>
                <a:spcPts val="0"/>
              </a:spcBef>
              <a:spcAft>
                <a:spcPts val="0"/>
              </a:spcAft>
            </a:pPr>
            <a:r>
              <a:rPr sz="700" b="1">
                <a:solidFill>
                  <a:srgbClr val="1E293B"/>
                </a:solidFill>
                <a:latin typeface="IPAPGothic"/>
              </a:rPr>
              <a:t>ESG・サステナビリティ</a:t>
            </a:r>
          </a:p>
        </p:txBody>
      </p:sp>
      <p:sp>
        <p:nvSpPr>
          <p:cNvPr id="30" name="TextBox 29"/>
          <p:cNvSpPr txBox="1"/>
          <p:nvPr/>
        </p:nvSpPr>
        <p:spPr>
          <a:xfrm>
            <a:off x="3328416" y="3300984"/>
            <a:ext cx="2496312" cy="658368"/>
          </a:xfrm>
          <a:prstGeom prst="rect">
            <a:avLst/>
          </a:prstGeom>
          <a:noFill/>
        </p:spPr>
        <p:txBody>
          <a:bodyPr wrap="square"/>
          <a:lstStyle/>
          <a:p>
            <a:pPr algn="ctr">
              <a:spcBef>
                <a:spcPts val="0"/>
              </a:spcBef>
              <a:spcAft>
                <a:spcPts val="0"/>
              </a:spcAft>
            </a:pPr>
            <a:r>
              <a:rPr sz="600" b="0">
                <a:solidFill>
                  <a:srgbClr val="475569"/>
                </a:solidFill>
                <a:latin typeface="IPAPGothic"/>
              </a:rPr>
              <a:t>1000年設計の企業理念記録、SDGs実績の永続証明</a:t>
            </a:r>
          </a:p>
        </p:txBody>
      </p:sp>
      <p:sp>
        <p:nvSpPr>
          <p:cNvPr id="31" name="Rectangle 30"/>
          <p:cNvSpPr/>
          <p:nvPr/>
        </p:nvSpPr>
        <p:spPr>
          <a:xfrm>
            <a:off x="6089904" y="2679192"/>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28332" y="2752344"/>
            <a:ext cx="329184" cy="329184"/>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8332" y="2752344"/>
            <a:ext cx="329184" cy="329184"/>
          </a:xfrm>
          <a:prstGeom prst="rect">
            <a:avLst/>
          </a:prstGeom>
          <a:noFill/>
        </p:spPr>
        <p:txBody>
          <a:bodyPr wrap="square" anchor="ctr"/>
          <a:lstStyle/>
          <a:p>
            <a:pPr algn="ctr">
              <a:spcBef>
                <a:spcPts val="0"/>
              </a:spcBef>
              <a:spcAft>
                <a:spcPts val="0"/>
              </a:spcAft>
            </a:pPr>
            <a:r>
              <a:rPr sz="900" b="1">
                <a:solidFill>
                  <a:srgbClr val="2563EB"/>
                </a:solidFill>
                <a:latin typeface="IPAPGothic"/>
              </a:rPr>
              <a:t>F</a:t>
            </a:r>
          </a:p>
        </p:txBody>
      </p:sp>
      <p:sp>
        <p:nvSpPr>
          <p:cNvPr id="34" name="TextBox 33"/>
          <p:cNvSpPr txBox="1"/>
          <p:nvPr/>
        </p:nvSpPr>
        <p:spPr>
          <a:xfrm>
            <a:off x="6144768" y="3118104"/>
            <a:ext cx="2496312" cy="182880"/>
          </a:xfrm>
          <a:prstGeom prst="rect">
            <a:avLst/>
          </a:prstGeom>
          <a:noFill/>
        </p:spPr>
        <p:txBody>
          <a:bodyPr wrap="square"/>
          <a:lstStyle/>
          <a:p>
            <a:pPr algn="ctr">
              <a:spcBef>
                <a:spcPts val="0"/>
              </a:spcBef>
              <a:spcAft>
                <a:spcPts val="0"/>
              </a:spcAft>
            </a:pPr>
            <a:r>
              <a:rPr sz="700" b="1">
                <a:solidFill>
                  <a:srgbClr val="1E293B"/>
                </a:solidFill>
                <a:latin typeface="IPAPGothic"/>
              </a:rPr>
              <a:t>金融・保険</a:t>
            </a:r>
          </a:p>
        </p:txBody>
      </p:sp>
      <p:sp>
        <p:nvSpPr>
          <p:cNvPr id="35" name="TextBox 34"/>
          <p:cNvSpPr txBox="1"/>
          <p:nvPr/>
        </p:nvSpPr>
        <p:spPr>
          <a:xfrm>
            <a:off x="6144768" y="3300984"/>
            <a:ext cx="2496312" cy="658368"/>
          </a:xfrm>
          <a:prstGeom prst="rect">
            <a:avLst/>
          </a:prstGeom>
          <a:noFill/>
        </p:spPr>
        <p:txBody>
          <a:bodyPr wrap="square"/>
          <a:lstStyle/>
          <a:p>
            <a:pPr algn="ctr">
              <a:spcBef>
                <a:spcPts val="0"/>
              </a:spcBef>
              <a:spcAft>
                <a:spcPts val="0"/>
              </a:spcAft>
            </a:pPr>
            <a:r>
              <a:rPr sz="600" b="0">
                <a:solidFill>
                  <a:srgbClr val="475569"/>
                </a:solidFill>
                <a:latin typeface="IPAPGothic"/>
              </a:rPr>
              <a:t>終活関連サービス連携、デジタル遺品対策</a:t>
            </a:r>
          </a:p>
        </p:txBody>
      </p:sp>
      <p:sp>
        <p:nvSpPr>
          <p:cNvPr id="36" name="Rectangle 35"/>
          <p:cNvSpPr/>
          <p:nvPr/>
        </p:nvSpPr>
        <p:spPr>
          <a:xfrm>
            <a:off x="0" y="4823460"/>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48860"/>
            <a:ext cx="3657600" cy="256032"/>
          </a:xfrm>
          <a:prstGeom prst="rect">
            <a:avLst/>
          </a:prstGeom>
          <a:noFill/>
        </p:spPr>
        <p:txBody>
          <a:bodyPr wrap="square"/>
          <a:lstStyle/>
          <a:p>
            <a:pPr algn="l">
              <a:spcBef>
                <a:spcPts val="0"/>
              </a:spcBef>
              <a:spcAft>
                <a:spcPts val="0"/>
              </a:spcAft>
            </a:pPr>
            <a:r>
              <a:rPr sz="650" b="0">
                <a:solidFill>
                  <a:srgbClr val="94A3B8"/>
                </a:solidFill>
                <a:latin typeface="IPAPGothic"/>
              </a:rPr>
              <a:t>TokiStorage — 協業提案</a:t>
            </a:r>
          </a:p>
        </p:txBody>
      </p:sp>
      <p:sp>
        <p:nvSpPr>
          <p:cNvPr id="38" name="TextBox 37"/>
          <p:cNvSpPr txBox="1"/>
          <p:nvPr/>
        </p:nvSpPr>
        <p:spPr>
          <a:xfrm>
            <a:off x="3657600" y="4848860"/>
            <a:ext cx="1828800" cy="256032"/>
          </a:xfrm>
          <a:prstGeom prst="rect">
            <a:avLst/>
          </a:prstGeom>
          <a:noFill/>
        </p:spPr>
        <p:txBody>
          <a:bodyPr wrap="square"/>
          <a:lstStyle/>
          <a:p>
            <a:pPr algn="ctr">
              <a:spcBef>
                <a:spcPts val="0"/>
              </a:spcBef>
              <a:spcAft>
                <a:spcPts val="0"/>
              </a:spcAft>
            </a:pPr>
            <a:r>
              <a:rPr sz="650" b="0">
                <a:solidFill>
                  <a:srgbClr val="94A3B8"/>
                </a:solidFill>
                <a:latin typeface="IPAPGothic"/>
              </a:rPr>
              <a:t>Confidential</a:t>
            </a:r>
          </a:p>
        </p:txBody>
      </p:sp>
      <p:sp>
        <p:nvSpPr>
          <p:cNvPr id="39" name="TextBox 38"/>
          <p:cNvSpPr txBox="1"/>
          <p:nvPr/>
        </p:nvSpPr>
        <p:spPr>
          <a:xfrm>
            <a:off x="8229600" y="4848860"/>
            <a:ext cx="457200" cy="256032"/>
          </a:xfrm>
          <a:prstGeom prst="rect">
            <a:avLst/>
          </a:prstGeom>
          <a:noFill/>
        </p:spPr>
        <p:txBody>
          <a:bodyPr wrap="square"/>
          <a:lstStyle/>
          <a:p>
            <a:pPr algn="r">
              <a:spcBef>
                <a:spcPts val="0"/>
              </a:spcBef>
              <a:spcAft>
                <a:spcPts val="0"/>
              </a:spcAft>
            </a:pPr>
            <a:r>
              <a:rPr sz="650" b="1">
                <a:solidFill>
                  <a:srgbClr val="94A3B8"/>
                </a:solidFill>
                <a:latin typeface="IPAP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02920"/>
          </a:xfrm>
          <a:prstGeom prst="rect">
            <a:avLst/>
          </a:prstGeom>
          <a:noFill/>
        </p:spPr>
        <p:txBody>
          <a:bodyPr wrap="square" anchor="ctr"/>
          <a:lstStyle/>
          <a:p>
            <a:pPr algn="l">
              <a:spcBef>
                <a:spcPts val="0"/>
              </a:spcBef>
              <a:spcAft>
                <a:spcPts val="0"/>
              </a:spcAft>
            </a:pPr>
            <a:r>
              <a:rPr sz="900" b="1">
                <a:solidFill>
                  <a:srgbClr val="FFFFFF"/>
                </a:solidFill>
                <a:latin typeface="IPAPGothic"/>
              </a:rPr>
              <a:t>代表はBig4出身であり、ファームのコンプライアンス要件を理解した上で提携モデルを設計している</a:t>
            </a:r>
          </a:p>
        </p:txBody>
      </p:sp>
      <p:sp>
        <p:nvSpPr>
          <p:cNvPr id="4" name="TextBox 3"/>
          <p:cNvSpPr txBox="1"/>
          <p:nvPr/>
        </p:nvSpPr>
        <p:spPr>
          <a:xfrm>
            <a:off x="457200" y="640080"/>
            <a:ext cx="2743200" cy="228600"/>
          </a:xfrm>
          <a:prstGeom prst="rect">
            <a:avLst/>
          </a:prstGeom>
          <a:noFill/>
        </p:spPr>
        <p:txBody>
          <a:bodyPr wrap="square"/>
          <a:lstStyle/>
          <a:p>
            <a:pPr algn="l">
              <a:spcBef>
                <a:spcPts val="0"/>
              </a:spcBef>
              <a:spcAft>
                <a:spcPts val="0"/>
              </a:spcAft>
            </a:pPr>
            <a:r>
              <a:rPr sz="700" b="1">
                <a:solidFill>
                  <a:srgbClr val="2563EB"/>
                </a:solidFill>
                <a:latin typeface="IPAPGothic"/>
              </a:rPr>
              <a:t>TEAM &amp; INDEPENDENCE</a:t>
            </a:r>
          </a:p>
        </p:txBody>
      </p:sp>
      <p:sp>
        <p:nvSpPr>
          <p:cNvPr id="5" name="Oval 4"/>
          <p:cNvSpPr/>
          <p:nvPr/>
        </p:nvSpPr>
        <p:spPr>
          <a:xfrm>
            <a:off x="457200" y="914400"/>
            <a:ext cx="548640" cy="548640"/>
          </a:xfrm>
          <a:prstGeom prst="ellipse">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 cy="548640"/>
          </a:xfrm>
          <a:prstGeom prst="rect">
            <a:avLst/>
          </a:prstGeom>
          <a:noFill/>
        </p:spPr>
        <p:txBody>
          <a:bodyPr wrap="square" anchor="ctr"/>
          <a:lstStyle/>
          <a:p>
            <a:pPr algn="ctr">
              <a:spcBef>
                <a:spcPts val="0"/>
              </a:spcBef>
              <a:spcAft>
                <a:spcPts val="0"/>
              </a:spcAft>
            </a:pPr>
            <a:r>
              <a:rPr sz="1200" b="1">
                <a:solidFill>
                  <a:srgbClr val="FFFFFF"/>
                </a:solidFill>
                <a:latin typeface="IPAPGothic"/>
              </a:rPr>
              <a:t>佐</a:t>
            </a:r>
          </a:p>
        </p:txBody>
      </p:sp>
      <p:sp>
        <p:nvSpPr>
          <p:cNvPr id="7" name="TextBox 6"/>
          <p:cNvSpPr txBox="1"/>
          <p:nvPr/>
        </p:nvSpPr>
        <p:spPr>
          <a:xfrm>
            <a:off x="1143000" y="914400"/>
            <a:ext cx="6400800" cy="228600"/>
          </a:xfrm>
          <a:prstGeom prst="rect">
            <a:avLst/>
          </a:prstGeom>
          <a:noFill/>
        </p:spPr>
        <p:txBody>
          <a:bodyPr wrap="square"/>
          <a:lstStyle/>
          <a:p>
            <a:pPr algn="l">
              <a:spcBef>
                <a:spcPts val="0"/>
              </a:spcBef>
              <a:spcAft>
                <a:spcPts val="0"/>
              </a:spcAft>
            </a:pPr>
            <a:r>
              <a:rPr sz="800" b="1">
                <a:solidFill>
                  <a:srgbClr val="1E293B"/>
                </a:solidFill>
                <a:latin typeface="IPAPGothic"/>
              </a:rPr>
              <a:t>佐藤卓也 — Universal Need株式会社 代表</a:t>
            </a:r>
          </a:p>
        </p:txBody>
      </p:sp>
      <p:sp>
        <p:nvSpPr>
          <p:cNvPr id="8" name="TextBox 7"/>
          <p:cNvSpPr txBox="1"/>
          <p:nvPr/>
        </p:nvSpPr>
        <p:spPr>
          <a:xfrm>
            <a:off x="1143000" y="1170432"/>
            <a:ext cx="6858000" cy="868680"/>
          </a:xfrm>
          <a:prstGeom prst="rect">
            <a:avLst/>
          </a:prstGeom>
          <a:noFill/>
        </p:spPr>
        <p:txBody>
          <a:bodyPr wrap="square"/>
          <a:lstStyle/>
          <a:p>
            <a:pPr algn="l">
              <a:spcBef>
                <a:spcPts val="0"/>
              </a:spcBef>
              <a:spcAft>
                <a:spcPts val="0"/>
              </a:spcAft>
            </a:pPr>
            <a:r>
              <a:rPr sz="650" b="0">
                <a:solidFill>
                  <a:srgbClr val="475569"/>
                </a:solidFill>
                <a:latin typeface="IPAPGothic"/>
              </a:rPr>
              <a:t>大手コンサルティングファームでの経験を経て、半導体製造装置のエンジニアリング20年超。タイムレスタウン新浦安（250世帯）の自治会長として「ゆりかごから墓場まで」のコミュニティ運営を経験。SoulCarrier活動で「記憶が消える恐怖」を目の当たりにし、TokiStorageを着想。マウイ・山中湖でのオフグリッド実証を経て、制度に依存しない千年設計の技術を完成。</a:t>
            </a:r>
          </a:p>
        </p:txBody>
      </p:sp>
      <p:sp>
        <p:nvSpPr>
          <p:cNvPr id="9" name="Rectangle 8"/>
          <p:cNvSpPr/>
          <p:nvPr/>
        </p:nvSpPr>
        <p:spPr>
          <a:xfrm>
            <a:off x="1143000" y="2011680"/>
            <a:ext cx="928116" cy="201168"/>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2011680"/>
            <a:ext cx="836676" cy="201168"/>
          </a:xfrm>
          <a:prstGeom prst="rect">
            <a:avLst/>
          </a:prstGeom>
          <a:noFill/>
        </p:spPr>
        <p:txBody>
          <a:bodyPr wrap="square" anchor="ctr"/>
          <a:lstStyle/>
          <a:p>
            <a:pPr algn="ctr">
              <a:spcBef>
                <a:spcPts val="0"/>
              </a:spcBef>
              <a:spcAft>
                <a:spcPts val="0"/>
              </a:spcAft>
            </a:pPr>
            <a:r>
              <a:rPr sz="550" b="0">
                <a:solidFill>
                  <a:srgbClr val="475569"/>
                </a:solidFill>
                <a:latin typeface="IPAPGothic"/>
              </a:rPr>
              <a:t>元Big4ファーム</a:t>
            </a:r>
          </a:p>
        </p:txBody>
      </p:sp>
      <p:sp>
        <p:nvSpPr>
          <p:cNvPr id="11" name="Rectangle 10"/>
          <p:cNvSpPr/>
          <p:nvPr/>
        </p:nvSpPr>
        <p:spPr>
          <a:xfrm>
            <a:off x="2144268" y="2011680"/>
            <a:ext cx="1472184" cy="201168"/>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89988" y="2011680"/>
            <a:ext cx="1380744" cy="201168"/>
          </a:xfrm>
          <a:prstGeom prst="rect">
            <a:avLst/>
          </a:prstGeom>
          <a:noFill/>
        </p:spPr>
        <p:txBody>
          <a:bodyPr wrap="square" anchor="ctr"/>
          <a:lstStyle/>
          <a:p>
            <a:pPr algn="ctr">
              <a:spcBef>
                <a:spcPts val="0"/>
              </a:spcBef>
              <a:spcAft>
                <a:spcPts val="0"/>
              </a:spcAft>
            </a:pPr>
            <a:r>
              <a:rPr sz="550" b="0">
                <a:solidFill>
                  <a:srgbClr val="475569"/>
                </a:solidFill>
                <a:latin typeface="IPAPGothic"/>
              </a:rPr>
              <a:t>半導体エンジニアリング 20年+</a:t>
            </a:r>
          </a:p>
        </p:txBody>
      </p:sp>
      <p:sp>
        <p:nvSpPr>
          <p:cNvPr id="13" name="Rectangle 12"/>
          <p:cNvSpPr/>
          <p:nvPr/>
        </p:nvSpPr>
        <p:spPr>
          <a:xfrm>
            <a:off x="3689604" y="2011680"/>
            <a:ext cx="1083564" cy="201168"/>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5324" y="2011680"/>
            <a:ext cx="992124" cy="201168"/>
          </a:xfrm>
          <a:prstGeom prst="rect">
            <a:avLst/>
          </a:prstGeom>
          <a:noFill/>
        </p:spPr>
        <p:txBody>
          <a:bodyPr wrap="square" anchor="ctr"/>
          <a:lstStyle/>
          <a:p>
            <a:pPr algn="ctr">
              <a:spcBef>
                <a:spcPts val="0"/>
              </a:spcBef>
              <a:spcAft>
                <a:spcPts val="0"/>
              </a:spcAft>
            </a:pPr>
            <a:r>
              <a:rPr sz="550" b="0">
                <a:solidFill>
                  <a:srgbClr val="475569"/>
                </a:solidFill>
                <a:latin typeface="IPAPGothic"/>
              </a:rPr>
              <a:t>自治会長（250世帯）</a:t>
            </a:r>
          </a:p>
        </p:txBody>
      </p:sp>
      <p:sp>
        <p:nvSpPr>
          <p:cNvPr id="15" name="Rectangle 14"/>
          <p:cNvSpPr/>
          <p:nvPr/>
        </p:nvSpPr>
        <p:spPr>
          <a:xfrm>
            <a:off x="4846320" y="2011680"/>
            <a:ext cx="1239012" cy="201168"/>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92040" y="2011680"/>
            <a:ext cx="1147572" cy="201168"/>
          </a:xfrm>
          <a:prstGeom prst="rect">
            <a:avLst/>
          </a:prstGeom>
          <a:noFill/>
        </p:spPr>
        <p:txBody>
          <a:bodyPr wrap="square" anchor="ctr"/>
          <a:lstStyle/>
          <a:p>
            <a:pPr algn="ctr">
              <a:spcBef>
                <a:spcPts val="0"/>
              </a:spcBef>
              <a:spcAft>
                <a:spcPts val="0"/>
              </a:spcAft>
            </a:pPr>
            <a:r>
              <a:rPr sz="550" b="0">
                <a:solidFill>
                  <a:srgbClr val="475569"/>
                </a:solidFill>
                <a:latin typeface="IPAPGothic"/>
              </a:rPr>
              <a:t>SoulCarrier主宰</a:t>
            </a:r>
          </a:p>
        </p:txBody>
      </p:sp>
      <p:sp>
        <p:nvSpPr>
          <p:cNvPr id="17" name="Rectangle 16"/>
          <p:cNvSpPr/>
          <p:nvPr/>
        </p:nvSpPr>
        <p:spPr>
          <a:xfrm>
            <a:off x="6158484" y="2011680"/>
            <a:ext cx="1005840" cy="201168"/>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04204" y="2011680"/>
            <a:ext cx="914400" cy="201168"/>
          </a:xfrm>
          <a:prstGeom prst="rect">
            <a:avLst/>
          </a:prstGeom>
          <a:noFill/>
        </p:spPr>
        <p:txBody>
          <a:bodyPr wrap="square" anchor="ctr"/>
          <a:lstStyle/>
          <a:p>
            <a:pPr algn="ctr">
              <a:spcBef>
                <a:spcPts val="0"/>
              </a:spcBef>
              <a:spcAft>
                <a:spcPts val="0"/>
              </a:spcAft>
            </a:pPr>
            <a:r>
              <a:rPr sz="550" b="0">
                <a:solidFill>
                  <a:srgbClr val="475569"/>
                </a:solidFill>
                <a:latin typeface="IPAPGothic"/>
              </a:rPr>
              <a:t>オフグリッド実証済み</a:t>
            </a:r>
          </a:p>
        </p:txBody>
      </p:sp>
      <p:sp>
        <p:nvSpPr>
          <p:cNvPr id="19" name="Rectangle 18"/>
          <p:cNvSpPr/>
          <p:nvPr/>
        </p:nvSpPr>
        <p:spPr>
          <a:xfrm>
            <a:off x="7237476" y="2011680"/>
            <a:ext cx="1316736" cy="201168"/>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83196" y="2011680"/>
            <a:ext cx="1225296" cy="201168"/>
          </a:xfrm>
          <a:prstGeom prst="rect">
            <a:avLst/>
          </a:prstGeom>
          <a:noFill/>
        </p:spPr>
        <p:txBody>
          <a:bodyPr wrap="square" anchor="ctr"/>
          <a:lstStyle/>
          <a:p>
            <a:pPr algn="ctr">
              <a:spcBef>
                <a:spcPts val="0"/>
              </a:spcBef>
              <a:spcAft>
                <a:spcPts val="0"/>
              </a:spcAft>
            </a:pPr>
            <a:r>
              <a:rPr sz="550" b="0">
                <a:solidFill>
                  <a:srgbClr val="475569"/>
                </a:solidFill>
                <a:latin typeface="IPAPGothic"/>
              </a:rPr>
              <a:t>佐渡島移住予定（2026春）</a:t>
            </a:r>
          </a:p>
        </p:txBody>
      </p:sp>
      <p:sp>
        <p:nvSpPr>
          <p:cNvPr id="21" name="Rectangle 20"/>
          <p:cNvSpPr/>
          <p:nvPr/>
        </p:nvSpPr>
        <p:spPr>
          <a:xfrm>
            <a:off x="457200" y="2377440"/>
            <a:ext cx="7863840" cy="73152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2377440"/>
            <a:ext cx="45720"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432304"/>
            <a:ext cx="7589520" cy="182880"/>
          </a:xfrm>
          <a:prstGeom prst="rect">
            <a:avLst/>
          </a:prstGeom>
          <a:noFill/>
        </p:spPr>
        <p:txBody>
          <a:bodyPr wrap="square"/>
          <a:lstStyle/>
          <a:p>
            <a:pPr algn="l">
              <a:spcBef>
                <a:spcPts val="0"/>
              </a:spcBef>
              <a:spcAft>
                <a:spcPts val="0"/>
              </a:spcAft>
            </a:pPr>
            <a:r>
              <a:rPr sz="700" b="1">
                <a:solidFill>
                  <a:srgbClr val="1E293B"/>
                </a:solidFill>
                <a:latin typeface="IPAPGothic"/>
              </a:rPr>
              <a:t>独立性（Independence）について</a:t>
            </a:r>
          </a:p>
        </p:txBody>
      </p:sp>
      <p:sp>
        <p:nvSpPr>
          <p:cNvPr id="24" name="TextBox 23"/>
          <p:cNvSpPr txBox="1"/>
          <p:nvPr/>
        </p:nvSpPr>
        <p:spPr>
          <a:xfrm>
            <a:off x="640080" y="2633472"/>
            <a:ext cx="7589520" cy="411480"/>
          </a:xfrm>
          <a:prstGeom prst="rect">
            <a:avLst/>
          </a:prstGeom>
          <a:noFill/>
        </p:spPr>
        <p:txBody>
          <a:bodyPr wrap="square"/>
          <a:lstStyle/>
          <a:p>
            <a:pPr algn="l">
              <a:spcBef>
                <a:spcPts val="0"/>
              </a:spcBef>
              <a:spcAft>
                <a:spcPts val="0"/>
              </a:spcAft>
            </a:pPr>
            <a:r>
              <a:rPr sz="650" b="0">
                <a:solidFill>
                  <a:srgbClr val="475569"/>
                </a:solidFill>
                <a:latin typeface="IPAPGothic"/>
              </a:rPr>
              <a:t>本提携はベンダーパートナーシップです。SalesforceやSAPの導入推奨と同じ構造であり、監査契約・出資関係は一切含みません。独立性に関する懸念が発生しない設計です。</a:t>
            </a:r>
          </a:p>
        </p:txBody>
      </p:sp>
      <p:sp>
        <p:nvSpPr>
          <p:cNvPr id="25" name="Rectangle 24"/>
          <p:cNvSpPr/>
          <p:nvPr/>
        </p:nvSpPr>
        <p:spPr>
          <a:xfrm>
            <a:off x="0" y="4823460"/>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48860"/>
            <a:ext cx="3657600" cy="256032"/>
          </a:xfrm>
          <a:prstGeom prst="rect">
            <a:avLst/>
          </a:prstGeom>
          <a:noFill/>
        </p:spPr>
        <p:txBody>
          <a:bodyPr wrap="square"/>
          <a:lstStyle/>
          <a:p>
            <a:pPr algn="l">
              <a:spcBef>
                <a:spcPts val="0"/>
              </a:spcBef>
              <a:spcAft>
                <a:spcPts val="0"/>
              </a:spcAft>
            </a:pPr>
            <a:r>
              <a:rPr sz="650" b="0">
                <a:solidFill>
                  <a:srgbClr val="94A3B8"/>
                </a:solidFill>
                <a:latin typeface="IPAPGothic"/>
              </a:rPr>
              <a:t>TokiStorage — 協業提案</a:t>
            </a:r>
          </a:p>
        </p:txBody>
      </p:sp>
      <p:sp>
        <p:nvSpPr>
          <p:cNvPr id="27" name="TextBox 26"/>
          <p:cNvSpPr txBox="1"/>
          <p:nvPr/>
        </p:nvSpPr>
        <p:spPr>
          <a:xfrm>
            <a:off x="3657600" y="4848860"/>
            <a:ext cx="1828800" cy="256032"/>
          </a:xfrm>
          <a:prstGeom prst="rect">
            <a:avLst/>
          </a:prstGeom>
          <a:noFill/>
        </p:spPr>
        <p:txBody>
          <a:bodyPr wrap="square"/>
          <a:lstStyle/>
          <a:p>
            <a:pPr algn="ctr">
              <a:spcBef>
                <a:spcPts val="0"/>
              </a:spcBef>
              <a:spcAft>
                <a:spcPts val="0"/>
              </a:spcAft>
            </a:pPr>
            <a:r>
              <a:rPr sz="650" b="0">
                <a:solidFill>
                  <a:srgbClr val="94A3B8"/>
                </a:solidFill>
                <a:latin typeface="IPAPGothic"/>
              </a:rPr>
              <a:t>Confidential</a:t>
            </a:r>
          </a:p>
        </p:txBody>
      </p:sp>
      <p:sp>
        <p:nvSpPr>
          <p:cNvPr id="28" name="TextBox 27"/>
          <p:cNvSpPr txBox="1"/>
          <p:nvPr/>
        </p:nvSpPr>
        <p:spPr>
          <a:xfrm>
            <a:off x="8229600" y="4848860"/>
            <a:ext cx="457200" cy="256032"/>
          </a:xfrm>
          <a:prstGeom prst="rect">
            <a:avLst/>
          </a:prstGeom>
          <a:noFill/>
        </p:spPr>
        <p:txBody>
          <a:bodyPr wrap="square"/>
          <a:lstStyle/>
          <a:p>
            <a:pPr algn="r">
              <a:spcBef>
                <a:spcPts val="0"/>
              </a:spcBef>
              <a:spcAft>
                <a:spcPts val="0"/>
              </a:spcAft>
            </a:pPr>
            <a:r>
              <a:rPr sz="650" b="1">
                <a:solidFill>
                  <a:srgbClr val="94A3B8"/>
                </a:solidFill>
                <a:latin typeface="IPAP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2743200" cy="320040"/>
          </a:xfrm>
          <a:prstGeom prst="rect">
            <a:avLst/>
          </a:prstGeom>
          <a:noFill/>
        </p:spPr>
        <p:txBody>
          <a:bodyPr wrap="square"/>
          <a:lstStyle/>
          <a:p>
            <a:pPr algn="l">
              <a:spcBef>
                <a:spcPts val="0"/>
              </a:spcBef>
              <a:spcAft>
                <a:spcPts val="0"/>
              </a:spcAft>
            </a:pPr>
            <a:r>
              <a:rPr sz="900" b="1">
                <a:solidFill>
                  <a:srgbClr val="FFFFFF"/>
                </a:solidFill>
                <a:latin typeface="IPAPGothic"/>
              </a:rPr>
              <a:t>Next Step</a:t>
            </a:r>
          </a:p>
        </p:txBody>
      </p:sp>
      <p:sp>
        <p:nvSpPr>
          <p:cNvPr id="4" name="TextBox 3"/>
          <p:cNvSpPr txBox="1"/>
          <p:nvPr/>
        </p:nvSpPr>
        <p:spPr>
          <a:xfrm>
            <a:off x="914400" y="1371600"/>
            <a:ext cx="7315200" cy="914400"/>
          </a:xfrm>
          <a:prstGeom prst="rect">
            <a:avLst/>
          </a:prstGeom>
          <a:noFill/>
        </p:spPr>
        <p:txBody>
          <a:bodyPr wrap="square"/>
          <a:lstStyle/>
          <a:p>
            <a:pPr algn="ctr">
              <a:spcBef>
                <a:spcPts val="0"/>
              </a:spcBef>
              <a:spcAft>
                <a:spcPts val="0"/>
              </a:spcAft>
            </a:pPr>
            <a:r>
              <a:rPr sz="1800" b="1">
                <a:solidFill>
                  <a:srgbClr val="FFFFFF"/>
                </a:solidFill>
                <a:latin typeface="IPAPGothic"/>
              </a:rPr>
              <a:t>まずは30分、お話ししませんか。</a:t>
            </a:r>
          </a:p>
        </p:txBody>
      </p:sp>
      <p:sp>
        <p:nvSpPr>
          <p:cNvPr id="5" name="TextBox 4"/>
          <p:cNvSpPr txBox="1"/>
          <p:nvPr/>
        </p:nvSpPr>
        <p:spPr>
          <a:xfrm>
            <a:off x="1371600" y="2560320"/>
            <a:ext cx="6400800" cy="914400"/>
          </a:xfrm>
          <a:prstGeom prst="rect">
            <a:avLst/>
          </a:prstGeom>
          <a:noFill/>
        </p:spPr>
        <p:txBody>
          <a:bodyPr wrap="square"/>
          <a:lstStyle/>
          <a:p>
            <a:pPr algn="ctr">
              <a:spcBef>
                <a:spcPts val="0"/>
              </a:spcBef>
              <a:spcAft>
                <a:spcPts val="0"/>
              </a:spcAft>
            </a:pPr>
            <a:r>
              <a:rPr sz="900" b="0">
                <a:solidFill>
                  <a:srgbClr val="BBBBCC"/>
                </a:solidFill>
                <a:latin typeface="IPAPGothic"/>
              </a:rPr>
              <a:t>提携の形は柔軟に設計できます。
貴社クライアントの具体的な課題から逆算して、
一緒に最適なモデルを見つけましょう。</a:t>
            </a:r>
          </a:p>
        </p:txBody>
      </p:sp>
      <p:sp>
        <p:nvSpPr>
          <p:cNvPr id="6" name="Rectangle 5"/>
          <p:cNvSpPr/>
          <p:nvPr/>
        </p:nvSpPr>
        <p:spPr>
          <a:xfrm>
            <a:off x="0" y="465886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686300"/>
            <a:ext cx="3657600" cy="274320"/>
          </a:xfrm>
          <a:prstGeom prst="rect">
            <a:avLst/>
          </a:prstGeom>
          <a:noFill/>
        </p:spPr>
        <p:txBody>
          <a:bodyPr wrap="square"/>
          <a:lstStyle/>
          <a:p>
            <a:pPr algn="l">
              <a:spcBef>
                <a:spcPts val="0"/>
              </a:spcBef>
              <a:spcAft>
                <a:spcPts val="0"/>
              </a:spcAft>
            </a:pPr>
            <a:r>
              <a:rPr sz="650" b="0">
                <a:solidFill>
                  <a:srgbClr val="94A3B8"/>
                </a:solidFill>
                <a:latin typeface="IPAPGothic"/>
              </a:rPr>
              <a:t>Universal Need株式会社 — TokiStorage</a:t>
            </a:r>
          </a:p>
        </p:txBody>
      </p:sp>
      <p:sp>
        <p:nvSpPr>
          <p:cNvPr id="8" name="TextBox 7"/>
          <p:cNvSpPr txBox="1"/>
          <p:nvPr/>
        </p:nvSpPr>
        <p:spPr>
          <a:xfrm>
            <a:off x="3657600" y="4686300"/>
            <a:ext cx="1828800" cy="274320"/>
          </a:xfrm>
          <a:prstGeom prst="rect">
            <a:avLst/>
          </a:prstGeom>
          <a:noFill/>
        </p:spPr>
        <p:txBody>
          <a:bodyPr wrap="square"/>
          <a:lstStyle/>
          <a:p>
            <a:pPr algn="ctr">
              <a:spcBef>
                <a:spcPts val="0"/>
              </a:spcBef>
              <a:spcAft>
                <a:spcPts val="0"/>
              </a:spcAft>
            </a:pPr>
            <a:r>
              <a:rPr sz="650" b="0">
                <a:solidFill>
                  <a:srgbClr val="94A3B8"/>
                </a:solidFill>
                <a:latin typeface="IPAPGothic"/>
              </a:rPr>
              <a:t>Confidential</a:t>
            </a:r>
          </a:p>
        </p:txBody>
      </p:sp>
      <p:sp>
        <p:nvSpPr>
          <p:cNvPr id="9" name="TextBox 8"/>
          <p:cNvSpPr txBox="1"/>
          <p:nvPr/>
        </p:nvSpPr>
        <p:spPr>
          <a:xfrm>
            <a:off x="8229600" y="4686300"/>
            <a:ext cx="457200" cy="274320"/>
          </a:xfrm>
          <a:prstGeom prst="rect">
            <a:avLst/>
          </a:prstGeom>
          <a:noFill/>
        </p:spPr>
        <p:txBody>
          <a:bodyPr wrap="square"/>
          <a:lstStyle/>
          <a:p>
            <a:pPr algn="r">
              <a:spcBef>
                <a:spcPts val="0"/>
              </a:spcBef>
              <a:spcAft>
                <a:spcPts val="0"/>
              </a:spcAft>
            </a:pPr>
            <a:r>
              <a:rPr sz="650" b="1">
                <a:solidFill>
                  <a:srgbClr val="94A3B8"/>
                </a:solidFill>
                <a:latin typeface="IPAPGothic"/>
              </a:rP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