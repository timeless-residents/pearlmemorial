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4572000" cy="274320"/>
          </a:xfrm>
          <a:prstGeom prst="rect">
            <a:avLst/>
          </a:prstGeom>
          <a:noFill/>
        </p:spPr>
        <p:txBody>
          <a:bodyPr wrap="square"/>
          <a:lstStyle/>
          <a:p>
            <a:pPr algn="l">
              <a:spcBef>
                <a:spcPts val="0"/>
              </a:spcBef>
              <a:spcAft>
                <a:spcPts val="0"/>
              </a:spcAft>
            </a:pPr>
            <a:r>
              <a:rPr sz="700" b="0">
                <a:solidFill>
                  <a:srgbClr val="94A3B8"/>
                </a:solidFill>
                <a:latin typeface="IPAPGothic"/>
              </a:rPr>
              <a:t>Partnership Proposal — Confidential</a:t>
            </a:r>
          </a:p>
        </p:txBody>
      </p:sp>
      <p:sp>
        <p:nvSpPr>
          <p:cNvPr id="4" name="TextBox 3"/>
          <p:cNvSpPr txBox="1"/>
          <p:nvPr/>
        </p:nvSpPr>
        <p:spPr>
          <a:xfrm>
            <a:off x="914400" y="1371600"/>
            <a:ext cx="7315200" cy="1097280"/>
          </a:xfrm>
          <a:prstGeom prst="rect">
            <a:avLst/>
          </a:prstGeom>
          <a:noFill/>
        </p:spPr>
        <p:txBody>
          <a:bodyPr wrap="square"/>
          <a:lstStyle/>
          <a:p>
            <a:pPr algn="l">
              <a:spcBef>
                <a:spcPts val="0"/>
              </a:spcBef>
              <a:spcAft>
                <a:spcPts val="0"/>
              </a:spcAft>
            </a:pPr>
            <a:r>
              <a:rPr sz="2200" b="1">
                <a:solidFill>
                  <a:srgbClr val="FFFFFF"/>
                </a:solidFill>
                <a:latin typeface="IPAPGothic"/>
              </a:rPr>
              <a:t>貴社クライアントに、
「千年の存在証明」を。</a:t>
            </a:r>
          </a:p>
        </p:txBody>
      </p:sp>
      <p:sp>
        <p:nvSpPr>
          <p:cNvPr id="5" name="TextBox 4"/>
          <p:cNvSpPr txBox="1"/>
          <p:nvPr/>
        </p:nvSpPr>
        <p:spPr>
          <a:xfrm>
            <a:off x="914400" y="2651760"/>
            <a:ext cx="6400800" cy="731520"/>
          </a:xfrm>
          <a:prstGeom prst="rect">
            <a:avLst/>
          </a:prstGeom>
          <a:noFill/>
        </p:spPr>
        <p:txBody>
          <a:bodyPr wrap="square"/>
          <a:lstStyle/>
          <a:p>
            <a:pPr algn="l">
              <a:spcBef>
                <a:spcPts val="0"/>
              </a:spcBef>
              <a:spcAft>
                <a:spcPts val="0"/>
              </a:spcAft>
            </a:pPr>
            <a:r>
              <a:rPr sz="10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9486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68012"/>
            <a:ext cx="2743200" cy="274320"/>
          </a:xfrm>
          <a:prstGeom prst="rect">
            <a:avLst/>
          </a:prstGeom>
          <a:noFill/>
        </p:spPr>
        <p:txBody>
          <a:bodyPr wrap="square"/>
          <a:lstStyle/>
          <a:p>
            <a:pPr algn="l">
              <a:spcBef>
                <a:spcPts val="0"/>
              </a:spcBef>
              <a:spcAft>
                <a:spcPts val="0"/>
              </a:spcAft>
            </a:pPr>
            <a:r>
              <a:rPr sz="650" b="0">
                <a:solidFill>
                  <a:srgbClr val="94A3B8"/>
                </a:solidFill>
                <a:latin typeface="IPAPGothic"/>
              </a:rPr>
              <a:t>Universal Need株式会社</a:t>
            </a:r>
          </a:p>
        </p:txBody>
      </p:sp>
      <p:sp>
        <p:nvSpPr>
          <p:cNvPr id="8" name="TextBox 7"/>
          <p:cNvSpPr txBox="1"/>
          <p:nvPr/>
        </p:nvSpPr>
        <p:spPr>
          <a:xfrm>
            <a:off x="3657600" y="4668012"/>
            <a:ext cx="1828800" cy="274320"/>
          </a:xfrm>
          <a:prstGeom prst="rect">
            <a:avLst/>
          </a:prstGeom>
          <a:noFill/>
        </p:spPr>
        <p:txBody>
          <a:bodyPr wrap="square"/>
          <a:lstStyle/>
          <a:p>
            <a:pPr algn="ctr">
              <a:spcBef>
                <a:spcPts val="0"/>
              </a:spcBef>
              <a:spcAft>
                <a:spcPts val="0"/>
              </a:spcAft>
            </a:pPr>
            <a:r>
              <a:rPr sz="650" b="0">
                <a:solidFill>
                  <a:srgbClr val="94A3B8"/>
                </a:solidFill>
                <a:latin typeface="IPAPGothic"/>
              </a:rPr>
              <a:t>TokiStorage</a:t>
            </a:r>
          </a:p>
        </p:txBody>
      </p:sp>
      <p:sp>
        <p:nvSpPr>
          <p:cNvPr id="9" name="TextBox 8"/>
          <p:cNvSpPr txBox="1"/>
          <p:nvPr/>
        </p:nvSpPr>
        <p:spPr>
          <a:xfrm>
            <a:off x="7315200" y="4668012"/>
            <a:ext cx="1371600" cy="274320"/>
          </a:xfrm>
          <a:prstGeom prst="rect">
            <a:avLst/>
          </a:prstGeom>
          <a:noFill/>
        </p:spPr>
        <p:txBody>
          <a:bodyPr wrap="square"/>
          <a:lstStyle/>
          <a:p>
            <a:pPr algn="r">
              <a:spcBef>
                <a:spcPts val="0"/>
              </a:spcBef>
              <a:spcAft>
                <a:spcPts val="0"/>
              </a:spcAft>
            </a:pPr>
            <a:r>
              <a:rPr sz="65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既存のデジタルサービスは「今」に最適化されており、千年スケールの保存レイヤーが構造的に不在である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BACKGROUND</a:t>
            </a:r>
          </a:p>
        </p:txBody>
      </p:sp>
      <p:sp>
        <p:nvSpPr>
          <p:cNvPr id="5" name="Rectangle 4"/>
          <p:cNvSpPr/>
          <p:nvPr/>
        </p:nvSpPr>
        <p:spPr>
          <a:xfrm>
            <a:off x="457200" y="914400"/>
            <a:ext cx="2606040" cy="3291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987552"/>
            <a:ext cx="457200" cy="228600"/>
          </a:xfrm>
          <a:prstGeom prst="rect">
            <a:avLst/>
          </a:prstGeom>
          <a:noFill/>
        </p:spPr>
        <p:txBody>
          <a:bodyPr wrap="square"/>
          <a:lstStyle/>
          <a:p>
            <a:pPr algn="l">
              <a:spcBef>
                <a:spcPts val="0"/>
              </a:spcBef>
              <a:spcAft>
                <a:spcPts val="0"/>
              </a:spcAft>
            </a:pPr>
            <a:r>
              <a:rPr sz="1100" b="1">
                <a:solidFill>
                  <a:srgbClr val="2563EB"/>
                </a:solidFill>
                <a:latin typeface="IPAPGothic"/>
              </a:rPr>
              <a:t>01</a:t>
            </a:r>
          </a:p>
        </p:txBody>
      </p:sp>
      <p:sp>
        <p:nvSpPr>
          <p:cNvPr id="7" name="TextBox 6"/>
          <p:cNvSpPr txBox="1"/>
          <p:nvPr/>
        </p:nvSpPr>
        <p:spPr>
          <a:xfrm>
            <a:off x="566928" y="1234440"/>
            <a:ext cx="2386584" cy="201168"/>
          </a:xfrm>
          <a:prstGeom prst="rect">
            <a:avLst/>
          </a:prstGeom>
          <a:noFill/>
        </p:spPr>
        <p:txBody>
          <a:bodyPr wrap="square"/>
          <a:lstStyle/>
          <a:p>
            <a:pPr algn="l">
              <a:spcBef>
                <a:spcPts val="0"/>
              </a:spcBef>
              <a:spcAft>
                <a:spcPts val="0"/>
              </a:spcAft>
            </a:pPr>
            <a:r>
              <a:rPr sz="800" b="1">
                <a:solidFill>
                  <a:srgbClr val="1E293B"/>
                </a:solidFill>
                <a:latin typeface="IPAPGothic"/>
              </a:rPr>
              <a:t>デジタルは「今」に最適化</a:t>
            </a:r>
          </a:p>
        </p:txBody>
      </p:sp>
      <p:sp>
        <p:nvSpPr>
          <p:cNvPr id="8" name="TextBox 7"/>
          <p:cNvSpPr txBox="1"/>
          <p:nvPr/>
        </p:nvSpPr>
        <p:spPr>
          <a:xfrm>
            <a:off x="566928" y="1444752"/>
            <a:ext cx="2386584" cy="2670048"/>
          </a:xfrm>
          <a:prstGeom prst="rect">
            <a:avLst/>
          </a:prstGeom>
          <a:noFill/>
        </p:spPr>
        <p:txBody>
          <a:bodyPr wrap="square"/>
          <a:lstStyle/>
          <a:p>
            <a:pPr algn="l">
              <a:spcBef>
                <a:spcPts val="0"/>
              </a:spcBef>
              <a:spcAft>
                <a:spcPts val="0"/>
              </a:spcAft>
            </a:pPr>
            <a:r>
              <a:rPr sz="700" b="0">
                <a:solidFill>
                  <a:srgbClr val="475569"/>
                </a:solidFill>
                <a:latin typeface="IPAPGothic"/>
              </a:rPr>
              <a:t>クラウドやSNSは日常の記録に極めて優秀。しかし100年・1000年スケールは設計対象外。時間軸が違えば、必要な設計も違う。</a:t>
            </a:r>
          </a:p>
        </p:txBody>
      </p:sp>
      <p:sp>
        <p:nvSpPr>
          <p:cNvPr id="9" name="Rectangle 8"/>
          <p:cNvSpPr/>
          <p:nvPr/>
        </p:nvSpPr>
        <p:spPr>
          <a:xfrm>
            <a:off x="3273552" y="914400"/>
            <a:ext cx="2606040" cy="3291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987552"/>
            <a:ext cx="457200" cy="228600"/>
          </a:xfrm>
          <a:prstGeom prst="rect">
            <a:avLst/>
          </a:prstGeom>
          <a:noFill/>
        </p:spPr>
        <p:txBody>
          <a:bodyPr wrap="square"/>
          <a:lstStyle/>
          <a:p>
            <a:pPr algn="l">
              <a:spcBef>
                <a:spcPts val="0"/>
              </a:spcBef>
              <a:spcAft>
                <a:spcPts val="0"/>
              </a:spcAft>
            </a:pPr>
            <a:r>
              <a:rPr sz="1100" b="1">
                <a:solidFill>
                  <a:srgbClr val="2563EB"/>
                </a:solidFill>
                <a:latin typeface="IPAPGothic"/>
              </a:rPr>
              <a:t>02</a:t>
            </a:r>
          </a:p>
        </p:txBody>
      </p:sp>
      <p:sp>
        <p:nvSpPr>
          <p:cNvPr id="11" name="TextBox 10"/>
          <p:cNvSpPr txBox="1"/>
          <p:nvPr/>
        </p:nvSpPr>
        <p:spPr>
          <a:xfrm>
            <a:off x="3383280" y="1234440"/>
            <a:ext cx="2386584" cy="201168"/>
          </a:xfrm>
          <a:prstGeom prst="rect">
            <a:avLst/>
          </a:prstGeom>
          <a:noFill/>
        </p:spPr>
        <p:txBody>
          <a:bodyPr wrap="square"/>
          <a:lstStyle/>
          <a:p>
            <a:pPr algn="l">
              <a:spcBef>
                <a:spcPts val="0"/>
              </a:spcBef>
              <a:spcAft>
                <a:spcPts val="0"/>
              </a:spcAft>
            </a:pPr>
            <a:r>
              <a:rPr sz="800" b="1">
                <a:solidFill>
                  <a:srgbClr val="1E293B"/>
                </a:solidFill>
                <a:latin typeface="IPAPGothic"/>
              </a:rPr>
              <a:t>「墓じまい」が社会課題に</a:t>
            </a:r>
          </a:p>
        </p:txBody>
      </p:sp>
      <p:sp>
        <p:nvSpPr>
          <p:cNvPr id="12" name="TextBox 11"/>
          <p:cNvSpPr txBox="1"/>
          <p:nvPr/>
        </p:nvSpPr>
        <p:spPr>
          <a:xfrm>
            <a:off x="3383280" y="1444752"/>
            <a:ext cx="2386584" cy="2670048"/>
          </a:xfrm>
          <a:prstGeom prst="rect">
            <a:avLst/>
          </a:prstGeom>
          <a:noFill/>
        </p:spPr>
        <p:txBody>
          <a:bodyPr wrap="square"/>
          <a:lstStyle/>
          <a:p>
            <a:pPr algn="l">
              <a:spcBef>
                <a:spcPts val="0"/>
              </a:spcBef>
              <a:spcAft>
                <a:spcPts val="0"/>
              </a:spcAft>
            </a:pPr>
            <a:r>
              <a:rPr sz="700" b="0">
                <a:solidFill>
                  <a:srgbClr val="475569"/>
                </a:solidFill>
                <a:latin typeface="IPAPGothic"/>
              </a:rPr>
              <a:t>無縁墓は年間数万基。2040年には単身世帯が4割超。「誰が記憶を残すのか」は個人の問題から社会の問題へ移行。</a:t>
            </a:r>
          </a:p>
        </p:txBody>
      </p:sp>
      <p:sp>
        <p:nvSpPr>
          <p:cNvPr id="13" name="Rectangle 12"/>
          <p:cNvSpPr/>
          <p:nvPr/>
        </p:nvSpPr>
        <p:spPr>
          <a:xfrm>
            <a:off x="6089904" y="914400"/>
            <a:ext cx="2606040" cy="32918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987552"/>
            <a:ext cx="457200" cy="228600"/>
          </a:xfrm>
          <a:prstGeom prst="rect">
            <a:avLst/>
          </a:prstGeom>
          <a:noFill/>
        </p:spPr>
        <p:txBody>
          <a:bodyPr wrap="square"/>
          <a:lstStyle/>
          <a:p>
            <a:pPr algn="l">
              <a:spcBef>
                <a:spcPts val="0"/>
              </a:spcBef>
              <a:spcAft>
                <a:spcPts val="0"/>
              </a:spcAft>
            </a:pPr>
            <a:r>
              <a:rPr sz="1100" b="1">
                <a:solidFill>
                  <a:srgbClr val="2563EB"/>
                </a:solidFill>
                <a:latin typeface="IPAPGothic"/>
              </a:rPr>
              <a:t>03</a:t>
            </a:r>
          </a:p>
        </p:txBody>
      </p:sp>
      <p:sp>
        <p:nvSpPr>
          <p:cNvPr id="15" name="TextBox 14"/>
          <p:cNvSpPr txBox="1"/>
          <p:nvPr/>
        </p:nvSpPr>
        <p:spPr>
          <a:xfrm>
            <a:off x="6199632" y="1234440"/>
            <a:ext cx="2386584" cy="201168"/>
          </a:xfrm>
          <a:prstGeom prst="rect">
            <a:avLst/>
          </a:prstGeom>
          <a:noFill/>
        </p:spPr>
        <p:txBody>
          <a:bodyPr wrap="square"/>
          <a:lstStyle/>
          <a:p>
            <a:pPr algn="l">
              <a:spcBef>
                <a:spcPts val="0"/>
              </a:spcBef>
              <a:spcAft>
                <a:spcPts val="0"/>
              </a:spcAft>
            </a:pPr>
            <a:r>
              <a:rPr sz="800" b="1">
                <a:solidFill>
                  <a:srgbClr val="1E293B"/>
                </a:solidFill>
                <a:latin typeface="IPAPGothic"/>
              </a:rPr>
              <a:t>千年レイヤーが不在</a:t>
            </a:r>
          </a:p>
        </p:txBody>
      </p:sp>
      <p:sp>
        <p:nvSpPr>
          <p:cNvPr id="16" name="TextBox 15"/>
          <p:cNvSpPr txBox="1"/>
          <p:nvPr/>
        </p:nvSpPr>
        <p:spPr>
          <a:xfrm>
            <a:off x="6199632" y="1444752"/>
            <a:ext cx="2386584" cy="2670048"/>
          </a:xfrm>
          <a:prstGeom prst="rect">
            <a:avLst/>
          </a:prstGeom>
          <a:noFill/>
        </p:spPr>
        <p:txBody>
          <a:bodyPr wrap="square"/>
          <a:lstStyle/>
          <a:p>
            <a:pPr algn="l">
              <a:spcBef>
                <a:spcPts val="0"/>
              </a:spcBef>
              <a:spcAft>
                <a:spcPts val="0"/>
              </a:spcAft>
            </a:pPr>
            <a:r>
              <a:rPr sz="700" b="0">
                <a:solidFill>
                  <a:srgbClr val="475569"/>
                </a:solidFill>
                <a:latin typeface="IPAPGothic"/>
              </a:rPr>
              <a:t>デジタル遺品整理、AI故人再現——市場は急成長。しかし全て既存インフラ上。補完する千年レイヤーが求められている。</a:t>
            </a:r>
          </a:p>
        </p:txBody>
      </p:sp>
      <p:sp>
        <p:nvSpPr>
          <p:cNvPr id="17" name="Rectangle 16"/>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19" name="TextBox 18"/>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0" name="TextBox 19"/>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OUR OFFERING</a:t>
            </a:r>
          </a:p>
        </p:txBody>
      </p:sp>
      <p:sp>
        <p:nvSpPr>
          <p:cNvPr id="5" name="Rectangle 4"/>
          <p:cNvSpPr/>
          <p:nvPr/>
        </p:nvSpPr>
        <p:spPr>
          <a:xfrm>
            <a:off x="457200" y="914400"/>
            <a:ext cx="3931920" cy="15544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6928" y="1024128"/>
            <a:ext cx="292608" cy="29260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292608" cy="292608"/>
          </a:xfrm>
          <a:prstGeom prst="rect">
            <a:avLst/>
          </a:prstGeom>
          <a:noFill/>
        </p:spPr>
        <p:txBody>
          <a:bodyPr wrap="square" anchor="ctr"/>
          <a:lstStyle/>
          <a:p>
            <a:pPr algn="ctr">
              <a:spcBef>
                <a:spcPts val="0"/>
              </a:spcBef>
              <a:spcAft>
                <a:spcPts val="0"/>
              </a:spcAft>
            </a:pPr>
            <a:r>
              <a:rPr sz="900" b="1">
                <a:solidFill>
                  <a:srgbClr val="2563EB"/>
                </a:solidFill>
                <a:latin typeface="IPAPGothic"/>
              </a:rPr>
              <a:t>Q</a:t>
            </a:r>
          </a:p>
        </p:txBody>
      </p:sp>
      <p:sp>
        <p:nvSpPr>
          <p:cNvPr id="8" name="TextBox 7"/>
          <p:cNvSpPr txBox="1"/>
          <p:nvPr/>
        </p:nvSpPr>
        <p:spPr>
          <a:xfrm>
            <a:off x="932688" y="1024128"/>
            <a:ext cx="3337560" cy="182880"/>
          </a:xfrm>
          <a:prstGeom prst="rect">
            <a:avLst/>
          </a:prstGeom>
          <a:noFill/>
        </p:spPr>
        <p:txBody>
          <a:bodyPr wrap="square"/>
          <a:lstStyle/>
          <a:p>
            <a:pPr algn="l">
              <a:spcBef>
                <a:spcPts val="0"/>
              </a:spcBef>
              <a:spcAft>
                <a:spcPts val="0"/>
              </a:spcAft>
            </a:pPr>
            <a:r>
              <a:rPr sz="800" b="1">
                <a:solidFill>
                  <a:srgbClr val="1E293B"/>
                </a:solidFill>
                <a:latin typeface="IPAPGothic"/>
              </a:rPr>
              <a:t>石英ガラス記録技術</a:t>
            </a:r>
          </a:p>
        </p:txBody>
      </p:sp>
      <p:sp>
        <p:nvSpPr>
          <p:cNvPr id="9" name="TextBox 8"/>
          <p:cNvSpPr txBox="1"/>
          <p:nvPr/>
        </p:nvSpPr>
        <p:spPr>
          <a:xfrm>
            <a:off x="932688" y="1225296"/>
            <a:ext cx="3337560" cy="1170432"/>
          </a:xfrm>
          <a:prstGeom prst="rect">
            <a:avLst/>
          </a:prstGeom>
          <a:noFill/>
        </p:spPr>
        <p:txBody>
          <a:bodyPr wrap="square"/>
          <a:lstStyle/>
          <a:p>
            <a:pPr algn="l">
              <a:spcBef>
                <a:spcPts val="0"/>
              </a:spcBef>
              <a:spcAft>
                <a:spcPts val="0"/>
              </a:spcAft>
            </a:pPr>
            <a:r>
              <a:rPr sz="65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914400"/>
            <a:ext cx="3931920" cy="15544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27448" y="1024128"/>
            <a:ext cx="292608" cy="29260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27448" y="1024128"/>
            <a:ext cx="292608" cy="292608"/>
          </a:xfrm>
          <a:prstGeom prst="rect">
            <a:avLst/>
          </a:prstGeom>
          <a:noFill/>
        </p:spPr>
        <p:txBody>
          <a:bodyPr wrap="square" anchor="ctr"/>
          <a:lstStyle/>
          <a:p>
            <a:pPr algn="ctr">
              <a:spcBef>
                <a:spcPts val="0"/>
              </a:spcBef>
              <a:spcAft>
                <a:spcPts val="0"/>
              </a:spcAft>
            </a:pPr>
            <a:r>
              <a:rPr sz="900" b="1">
                <a:solidFill>
                  <a:srgbClr val="2563EB"/>
                </a:solidFill>
                <a:latin typeface="IPAPGothic"/>
              </a:rPr>
              <a:t>U</a:t>
            </a:r>
          </a:p>
        </p:txBody>
      </p:sp>
      <p:sp>
        <p:nvSpPr>
          <p:cNvPr id="13" name="TextBox 12"/>
          <p:cNvSpPr txBox="1"/>
          <p:nvPr/>
        </p:nvSpPr>
        <p:spPr>
          <a:xfrm>
            <a:off x="5093208" y="1024128"/>
            <a:ext cx="3337560" cy="182880"/>
          </a:xfrm>
          <a:prstGeom prst="rect">
            <a:avLst/>
          </a:prstGeom>
          <a:noFill/>
        </p:spPr>
        <p:txBody>
          <a:bodyPr wrap="square"/>
          <a:lstStyle/>
          <a:p>
            <a:pPr algn="l">
              <a:spcBef>
                <a:spcPts val="0"/>
              </a:spcBef>
              <a:spcAft>
                <a:spcPts val="0"/>
              </a:spcAft>
            </a:pPr>
            <a:r>
              <a:rPr sz="800" b="1">
                <a:solidFill>
                  <a:srgbClr val="1E293B"/>
                </a:solidFill>
                <a:latin typeface="IPAPGothic"/>
              </a:rPr>
              <a:t>200+ ユースケース（業界別整理済み）</a:t>
            </a:r>
          </a:p>
        </p:txBody>
      </p:sp>
      <p:sp>
        <p:nvSpPr>
          <p:cNvPr id="14" name="TextBox 13"/>
          <p:cNvSpPr txBox="1"/>
          <p:nvPr/>
        </p:nvSpPr>
        <p:spPr>
          <a:xfrm>
            <a:off x="5093208" y="1225296"/>
            <a:ext cx="3337560" cy="1170432"/>
          </a:xfrm>
          <a:prstGeom prst="rect">
            <a:avLst/>
          </a:prstGeom>
          <a:noFill/>
        </p:spPr>
        <p:txBody>
          <a:bodyPr wrap="square"/>
          <a:lstStyle/>
          <a:p>
            <a:pPr algn="l">
              <a:spcBef>
                <a:spcPts val="0"/>
              </a:spcBef>
              <a:spcAft>
                <a:spcPts val="0"/>
              </a:spcAft>
            </a:pPr>
            <a:r>
              <a:rPr sz="65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651760"/>
            <a:ext cx="3931920" cy="15544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6928" y="2761488"/>
            <a:ext cx="292608" cy="29260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61488"/>
            <a:ext cx="292608" cy="292608"/>
          </a:xfrm>
          <a:prstGeom prst="rect">
            <a:avLst/>
          </a:prstGeom>
          <a:noFill/>
        </p:spPr>
        <p:txBody>
          <a:bodyPr wrap="square" anchor="ctr"/>
          <a:lstStyle/>
          <a:p>
            <a:pPr algn="ctr">
              <a:spcBef>
                <a:spcPts val="0"/>
              </a:spcBef>
              <a:spcAft>
                <a:spcPts val="0"/>
              </a:spcAft>
            </a:pPr>
            <a:r>
              <a:rPr sz="900" b="1">
                <a:solidFill>
                  <a:srgbClr val="2563EB"/>
                </a:solidFill>
                <a:latin typeface="IPAPGothic"/>
              </a:rPr>
              <a:t>E</a:t>
            </a:r>
          </a:p>
        </p:txBody>
      </p:sp>
      <p:sp>
        <p:nvSpPr>
          <p:cNvPr id="18" name="TextBox 17"/>
          <p:cNvSpPr txBox="1"/>
          <p:nvPr/>
        </p:nvSpPr>
        <p:spPr>
          <a:xfrm>
            <a:off x="932688" y="2761488"/>
            <a:ext cx="3337560" cy="182880"/>
          </a:xfrm>
          <a:prstGeom prst="rect">
            <a:avLst/>
          </a:prstGeom>
          <a:noFill/>
        </p:spPr>
        <p:txBody>
          <a:bodyPr wrap="square"/>
          <a:lstStyle/>
          <a:p>
            <a:pPr algn="l">
              <a:spcBef>
                <a:spcPts val="0"/>
              </a:spcBef>
              <a:spcAft>
                <a:spcPts val="0"/>
              </a:spcAft>
            </a:pPr>
            <a:r>
              <a:rPr sz="800" b="1">
                <a:solidFill>
                  <a:srgbClr val="1E293B"/>
                </a:solidFill>
                <a:latin typeface="IPAPGothic"/>
              </a:rPr>
              <a:t>70+ 思想エッセイ（9領域）</a:t>
            </a:r>
          </a:p>
        </p:txBody>
      </p:sp>
      <p:sp>
        <p:nvSpPr>
          <p:cNvPr id="19" name="TextBox 18"/>
          <p:cNvSpPr txBox="1"/>
          <p:nvPr/>
        </p:nvSpPr>
        <p:spPr>
          <a:xfrm>
            <a:off x="932688" y="2962656"/>
            <a:ext cx="3337560" cy="1170432"/>
          </a:xfrm>
          <a:prstGeom prst="rect">
            <a:avLst/>
          </a:prstGeom>
          <a:noFill/>
        </p:spPr>
        <p:txBody>
          <a:bodyPr wrap="square"/>
          <a:lstStyle/>
          <a:p>
            <a:pPr algn="l">
              <a:spcBef>
                <a:spcPts val="0"/>
              </a:spcBef>
              <a:spcAft>
                <a:spcPts val="0"/>
              </a:spcAft>
            </a:pPr>
            <a:r>
              <a:rPr sz="65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651760"/>
            <a:ext cx="3931920" cy="15544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27448" y="2761488"/>
            <a:ext cx="292608" cy="29260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27448" y="2761488"/>
            <a:ext cx="292608" cy="292608"/>
          </a:xfrm>
          <a:prstGeom prst="rect">
            <a:avLst/>
          </a:prstGeom>
          <a:noFill/>
        </p:spPr>
        <p:txBody>
          <a:bodyPr wrap="square" anchor="ctr"/>
          <a:lstStyle/>
          <a:p>
            <a:pPr algn="ctr">
              <a:spcBef>
                <a:spcPts val="0"/>
              </a:spcBef>
              <a:spcAft>
                <a:spcPts val="0"/>
              </a:spcAft>
            </a:pPr>
            <a:r>
              <a:rPr sz="900" b="1">
                <a:solidFill>
                  <a:srgbClr val="2563EB"/>
                </a:solidFill>
                <a:latin typeface="IPAPGothic"/>
              </a:rPr>
              <a:t>A</a:t>
            </a:r>
          </a:p>
        </p:txBody>
      </p:sp>
      <p:sp>
        <p:nvSpPr>
          <p:cNvPr id="23" name="TextBox 22"/>
          <p:cNvSpPr txBox="1"/>
          <p:nvPr/>
        </p:nvSpPr>
        <p:spPr>
          <a:xfrm>
            <a:off x="5093208" y="2761488"/>
            <a:ext cx="3337560" cy="182880"/>
          </a:xfrm>
          <a:prstGeom prst="rect">
            <a:avLst/>
          </a:prstGeom>
          <a:noFill/>
        </p:spPr>
        <p:txBody>
          <a:bodyPr wrap="square"/>
          <a:lstStyle/>
          <a:p>
            <a:pPr algn="l">
              <a:spcBef>
                <a:spcPts val="0"/>
              </a:spcBef>
              <a:spcAft>
                <a:spcPts val="0"/>
              </a:spcAft>
            </a:pPr>
            <a:r>
              <a:rPr sz="800" b="1">
                <a:solidFill>
                  <a:srgbClr val="1E293B"/>
                </a:solidFill>
                <a:latin typeface="IPAPGothic"/>
              </a:rPr>
              <a:t>Pearl Soap + アンバサダー網</a:t>
            </a:r>
          </a:p>
        </p:txBody>
      </p:sp>
      <p:sp>
        <p:nvSpPr>
          <p:cNvPr id="24" name="TextBox 23"/>
          <p:cNvSpPr txBox="1"/>
          <p:nvPr/>
        </p:nvSpPr>
        <p:spPr>
          <a:xfrm>
            <a:off x="5093208" y="2962656"/>
            <a:ext cx="3337560" cy="1170432"/>
          </a:xfrm>
          <a:prstGeom prst="rect">
            <a:avLst/>
          </a:prstGeom>
          <a:noFill/>
        </p:spPr>
        <p:txBody>
          <a:bodyPr wrap="square"/>
          <a:lstStyle/>
          <a:p>
            <a:pPr algn="l">
              <a:spcBef>
                <a:spcPts val="0"/>
              </a:spcBef>
              <a:spcAft>
                <a:spcPts val="0"/>
              </a:spcAft>
            </a:pPr>
            <a:r>
              <a:rPr sz="65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27" name="TextBox 26"/>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8" name="TextBox 27"/>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POSITIONING</a:t>
            </a:r>
          </a:p>
        </p:txBody>
      </p:sp>
      <p:sp>
        <p:nvSpPr>
          <p:cNvPr id="5" name="Rectangle 4"/>
          <p:cNvSpPr/>
          <p:nvPr/>
        </p:nvSpPr>
        <p:spPr>
          <a:xfrm>
            <a:off x="640080" y="914400"/>
            <a:ext cx="1188720" cy="347472"/>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914400"/>
            <a:ext cx="104241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
            </a:r>
          </a:p>
        </p:txBody>
      </p:sp>
      <p:sp>
        <p:nvSpPr>
          <p:cNvPr id="7" name="Rectangle 6"/>
          <p:cNvSpPr/>
          <p:nvPr/>
        </p:nvSpPr>
        <p:spPr>
          <a:xfrm>
            <a:off x="1828800" y="914400"/>
            <a:ext cx="3291840" cy="347472"/>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01952" y="914400"/>
            <a:ext cx="314553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デジタルサービス（日常の記録）</a:t>
            </a:r>
          </a:p>
        </p:txBody>
      </p:sp>
      <p:sp>
        <p:nvSpPr>
          <p:cNvPr id="9" name="Rectangle 8"/>
          <p:cNvSpPr/>
          <p:nvPr/>
        </p:nvSpPr>
        <p:spPr>
          <a:xfrm>
            <a:off x="5120640" y="914400"/>
            <a:ext cx="3383280" cy="347472"/>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93792" y="914400"/>
            <a:ext cx="3236976" cy="347472"/>
          </a:xfrm>
          <a:prstGeom prst="rect">
            <a:avLst/>
          </a:prstGeom>
          <a:noFill/>
        </p:spPr>
        <p:txBody>
          <a:bodyPr wrap="square" anchor="ctr"/>
          <a:lstStyle/>
          <a:p>
            <a:pPr algn="l">
              <a:spcBef>
                <a:spcPts val="0"/>
              </a:spcBef>
              <a:spcAft>
                <a:spcPts val="0"/>
              </a:spcAft>
            </a:pPr>
            <a:r>
              <a:rPr sz="650" b="1">
                <a:solidFill>
                  <a:srgbClr val="FFFFFF"/>
                </a:solidFill>
                <a:latin typeface="IPAPGothic"/>
              </a:rPr>
              <a:t>TokiStorage（千年の記録）</a:t>
            </a:r>
          </a:p>
        </p:txBody>
      </p:sp>
      <p:sp>
        <p:nvSpPr>
          <p:cNvPr id="11" name="Rectangle 10"/>
          <p:cNvSpPr/>
          <p:nvPr/>
        </p:nvSpPr>
        <p:spPr>
          <a:xfrm>
            <a:off x="640080" y="1261872"/>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261872"/>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記録媒体</a:t>
            </a:r>
          </a:p>
        </p:txBody>
      </p:sp>
      <p:sp>
        <p:nvSpPr>
          <p:cNvPr id="13" name="Rectangle 12"/>
          <p:cNvSpPr/>
          <p:nvPr/>
        </p:nvSpPr>
        <p:spPr>
          <a:xfrm>
            <a:off x="1828800" y="1261872"/>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01952" y="1261872"/>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クラウド / HDD</a:t>
            </a:r>
          </a:p>
        </p:txBody>
      </p:sp>
      <p:sp>
        <p:nvSpPr>
          <p:cNvPr id="15" name="Rectangle 14"/>
          <p:cNvSpPr/>
          <p:nvPr/>
        </p:nvSpPr>
        <p:spPr>
          <a:xfrm>
            <a:off x="5120640" y="1261872"/>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93792" y="1261872"/>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石英ガラス（物理）</a:t>
            </a:r>
          </a:p>
        </p:txBody>
      </p:sp>
      <p:sp>
        <p:nvSpPr>
          <p:cNvPr id="17" name="Rectangle 16"/>
          <p:cNvSpPr/>
          <p:nvPr/>
        </p:nvSpPr>
        <p:spPr>
          <a:xfrm>
            <a:off x="640080" y="1609344"/>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1609344"/>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得意な時間軸</a:t>
            </a:r>
          </a:p>
        </p:txBody>
      </p:sp>
      <p:sp>
        <p:nvSpPr>
          <p:cNvPr id="19" name="Rectangle 18"/>
          <p:cNvSpPr/>
          <p:nvPr/>
        </p:nvSpPr>
        <p:spPr>
          <a:xfrm>
            <a:off x="1828800" y="1609344"/>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01952" y="1609344"/>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今〜数十年（日常利用に最適）</a:t>
            </a:r>
          </a:p>
        </p:txBody>
      </p:sp>
      <p:sp>
        <p:nvSpPr>
          <p:cNvPr id="21" name="Rectangle 20"/>
          <p:cNvSpPr/>
          <p:nvPr/>
        </p:nvSpPr>
        <p:spPr>
          <a:xfrm>
            <a:off x="5120640" y="1609344"/>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93792" y="1609344"/>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100年〜1000年（永続保存に特化）</a:t>
            </a:r>
          </a:p>
        </p:txBody>
      </p:sp>
      <p:sp>
        <p:nvSpPr>
          <p:cNvPr id="23" name="Rectangle 22"/>
          <p:cNvSpPr/>
          <p:nvPr/>
        </p:nvSpPr>
        <p:spPr>
          <a:xfrm>
            <a:off x="640080" y="1956816"/>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1956816"/>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インフラ</a:t>
            </a:r>
          </a:p>
        </p:txBody>
      </p:sp>
      <p:sp>
        <p:nvSpPr>
          <p:cNvPr id="25" name="Rectangle 24"/>
          <p:cNvSpPr/>
          <p:nvPr/>
        </p:nvSpPr>
        <p:spPr>
          <a:xfrm>
            <a:off x="1828800" y="1956816"/>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01952" y="1956816"/>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サーバー・電源（利便性の源泉）</a:t>
            </a:r>
          </a:p>
        </p:txBody>
      </p:sp>
      <p:sp>
        <p:nvSpPr>
          <p:cNvPr id="27" name="Rectangle 26"/>
          <p:cNvSpPr/>
          <p:nvPr/>
        </p:nvSpPr>
        <p:spPr>
          <a:xfrm>
            <a:off x="5120640" y="1956816"/>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93792" y="1956816"/>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不要（GitHub分散管理）</a:t>
            </a:r>
          </a:p>
        </p:txBody>
      </p:sp>
      <p:sp>
        <p:nvSpPr>
          <p:cNvPr id="29" name="Rectangle 28"/>
          <p:cNvSpPr/>
          <p:nvPr/>
        </p:nvSpPr>
        <p:spPr>
          <a:xfrm>
            <a:off x="640080" y="2304288"/>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2304288"/>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読み取り</a:t>
            </a:r>
          </a:p>
        </p:txBody>
      </p:sp>
      <p:sp>
        <p:nvSpPr>
          <p:cNvPr id="31" name="Rectangle 30"/>
          <p:cNvSpPr/>
          <p:nvPr/>
        </p:nvSpPr>
        <p:spPr>
          <a:xfrm>
            <a:off x="1828800" y="2304288"/>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01952" y="2304288"/>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専用アプリ / ログイン</a:t>
            </a:r>
          </a:p>
        </p:txBody>
      </p:sp>
      <p:sp>
        <p:nvSpPr>
          <p:cNvPr id="33" name="Rectangle 32"/>
          <p:cNvSpPr/>
          <p:nvPr/>
        </p:nvSpPr>
        <p:spPr>
          <a:xfrm>
            <a:off x="5120640" y="2304288"/>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3792" y="2304288"/>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スマホのカメラだけ</a:t>
            </a:r>
          </a:p>
        </p:txBody>
      </p:sp>
      <p:sp>
        <p:nvSpPr>
          <p:cNvPr id="35" name="Rectangle 34"/>
          <p:cNvSpPr/>
          <p:nvPr/>
        </p:nvSpPr>
        <p:spPr>
          <a:xfrm>
            <a:off x="640080" y="2651760"/>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3232" y="2651760"/>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文化的厚み</a:t>
            </a:r>
          </a:p>
        </p:txBody>
      </p:sp>
      <p:sp>
        <p:nvSpPr>
          <p:cNvPr id="37" name="Rectangle 36"/>
          <p:cNvSpPr/>
          <p:nvPr/>
        </p:nvSpPr>
        <p:spPr>
          <a:xfrm>
            <a:off x="1828800" y="2651760"/>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01952" y="2651760"/>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機能・利便性が価値の中心</a:t>
            </a:r>
          </a:p>
        </p:txBody>
      </p:sp>
      <p:sp>
        <p:nvSpPr>
          <p:cNvPr id="39" name="Rectangle 38"/>
          <p:cNvSpPr/>
          <p:nvPr/>
        </p:nvSpPr>
        <p:spPr>
          <a:xfrm>
            <a:off x="5120640" y="2651760"/>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93792" y="2651760"/>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70+ エッセイ＋贈与経済の実践</a:t>
            </a:r>
          </a:p>
        </p:txBody>
      </p:sp>
      <p:sp>
        <p:nvSpPr>
          <p:cNvPr id="41" name="Rectangle 40"/>
          <p:cNvSpPr/>
          <p:nvPr/>
        </p:nvSpPr>
        <p:spPr>
          <a:xfrm>
            <a:off x="640080" y="2999232"/>
            <a:ext cx="1188720" cy="34747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3232" y="2999232"/>
            <a:ext cx="1042416" cy="347472"/>
          </a:xfrm>
          <a:prstGeom prst="rect">
            <a:avLst/>
          </a:prstGeom>
          <a:noFill/>
        </p:spPr>
        <p:txBody>
          <a:bodyPr wrap="square" anchor="ctr"/>
          <a:lstStyle/>
          <a:p>
            <a:pPr algn="l">
              <a:spcBef>
                <a:spcPts val="0"/>
              </a:spcBef>
              <a:spcAft>
                <a:spcPts val="0"/>
              </a:spcAft>
            </a:pPr>
            <a:r>
              <a:rPr sz="700" b="1">
                <a:solidFill>
                  <a:srgbClr val="1E293B"/>
                </a:solidFill>
                <a:latin typeface="IPAPGothic"/>
              </a:rPr>
              <a:t>社会的接点</a:t>
            </a:r>
          </a:p>
        </p:txBody>
      </p:sp>
      <p:sp>
        <p:nvSpPr>
          <p:cNvPr id="43" name="Rectangle 42"/>
          <p:cNvSpPr/>
          <p:nvPr/>
        </p:nvSpPr>
        <p:spPr>
          <a:xfrm>
            <a:off x="1828800" y="2999232"/>
            <a:ext cx="3291840" cy="34747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01952" y="2999232"/>
            <a:ext cx="3145536" cy="347472"/>
          </a:xfrm>
          <a:prstGeom prst="rect">
            <a:avLst/>
          </a:prstGeom>
          <a:noFill/>
        </p:spPr>
        <p:txBody>
          <a:bodyPr wrap="square" anchor="ctr"/>
          <a:lstStyle/>
          <a:p>
            <a:pPr algn="l">
              <a:spcBef>
                <a:spcPts val="0"/>
              </a:spcBef>
              <a:spcAft>
                <a:spcPts val="0"/>
              </a:spcAft>
            </a:pPr>
            <a:r>
              <a:rPr sz="700" b="0">
                <a:solidFill>
                  <a:srgbClr val="475569"/>
                </a:solidFill>
                <a:latin typeface="IPAPGothic"/>
              </a:rPr>
              <a:t>プラットフォームとしての貢献</a:t>
            </a:r>
          </a:p>
        </p:txBody>
      </p:sp>
      <p:sp>
        <p:nvSpPr>
          <p:cNvPr id="45" name="Rectangle 44"/>
          <p:cNvSpPr/>
          <p:nvPr/>
        </p:nvSpPr>
        <p:spPr>
          <a:xfrm>
            <a:off x="5120640" y="2999232"/>
            <a:ext cx="3383280" cy="347472"/>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93792" y="2999232"/>
            <a:ext cx="3236976" cy="347472"/>
          </a:xfrm>
          <a:prstGeom prst="rect">
            <a:avLst/>
          </a:prstGeom>
          <a:noFill/>
        </p:spPr>
        <p:txBody>
          <a:bodyPr wrap="square" anchor="ctr"/>
          <a:lstStyle/>
          <a:p>
            <a:pPr algn="l">
              <a:spcBef>
                <a:spcPts val="0"/>
              </a:spcBef>
              <a:spcAft>
                <a:spcPts val="0"/>
              </a:spcAft>
            </a:pPr>
            <a:r>
              <a:rPr sz="700" b="0">
                <a:solidFill>
                  <a:srgbClr val="1D4ED8"/>
                </a:solidFill>
                <a:latin typeface="IPAPGothic"/>
              </a:rPr>
              <a:t>SoulCarrier（無縁墓・遺骨送還活動）</a:t>
            </a:r>
          </a:p>
        </p:txBody>
      </p:sp>
      <p:sp>
        <p:nvSpPr>
          <p:cNvPr id="47" name="Rectangle 46"/>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49" name="TextBox 48"/>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50" name="TextBox 49"/>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PARTNERSHIP MODELS</a:t>
            </a:r>
          </a:p>
        </p:txBody>
      </p:sp>
      <p:sp>
        <p:nvSpPr>
          <p:cNvPr id="5" name="Rectangle 4"/>
          <p:cNvSpPr/>
          <p:nvPr/>
        </p:nvSpPr>
        <p:spPr>
          <a:xfrm>
            <a:off x="457200" y="914400"/>
            <a:ext cx="7863840" cy="68580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005840"/>
            <a:ext cx="502920" cy="5029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05840"/>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紹介
モデル</a:t>
            </a:r>
          </a:p>
        </p:txBody>
      </p:sp>
      <p:sp>
        <p:nvSpPr>
          <p:cNvPr id="8" name="TextBox 7"/>
          <p:cNvSpPr txBox="1"/>
          <p:nvPr/>
        </p:nvSpPr>
        <p:spPr>
          <a:xfrm>
            <a:off x="1188720" y="987552"/>
            <a:ext cx="6995160" cy="182880"/>
          </a:xfrm>
          <a:prstGeom prst="rect">
            <a:avLst/>
          </a:prstGeom>
          <a:noFill/>
        </p:spPr>
        <p:txBody>
          <a:bodyPr wrap="square"/>
          <a:lstStyle/>
          <a:p>
            <a:pPr algn="l">
              <a:spcBef>
                <a:spcPts val="0"/>
              </a:spcBef>
              <a:spcAft>
                <a:spcPts val="0"/>
              </a:spcAft>
            </a:pPr>
            <a:r>
              <a:rPr sz="750" b="1">
                <a:solidFill>
                  <a:srgbClr val="1E293B"/>
                </a:solidFill>
                <a:latin typeface="IPAPGothic"/>
              </a:rPr>
              <a:t>A. クライアント紹介型パートナーシップ</a:t>
            </a:r>
          </a:p>
        </p:txBody>
      </p:sp>
      <p:sp>
        <p:nvSpPr>
          <p:cNvPr id="9" name="TextBox 8"/>
          <p:cNvSpPr txBox="1"/>
          <p:nvPr/>
        </p:nvSpPr>
        <p:spPr>
          <a:xfrm>
            <a:off x="1188720" y="1170432"/>
            <a:ext cx="6995160" cy="228600"/>
          </a:xfrm>
          <a:prstGeom prst="rect">
            <a:avLst/>
          </a:prstGeom>
          <a:noFill/>
        </p:spPr>
        <p:txBody>
          <a:bodyPr wrap="square"/>
          <a:lstStyle/>
          <a:p>
            <a:pPr algn="l">
              <a:spcBef>
                <a:spcPts val="0"/>
              </a:spcBef>
              <a:spcAft>
                <a:spcPts val="0"/>
              </a:spcAft>
            </a:pPr>
            <a:r>
              <a:rPr sz="65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188720" y="1389888"/>
            <a:ext cx="6995160" cy="182880"/>
          </a:xfrm>
          <a:prstGeom prst="rect">
            <a:avLst/>
          </a:prstGeom>
          <a:noFill/>
        </p:spPr>
        <p:txBody>
          <a:bodyPr wrap="square"/>
          <a:lstStyle/>
          <a:p>
            <a:pPr algn="l">
              <a:spcBef>
                <a:spcPts val="0"/>
              </a:spcBef>
              <a:spcAft>
                <a:spcPts val="0"/>
              </a:spcAft>
            </a:pPr>
            <a:r>
              <a:rPr sz="6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1709928"/>
            <a:ext cx="7863840" cy="68580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1801368"/>
            <a:ext cx="502920" cy="50292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801368"/>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共同
提案</a:t>
            </a:r>
          </a:p>
        </p:txBody>
      </p:sp>
      <p:sp>
        <p:nvSpPr>
          <p:cNvPr id="14" name="TextBox 13"/>
          <p:cNvSpPr txBox="1"/>
          <p:nvPr/>
        </p:nvSpPr>
        <p:spPr>
          <a:xfrm>
            <a:off x="1188720" y="1783080"/>
            <a:ext cx="6995160" cy="182880"/>
          </a:xfrm>
          <a:prstGeom prst="rect">
            <a:avLst/>
          </a:prstGeom>
          <a:noFill/>
        </p:spPr>
        <p:txBody>
          <a:bodyPr wrap="square"/>
          <a:lstStyle/>
          <a:p>
            <a:pPr algn="l">
              <a:spcBef>
                <a:spcPts val="0"/>
              </a:spcBef>
              <a:spcAft>
                <a:spcPts val="0"/>
              </a:spcAft>
            </a:pPr>
            <a:r>
              <a:rPr sz="750" b="1">
                <a:solidFill>
                  <a:srgbClr val="1E293B"/>
                </a:solidFill>
                <a:latin typeface="IPAPGothic"/>
              </a:rPr>
              <a:t>B. 共同ソリューション型</a:t>
            </a:r>
          </a:p>
        </p:txBody>
      </p:sp>
      <p:sp>
        <p:nvSpPr>
          <p:cNvPr id="15" name="TextBox 14"/>
          <p:cNvSpPr txBox="1"/>
          <p:nvPr/>
        </p:nvSpPr>
        <p:spPr>
          <a:xfrm>
            <a:off x="1188720" y="1965960"/>
            <a:ext cx="6995160" cy="228600"/>
          </a:xfrm>
          <a:prstGeom prst="rect">
            <a:avLst/>
          </a:prstGeom>
          <a:noFill/>
        </p:spPr>
        <p:txBody>
          <a:bodyPr wrap="square"/>
          <a:lstStyle/>
          <a:p>
            <a:pPr algn="l">
              <a:spcBef>
                <a:spcPts val="0"/>
              </a:spcBef>
              <a:spcAft>
                <a:spcPts val="0"/>
              </a:spcAft>
            </a:pPr>
            <a:r>
              <a:rPr sz="65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188720" y="2185416"/>
            <a:ext cx="6995160" cy="182880"/>
          </a:xfrm>
          <a:prstGeom prst="rect">
            <a:avLst/>
          </a:prstGeom>
          <a:noFill/>
        </p:spPr>
        <p:txBody>
          <a:bodyPr wrap="square"/>
          <a:lstStyle/>
          <a:p>
            <a:pPr algn="l">
              <a:spcBef>
                <a:spcPts val="0"/>
              </a:spcBef>
              <a:spcAft>
                <a:spcPts val="0"/>
              </a:spcAft>
            </a:pPr>
            <a:r>
              <a:rPr sz="6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2505456"/>
            <a:ext cx="7863840" cy="68580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2596896"/>
            <a:ext cx="502920" cy="5029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596896"/>
            <a:ext cx="502920" cy="502920"/>
          </a:xfrm>
          <a:prstGeom prst="rect">
            <a:avLst/>
          </a:prstGeom>
          <a:noFill/>
        </p:spPr>
        <p:txBody>
          <a:bodyPr wrap="square" anchor="ctr"/>
          <a:lstStyle/>
          <a:p>
            <a:pPr algn="ctr">
              <a:spcBef>
                <a:spcPts val="0"/>
              </a:spcBef>
              <a:spcAft>
                <a:spcPts val="0"/>
              </a:spcAft>
            </a:pPr>
            <a:r>
              <a:rPr sz="600" b="1">
                <a:solidFill>
                  <a:srgbClr val="FFFFFF"/>
                </a:solidFill>
                <a:latin typeface="IPAPGothic"/>
              </a:rPr>
              <a:t>事業
共創</a:t>
            </a:r>
          </a:p>
        </p:txBody>
      </p:sp>
      <p:sp>
        <p:nvSpPr>
          <p:cNvPr id="20" name="TextBox 19"/>
          <p:cNvSpPr txBox="1"/>
          <p:nvPr/>
        </p:nvSpPr>
        <p:spPr>
          <a:xfrm>
            <a:off x="1188720" y="2578608"/>
            <a:ext cx="6995160" cy="182880"/>
          </a:xfrm>
          <a:prstGeom prst="rect">
            <a:avLst/>
          </a:prstGeom>
          <a:noFill/>
        </p:spPr>
        <p:txBody>
          <a:bodyPr wrap="square"/>
          <a:lstStyle/>
          <a:p>
            <a:pPr algn="l">
              <a:spcBef>
                <a:spcPts val="0"/>
              </a:spcBef>
              <a:spcAft>
                <a:spcPts val="0"/>
              </a:spcAft>
            </a:pPr>
            <a:r>
              <a:rPr sz="750" b="1">
                <a:solidFill>
                  <a:srgbClr val="1E293B"/>
                </a:solidFill>
                <a:latin typeface="IPAPGothic"/>
              </a:rPr>
              <a:t>C. 新規事業共創型</a:t>
            </a:r>
          </a:p>
        </p:txBody>
      </p:sp>
      <p:sp>
        <p:nvSpPr>
          <p:cNvPr id="21" name="TextBox 20"/>
          <p:cNvSpPr txBox="1"/>
          <p:nvPr/>
        </p:nvSpPr>
        <p:spPr>
          <a:xfrm>
            <a:off x="1188720" y="2761488"/>
            <a:ext cx="6995160" cy="228600"/>
          </a:xfrm>
          <a:prstGeom prst="rect">
            <a:avLst/>
          </a:prstGeom>
          <a:noFill/>
        </p:spPr>
        <p:txBody>
          <a:bodyPr wrap="square"/>
          <a:lstStyle/>
          <a:p>
            <a:pPr algn="l">
              <a:spcBef>
                <a:spcPts val="0"/>
              </a:spcBef>
              <a:spcAft>
                <a:spcPts val="0"/>
              </a:spcAft>
            </a:pPr>
            <a:r>
              <a:rPr sz="65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188720" y="2980944"/>
            <a:ext cx="6995160" cy="182880"/>
          </a:xfrm>
          <a:prstGeom prst="rect">
            <a:avLst/>
          </a:prstGeom>
          <a:noFill/>
        </p:spPr>
        <p:txBody>
          <a:bodyPr wrap="square"/>
          <a:lstStyle/>
          <a:p>
            <a:pPr algn="l">
              <a:spcBef>
                <a:spcPts val="0"/>
              </a:spcBef>
              <a:spcAft>
                <a:spcPts val="0"/>
              </a:spcAft>
            </a:pPr>
            <a:r>
              <a:rPr sz="600" b="0">
                <a:solidFill>
                  <a:srgbClr val="2563EB"/>
                </a:solidFill>
                <a:latin typeface="IPAPGothic"/>
              </a:rPr>
              <a:t>例：メモリアルテック新規事業 / 企業向け永続アーカイブサービス</a:t>
            </a:r>
          </a:p>
        </p:txBody>
      </p:sp>
      <p:sp>
        <p:nvSpPr>
          <p:cNvPr id="23" name="Rectangle 22"/>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25" name="TextBox 24"/>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6" name="TextBox 25"/>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REVENUE FLOW</a:t>
            </a:r>
          </a:p>
        </p:txBody>
      </p:sp>
      <p:sp>
        <p:nvSpPr>
          <p:cNvPr id="5" name="Rectangle 4"/>
          <p:cNvSpPr/>
          <p:nvPr/>
        </p:nvSpPr>
        <p:spPr>
          <a:xfrm>
            <a:off x="822960" y="1097280"/>
            <a:ext cx="2194560" cy="77724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152144"/>
            <a:ext cx="2048256" cy="201168"/>
          </a:xfrm>
          <a:prstGeom prst="rect">
            <a:avLst/>
          </a:prstGeom>
          <a:noFill/>
        </p:spPr>
        <p:txBody>
          <a:bodyPr wrap="square"/>
          <a:lstStyle/>
          <a:p>
            <a:pPr algn="ctr">
              <a:spcBef>
                <a:spcPts val="0"/>
              </a:spcBef>
              <a:spcAft>
                <a:spcPts val="0"/>
              </a:spcAft>
            </a:pPr>
            <a:r>
              <a:rPr sz="800" b="1">
                <a:solidFill>
                  <a:srgbClr val="16A34A"/>
                </a:solidFill>
                <a:latin typeface="IPAPGothic"/>
              </a:rPr>
              <a:t>クライアント</a:t>
            </a:r>
          </a:p>
        </p:txBody>
      </p:sp>
      <p:sp>
        <p:nvSpPr>
          <p:cNvPr id="7" name="TextBox 6"/>
          <p:cNvSpPr txBox="1"/>
          <p:nvPr/>
        </p:nvSpPr>
        <p:spPr>
          <a:xfrm>
            <a:off x="896112" y="1371600"/>
            <a:ext cx="2048256" cy="448056"/>
          </a:xfrm>
          <a:prstGeom prst="rect">
            <a:avLst/>
          </a:prstGeom>
          <a:noFill/>
        </p:spPr>
        <p:txBody>
          <a:bodyPr wrap="square"/>
          <a:lstStyle/>
          <a:p>
            <a:pPr algn="ctr">
              <a:spcBef>
                <a:spcPts val="0"/>
              </a:spcBef>
              <a:spcAft>
                <a:spcPts val="0"/>
              </a:spcAft>
            </a:pPr>
            <a:r>
              <a:rPr sz="650" b="0">
                <a:solidFill>
                  <a:srgbClr val="475569"/>
                </a:solidFill>
                <a:latin typeface="IPAPGothic"/>
              </a:rPr>
              <a:t>千年の存在証明
社会的意義の実感</a:t>
            </a:r>
          </a:p>
        </p:txBody>
      </p:sp>
      <p:sp>
        <p:nvSpPr>
          <p:cNvPr id="8" name="TextBox 7"/>
          <p:cNvSpPr txBox="1"/>
          <p:nvPr/>
        </p:nvSpPr>
        <p:spPr>
          <a:xfrm>
            <a:off x="3108960" y="1280160"/>
            <a:ext cx="274320" cy="274320"/>
          </a:xfrm>
          <a:prstGeom prst="rect">
            <a:avLst/>
          </a:prstGeom>
          <a:noFill/>
        </p:spPr>
        <p:txBody>
          <a:bodyPr wrap="square"/>
          <a:lstStyle/>
          <a:p>
            <a:pPr algn="ctr">
              <a:spcBef>
                <a:spcPts val="0"/>
              </a:spcBef>
              <a:spcAft>
                <a:spcPts val="0"/>
              </a:spcAft>
            </a:pPr>
            <a:r>
              <a:rPr sz="1400" b="0">
                <a:solidFill>
                  <a:srgbClr val="94A3B8"/>
                </a:solidFill>
                <a:latin typeface="IPAPGothic"/>
              </a:rPr>
              <a:t>←</a:t>
            </a:r>
          </a:p>
        </p:txBody>
      </p:sp>
      <p:sp>
        <p:nvSpPr>
          <p:cNvPr id="9" name="Rectangle 8"/>
          <p:cNvSpPr/>
          <p:nvPr/>
        </p:nvSpPr>
        <p:spPr>
          <a:xfrm>
            <a:off x="3474720" y="1097280"/>
            <a:ext cx="2194560" cy="77724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7872" y="1152144"/>
            <a:ext cx="2048256" cy="201168"/>
          </a:xfrm>
          <a:prstGeom prst="rect">
            <a:avLst/>
          </a:prstGeom>
          <a:noFill/>
        </p:spPr>
        <p:txBody>
          <a:bodyPr wrap="square"/>
          <a:lstStyle/>
          <a:p>
            <a:pPr algn="ctr">
              <a:spcBef>
                <a:spcPts val="0"/>
              </a:spcBef>
              <a:spcAft>
                <a:spcPts val="0"/>
              </a:spcAft>
            </a:pPr>
            <a:r>
              <a:rPr sz="800" b="1">
                <a:solidFill>
                  <a:srgbClr val="2563EB"/>
                </a:solidFill>
                <a:latin typeface="IPAPGothic"/>
              </a:rPr>
              <a:t>パートナー（貴社）</a:t>
            </a:r>
          </a:p>
        </p:txBody>
      </p:sp>
      <p:sp>
        <p:nvSpPr>
          <p:cNvPr id="11" name="TextBox 10"/>
          <p:cNvSpPr txBox="1"/>
          <p:nvPr/>
        </p:nvSpPr>
        <p:spPr>
          <a:xfrm>
            <a:off x="3547872" y="1371600"/>
            <a:ext cx="2048256" cy="448056"/>
          </a:xfrm>
          <a:prstGeom prst="rect">
            <a:avLst/>
          </a:prstGeom>
          <a:noFill/>
        </p:spPr>
        <p:txBody>
          <a:bodyPr wrap="square"/>
          <a:lstStyle/>
          <a:p>
            <a:pPr algn="ctr">
              <a:spcBef>
                <a:spcPts val="0"/>
              </a:spcBef>
              <a:spcAft>
                <a:spcPts val="0"/>
              </a:spcAft>
            </a:pPr>
            <a:r>
              <a:rPr sz="650" b="0">
                <a:solidFill>
                  <a:srgbClr val="475569"/>
                </a:solidFill>
                <a:latin typeface="IPAPGothic"/>
              </a:rPr>
              <a:t>紹介フィー or 共同提案収益
クライアントLTV向上</a:t>
            </a:r>
          </a:p>
        </p:txBody>
      </p:sp>
      <p:sp>
        <p:nvSpPr>
          <p:cNvPr id="12" name="TextBox 11"/>
          <p:cNvSpPr txBox="1"/>
          <p:nvPr/>
        </p:nvSpPr>
        <p:spPr>
          <a:xfrm>
            <a:off x="5760720" y="1280160"/>
            <a:ext cx="274320" cy="274320"/>
          </a:xfrm>
          <a:prstGeom prst="rect">
            <a:avLst/>
          </a:prstGeom>
          <a:noFill/>
        </p:spPr>
        <p:txBody>
          <a:bodyPr wrap="square"/>
          <a:lstStyle/>
          <a:p>
            <a:pPr algn="ctr">
              <a:spcBef>
                <a:spcPts val="0"/>
              </a:spcBef>
              <a:spcAft>
                <a:spcPts val="0"/>
              </a:spcAft>
            </a:pPr>
            <a:r>
              <a:rPr sz="1400" b="0">
                <a:solidFill>
                  <a:srgbClr val="94A3B8"/>
                </a:solidFill>
                <a:latin typeface="IPAPGothic"/>
              </a:rPr>
              <a:t>←</a:t>
            </a:r>
          </a:p>
        </p:txBody>
      </p:sp>
      <p:sp>
        <p:nvSpPr>
          <p:cNvPr id="13" name="Rectangle 12"/>
          <p:cNvSpPr/>
          <p:nvPr/>
        </p:nvSpPr>
        <p:spPr>
          <a:xfrm>
            <a:off x="6126480" y="1097280"/>
            <a:ext cx="2194560" cy="77724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152144"/>
            <a:ext cx="2048256" cy="201168"/>
          </a:xfrm>
          <a:prstGeom prst="rect">
            <a:avLst/>
          </a:prstGeom>
          <a:noFill/>
        </p:spPr>
        <p:txBody>
          <a:bodyPr wrap="square"/>
          <a:lstStyle/>
          <a:p>
            <a:pPr algn="ctr">
              <a:spcBef>
                <a:spcPts val="0"/>
              </a:spcBef>
              <a:spcAft>
                <a:spcPts val="0"/>
              </a:spcAft>
            </a:pPr>
            <a:r>
              <a:rPr sz="800" b="1">
                <a:solidFill>
                  <a:srgbClr val="92400E"/>
                </a:solidFill>
                <a:latin typeface="IPAPGothic"/>
              </a:rPr>
              <a:t>TokiStorage</a:t>
            </a:r>
          </a:p>
        </p:txBody>
      </p:sp>
      <p:sp>
        <p:nvSpPr>
          <p:cNvPr id="15" name="TextBox 14"/>
          <p:cNvSpPr txBox="1"/>
          <p:nvPr/>
        </p:nvSpPr>
        <p:spPr>
          <a:xfrm>
            <a:off x="6199632" y="1371600"/>
            <a:ext cx="2048256" cy="448056"/>
          </a:xfrm>
          <a:prstGeom prst="rect">
            <a:avLst/>
          </a:prstGeom>
          <a:noFill/>
        </p:spPr>
        <p:txBody>
          <a:bodyPr wrap="square"/>
          <a:lstStyle/>
          <a:p>
            <a:pPr algn="ctr">
              <a:spcBef>
                <a:spcPts val="0"/>
              </a:spcBef>
              <a:spcAft>
                <a:spcPts val="0"/>
              </a:spcAft>
            </a:pPr>
            <a:r>
              <a:rPr sz="650" b="0">
                <a:solidFill>
                  <a:srgbClr val="475569"/>
                </a:solidFill>
                <a:latin typeface="IPAPGothic"/>
              </a:rPr>
              <a:t>技術・思想・納品
収益の一部→SoulCarrier活動</a:t>
            </a:r>
          </a:p>
        </p:txBody>
      </p:sp>
      <p:sp>
        <p:nvSpPr>
          <p:cNvPr id="16" name="Rectangle 15"/>
          <p:cNvSpPr/>
          <p:nvPr/>
        </p:nvSpPr>
        <p:spPr>
          <a:xfrm>
            <a:off x="457200" y="2194560"/>
            <a:ext cx="7863840"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194560"/>
            <a:ext cx="45720" cy="9144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267712"/>
            <a:ext cx="7589520" cy="201168"/>
          </a:xfrm>
          <a:prstGeom prst="rect">
            <a:avLst/>
          </a:prstGeom>
          <a:noFill/>
        </p:spPr>
        <p:txBody>
          <a:bodyPr wrap="square"/>
          <a:lstStyle/>
          <a:p>
            <a:pPr algn="l">
              <a:spcBef>
                <a:spcPts val="0"/>
              </a:spcBef>
              <a:spcAft>
                <a:spcPts val="0"/>
              </a:spcAft>
            </a:pPr>
            <a:r>
              <a:rPr sz="750" b="1">
                <a:solidFill>
                  <a:srgbClr val="1E293B"/>
                </a:solidFill>
                <a:latin typeface="IPAPGothic"/>
              </a:rPr>
              <a:t>初期パートナー優遇</a:t>
            </a:r>
          </a:p>
        </p:txBody>
      </p:sp>
      <p:sp>
        <p:nvSpPr>
          <p:cNvPr id="19" name="TextBox 18"/>
          <p:cNvSpPr txBox="1"/>
          <p:nvPr/>
        </p:nvSpPr>
        <p:spPr>
          <a:xfrm>
            <a:off x="640080" y="2487168"/>
            <a:ext cx="7589520" cy="548640"/>
          </a:xfrm>
          <a:prstGeom prst="rect">
            <a:avLst/>
          </a:prstGeom>
          <a:noFill/>
        </p:spPr>
        <p:txBody>
          <a:bodyPr wrap="square"/>
          <a:lstStyle/>
          <a:p>
            <a:pPr algn="l">
              <a:spcBef>
                <a:spcPts val="0"/>
              </a:spcBef>
              <a:spcAft>
                <a:spcPts val="0"/>
              </a:spcAft>
            </a:pPr>
            <a:r>
              <a:rPr sz="65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22" name="TextBox 21"/>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3" name="TextBox 22"/>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CLIENT FIT</a:t>
            </a:r>
          </a:p>
        </p:txBody>
      </p:sp>
      <p:sp>
        <p:nvSpPr>
          <p:cNvPr id="5" name="TextBox 4"/>
          <p:cNvSpPr txBox="1"/>
          <p:nvPr/>
        </p:nvSpPr>
        <p:spPr>
          <a:xfrm>
            <a:off x="457200" y="868680"/>
            <a:ext cx="7315200" cy="228600"/>
          </a:xfrm>
          <a:prstGeom prst="rect">
            <a:avLst/>
          </a:prstGeom>
          <a:noFill/>
        </p:spPr>
        <p:txBody>
          <a:bodyPr wrap="square"/>
          <a:lstStyle/>
          <a:p>
            <a:pPr algn="l">
              <a:spcBef>
                <a:spcPts val="0"/>
              </a:spcBef>
              <a:spcAft>
                <a:spcPts val="0"/>
              </a:spcAft>
            </a:pPr>
            <a:r>
              <a:rPr sz="8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18872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95628" y="1261872"/>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95628" y="1261872"/>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M</a:t>
            </a:r>
          </a:p>
        </p:txBody>
      </p:sp>
      <p:sp>
        <p:nvSpPr>
          <p:cNvPr id="9" name="TextBox 8"/>
          <p:cNvSpPr txBox="1"/>
          <p:nvPr/>
        </p:nvSpPr>
        <p:spPr>
          <a:xfrm>
            <a:off x="512064" y="1627632"/>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葬祭・メモリアル</a:t>
            </a:r>
          </a:p>
        </p:txBody>
      </p:sp>
      <p:sp>
        <p:nvSpPr>
          <p:cNvPr id="10" name="TextBox 9"/>
          <p:cNvSpPr txBox="1"/>
          <p:nvPr/>
        </p:nvSpPr>
        <p:spPr>
          <a:xfrm>
            <a:off x="512064" y="1810512"/>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墓じまい代替、永代供養デジタル化、遺族向け新サービス</a:t>
            </a:r>
          </a:p>
        </p:txBody>
      </p:sp>
      <p:sp>
        <p:nvSpPr>
          <p:cNvPr id="11" name="Rectangle 10"/>
          <p:cNvSpPr/>
          <p:nvPr/>
        </p:nvSpPr>
        <p:spPr>
          <a:xfrm>
            <a:off x="3273552" y="118872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11980" y="1261872"/>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11980" y="1261872"/>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H</a:t>
            </a:r>
          </a:p>
        </p:txBody>
      </p:sp>
      <p:sp>
        <p:nvSpPr>
          <p:cNvPr id="14" name="TextBox 13"/>
          <p:cNvSpPr txBox="1"/>
          <p:nvPr/>
        </p:nvSpPr>
        <p:spPr>
          <a:xfrm>
            <a:off x="3328416" y="1627632"/>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ホスピタリティ</a:t>
            </a:r>
          </a:p>
        </p:txBody>
      </p:sp>
      <p:sp>
        <p:nvSpPr>
          <p:cNvPr id="15" name="TextBox 14"/>
          <p:cNvSpPr txBox="1"/>
          <p:nvPr/>
        </p:nvSpPr>
        <p:spPr>
          <a:xfrm>
            <a:off x="3328416" y="1810512"/>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ウェディング記録、ホテルCX、記念日サービス</a:t>
            </a:r>
          </a:p>
        </p:txBody>
      </p:sp>
      <p:sp>
        <p:nvSpPr>
          <p:cNvPr id="16" name="Rectangle 15"/>
          <p:cNvSpPr/>
          <p:nvPr/>
        </p:nvSpPr>
        <p:spPr>
          <a:xfrm>
            <a:off x="6089904" y="118872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28332" y="1261872"/>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8332" y="1261872"/>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R</a:t>
            </a:r>
          </a:p>
        </p:txBody>
      </p:sp>
      <p:sp>
        <p:nvSpPr>
          <p:cNvPr id="19" name="TextBox 18"/>
          <p:cNvSpPr txBox="1"/>
          <p:nvPr/>
        </p:nvSpPr>
        <p:spPr>
          <a:xfrm>
            <a:off x="6144768" y="1627632"/>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宗教法人・寺社</a:t>
            </a:r>
          </a:p>
        </p:txBody>
      </p:sp>
      <p:sp>
        <p:nvSpPr>
          <p:cNvPr id="20" name="TextBox 19"/>
          <p:cNvSpPr txBox="1"/>
          <p:nvPr/>
        </p:nvSpPr>
        <p:spPr>
          <a:xfrm>
            <a:off x="6144768" y="1810512"/>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檀家記録の永続化、参拝体験DX、文化財保存</a:t>
            </a:r>
          </a:p>
        </p:txBody>
      </p:sp>
      <p:sp>
        <p:nvSpPr>
          <p:cNvPr id="21" name="Rectangle 20"/>
          <p:cNvSpPr/>
          <p:nvPr/>
        </p:nvSpPr>
        <p:spPr>
          <a:xfrm>
            <a:off x="457200" y="2679192"/>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95628" y="2752344"/>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95628" y="2752344"/>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G</a:t>
            </a:r>
          </a:p>
        </p:txBody>
      </p:sp>
      <p:sp>
        <p:nvSpPr>
          <p:cNvPr id="24" name="TextBox 23"/>
          <p:cNvSpPr txBox="1"/>
          <p:nvPr/>
        </p:nvSpPr>
        <p:spPr>
          <a:xfrm>
            <a:off x="512064" y="3118104"/>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自治体・教育</a:t>
            </a:r>
          </a:p>
        </p:txBody>
      </p:sp>
      <p:sp>
        <p:nvSpPr>
          <p:cNvPr id="25" name="TextBox 24"/>
          <p:cNvSpPr txBox="1"/>
          <p:nvPr/>
        </p:nvSpPr>
        <p:spPr>
          <a:xfrm>
            <a:off x="512064" y="3300984"/>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地域アーカイブ、災害記録、学校史の永続化</a:t>
            </a:r>
          </a:p>
        </p:txBody>
      </p:sp>
      <p:sp>
        <p:nvSpPr>
          <p:cNvPr id="26" name="Rectangle 25"/>
          <p:cNvSpPr/>
          <p:nvPr/>
        </p:nvSpPr>
        <p:spPr>
          <a:xfrm>
            <a:off x="3273552" y="2679192"/>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411980" y="2752344"/>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11980" y="2752344"/>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E</a:t>
            </a:r>
          </a:p>
        </p:txBody>
      </p:sp>
      <p:sp>
        <p:nvSpPr>
          <p:cNvPr id="29" name="TextBox 28"/>
          <p:cNvSpPr txBox="1"/>
          <p:nvPr/>
        </p:nvSpPr>
        <p:spPr>
          <a:xfrm>
            <a:off x="3328416" y="3118104"/>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ESG・サステナビリティ</a:t>
            </a:r>
          </a:p>
        </p:txBody>
      </p:sp>
      <p:sp>
        <p:nvSpPr>
          <p:cNvPr id="30" name="TextBox 29"/>
          <p:cNvSpPr txBox="1"/>
          <p:nvPr/>
        </p:nvSpPr>
        <p:spPr>
          <a:xfrm>
            <a:off x="3328416" y="3300984"/>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1000年設計の企業理念記録、SDGs実績の永続証明</a:t>
            </a:r>
          </a:p>
        </p:txBody>
      </p:sp>
      <p:sp>
        <p:nvSpPr>
          <p:cNvPr id="31" name="Rectangle 30"/>
          <p:cNvSpPr/>
          <p:nvPr/>
        </p:nvSpPr>
        <p:spPr>
          <a:xfrm>
            <a:off x="6089904" y="2679192"/>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28332" y="2752344"/>
            <a:ext cx="329184" cy="329184"/>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8332" y="2752344"/>
            <a:ext cx="329184" cy="329184"/>
          </a:xfrm>
          <a:prstGeom prst="rect">
            <a:avLst/>
          </a:prstGeom>
          <a:noFill/>
        </p:spPr>
        <p:txBody>
          <a:bodyPr wrap="square" anchor="ctr"/>
          <a:lstStyle/>
          <a:p>
            <a:pPr algn="ctr">
              <a:spcBef>
                <a:spcPts val="0"/>
              </a:spcBef>
              <a:spcAft>
                <a:spcPts val="0"/>
              </a:spcAft>
            </a:pPr>
            <a:r>
              <a:rPr sz="900" b="1">
                <a:solidFill>
                  <a:srgbClr val="2563EB"/>
                </a:solidFill>
                <a:latin typeface="IPAPGothic"/>
              </a:rPr>
              <a:t>F</a:t>
            </a:r>
          </a:p>
        </p:txBody>
      </p:sp>
      <p:sp>
        <p:nvSpPr>
          <p:cNvPr id="34" name="TextBox 33"/>
          <p:cNvSpPr txBox="1"/>
          <p:nvPr/>
        </p:nvSpPr>
        <p:spPr>
          <a:xfrm>
            <a:off x="6144768" y="3118104"/>
            <a:ext cx="2496312" cy="182880"/>
          </a:xfrm>
          <a:prstGeom prst="rect">
            <a:avLst/>
          </a:prstGeom>
          <a:noFill/>
        </p:spPr>
        <p:txBody>
          <a:bodyPr wrap="square"/>
          <a:lstStyle/>
          <a:p>
            <a:pPr algn="ctr">
              <a:spcBef>
                <a:spcPts val="0"/>
              </a:spcBef>
              <a:spcAft>
                <a:spcPts val="0"/>
              </a:spcAft>
            </a:pPr>
            <a:r>
              <a:rPr sz="700" b="1">
                <a:solidFill>
                  <a:srgbClr val="1E293B"/>
                </a:solidFill>
                <a:latin typeface="IPAPGothic"/>
              </a:rPr>
              <a:t>金融・保険</a:t>
            </a:r>
          </a:p>
        </p:txBody>
      </p:sp>
      <p:sp>
        <p:nvSpPr>
          <p:cNvPr id="35" name="TextBox 34"/>
          <p:cNvSpPr txBox="1"/>
          <p:nvPr/>
        </p:nvSpPr>
        <p:spPr>
          <a:xfrm>
            <a:off x="6144768" y="3300984"/>
            <a:ext cx="2496312" cy="658368"/>
          </a:xfrm>
          <a:prstGeom prst="rect">
            <a:avLst/>
          </a:prstGeom>
          <a:noFill/>
        </p:spPr>
        <p:txBody>
          <a:bodyPr wrap="square"/>
          <a:lstStyle/>
          <a:p>
            <a:pPr algn="ctr">
              <a:spcBef>
                <a:spcPts val="0"/>
              </a:spcBef>
              <a:spcAft>
                <a:spcPts val="0"/>
              </a:spcAft>
            </a:pPr>
            <a:r>
              <a:rPr sz="600" b="0">
                <a:solidFill>
                  <a:srgbClr val="475569"/>
                </a:solidFill>
                <a:latin typeface="IPAPGothic"/>
              </a:rPr>
              <a:t>終活関連サービス連携、デジタル遺品対策</a:t>
            </a:r>
          </a:p>
        </p:txBody>
      </p:sp>
      <p:sp>
        <p:nvSpPr>
          <p:cNvPr id="36" name="Rectangle 35"/>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38" name="TextBox 37"/>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39" name="TextBox 38"/>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02920"/>
          </a:xfrm>
          <a:prstGeom prst="rect">
            <a:avLst/>
          </a:prstGeom>
          <a:noFill/>
        </p:spPr>
        <p:txBody>
          <a:bodyPr wrap="square" anchor="ctr"/>
          <a:lstStyle/>
          <a:p>
            <a:pPr algn="l">
              <a:spcBef>
                <a:spcPts val="0"/>
              </a:spcBef>
              <a:spcAft>
                <a:spcPts val="0"/>
              </a:spcAft>
            </a:pPr>
            <a:r>
              <a:rPr sz="9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640080"/>
            <a:ext cx="2743200" cy="228600"/>
          </a:xfrm>
          <a:prstGeom prst="rect">
            <a:avLst/>
          </a:prstGeom>
          <a:noFill/>
        </p:spPr>
        <p:txBody>
          <a:bodyPr wrap="square"/>
          <a:lstStyle/>
          <a:p>
            <a:pPr algn="l">
              <a:spcBef>
                <a:spcPts val="0"/>
              </a:spcBef>
              <a:spcAft>
                <a:spcPts val="0"/>
              </a:spcAft>
            </a:pPr>
            <a:r>
              <a:rPr sz="700" b="1">
                <a:solidFill>
                  <a:srgbClr val="2563EB"/>
                </a:solidFill>
                <a:latin typeface="IPAPGothic"/>
              </a:rPr>
              <a:t>TEAM &amp; INDEPENDENCE</a:t>
            </a:r>
          </a:p>
        </p:txBody>
      </p:sp>
      <p:sp>
        <p:nvSpPr>
          <p:cNvPr id="5" name="Oval 4"/>
          <p:cNvSpPr/>
          <p:nvPr/>
        </p:nvSpPr>
        <p:spPr>
          <a:xfrm>
            <a:off x="457200" y="914400"/>
            <a:ext cx="548640" cy="548640"/>
          </a:xfrm>
          <a:prstGeom prst="ellipse">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 cy="548640"/>
          </a:xfrm>
          <a:prstGeom prst="rect">
            <a:avLst/>
          </a:prstGeom>
          <a:noFill/>
        </p:spPr>
        <p:txBody>
          <a:bodyPr wrap="square" anchor="ctr"/>
          <a:lstStyle/>
          <a:p>
            <a:pPr algn="ctr">
              <a:spcBef>
                <a:spcPts val="0"/>
              </a:spcBef>
              <a:spcAft>
                <a:spcPts val="0"/>
              </a:spcAft>
            </a:pPr>
            <a:r>
              <a:rPr sz="1200" b="1">
                <a:solidFill>
                  <a:srgbClr val="FFFFFF"/>
                </a:solidFill>
                <a:latin typeface="IPAPGothic"/>
              </a:rPr>
              <a:t>佐</a:t>
            </a:r>
          </a:p>
        </p:txBody>
      </p:sp>
      <p:sp>
        <p:nvSpPr>
          <p:cNvPr id="7" name="TextBox 6"/>
          <p:cNvSpPr txBox="1"/>
          <p:nvPr/>
        </p:nvSpPr>
        <p:spPr>
          <a:xfrm>
            <a:off x="1143000" y="914400"/>
            <a:ext cx="6400800" cy="228600"/>
          </a:xfrm>
          <a:prstGeom prst="rect">
            <a:avLst/>
          </a:prstGeom>
          <a:noFill/>
        </p:spPr>
        <p:txBody>
          <a:bodyPr wrap="square"/>
          <a:lstStyle/>
          <a:p>
            <a:pPr algn="l">
              <a:spcBef>
                <a:spcPts val="0"/>
              </a:spcBef>
              <a:spcAft>
                <a:spcPts val="0"/>
              </a:spcAft>
            </a:pPr>
            <a:r>
              <a:rPr sz="800" b="1">
                <a:solidFill>
                  <a:srgbClr val="1E293B"/>
                </a:solidFill>
                <a:latin typeface="IPAPGothic"/>
              </a:rPr>
              <a:t>佐藤卓也 — Universal Need株式会社 代表</a:t>
            </a:r>
          </a:p>
        </p:txBody>
      </p:sp>
      <p:sp>
        <p:nvSpPr>
          <p:cNvPr id="8" name="TextBox 7"/>
          <p:cNvSpPr txBox="1"/>
          <p:nvPr/>
        </p:nvSpPr>
        <p:spPr>
          <a:xfrm>
            <a:off x="1143000" y="1170432"/>
            <a:ext cx="6858000" cy="868680"/>
          </a:xfrm>
          <a:prstGeom prst="rect">
            <a:avLst/>
          </a:prstGeom>
          <a:noFill/>
        </p:spPr>
        <p:txBody>
          <a:bodyPr wrap="square"/>
          <a:lstStyle/>
          <a:p>
            <a:pPr algn="l">
              <a:spcBef>
                <a:spcPts val="0"/>
              </a:spcBef>
              <a:spcAft>
                <a:spcPts val="0"/>
              </a:spcAft>
            </a:pPr>
            <a:r>
              <a:rPr sz="65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9" name="Rectangle 8"/>
          <p:cNvSpPr/>
          <p:nvPr/>
        </p:nvSpPr>
        <p:spPr>
          <a:xfrm>
            <a:off x="1143000" y="2011680"/>
            <a:ext cx="928116"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011680"/>
            <a:ext cx="836676"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元Big4ファーム</a:t>
            </a:r>
          </a:p>
        </p:txBody>
      </p:sp>
      <p:sp>
        <p:nvSpPr>
          <p:cNvPr id="11" name="Rectangle 10"/>
          <p:cNvSpPr/>
          <p:nvPr/>
        </p:nvSpPr>
        <p:spPr>
          <a:xfrm>
            <a:off x="2144268" y="2011680"/>
            <a:ext cx="1472184"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9988" y="2011680"/>
            <a:ext cx="1380744"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半導体エンジニアリング 20年+</a:t>
            </a:r>
          </a:p>
        </p:txBody>
      </p:sp>
      <p:sp>
        <p:nvSpPr>
          <p:cNvPr id="13" name="Rectangle 12"/>
          <p:cNvSpPr/>
          <p:nvPr/>
        </p:nvSpPr>
        <p:spPr>
          <a:xfrm>
            <a:off x="3689604" y="2011680"/>
            <a:ext cx="1083564"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5324" y="2011680"/>
            <a:ext cx="992124"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自治会長（250世帯）</a:t>
            </a:r>
          </a:p>
        </p:txBody>
      </p:sp>
      <p:sp>
        <p:nvSpPr>
          <p:cNvPr id="15" name="Rectangle 14"/>
          <p:cNvSpPr/>
          <p:nvPr/>
        </p:nvSpPr>
        <p:spPr>
          <a:xfrm>
            <a:off x="4846320" y="2011680"/>
            <a:ext cx="1239012"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92040" y="2011680"/>
            <a:ext cx="1147572"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SoulCarrier主宰</a:t>
            </a:r>
          </a:p>
        </p:txBody>
      </p:sp>
      <p:sp>
        <p:nvSpPr>
          <p:cNvPr id="17" name="Rectangle 16"/>
          <p:cNvSpPr/>
          <p:nvPr/>
        </p:nvSpPr>
        <p:spPr>
          <a:xfrm>
            <a:off x="6158484" y="2011680"/>
            <a:ext cx="1005840"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4204" y="2011680"/>
            <a:ext cx="914400"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オフグリッド実証済み</a:t>
            </a:r>
          </a:p>
        </p:txBody>
      </p:sp>
      <p:sp>
        <p:nvSpPr>
          <p:cNvPr id="19" name="Rectangle 18"/>
          <p:cNvSpPr/>
          <p:nvPr/>
        </p:nvSpPr>
        <p:spPr>
          <a:xfrm>
            <a:off x="7237476" y="2011680"/>
            <a:ext cx="1316736" cy="201168"/>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83196" y="2011680"/>
            <a:ext cx="1225296" cy="201168"/>
          </a:xfrm>
          <a:prstGeom prst="rect">
            <a:avLst/>
          </a:prstGeom>
          <a:noFill/>
        </p:spPr>
        <p:txBody>
          <a:bodyPr wrap="square" anchor="ctr"/>
          <a:lstStyle/>
          <a:p>
            <a:pPr algn="ctr">
              <a:spcBef>
                <a:spcPts val="0"/>
              </a:spcBef>
              <a:spcAft>
                <a:spcPts val="0"/>
              </a:spcAft>
            </a:pPr>
            <a:r>
              <a:rPr sz="550" b="0">
                <a:solidFill>
                  <a:srgbClr val="475569"/>
                </a:solidFill>
                <a:latin typeface="IPAPGothic"/>
              </a:rPr>
              <a:t>佐渡島移住予定（2026春）</a:t>
            </a:r>
          </a:p>
        </p:txBody>
      </p:sp>
      <p:sp>
        <p:nvSpPr>
          <p:cNvPr id="21" name="Rectangle 20"/>
          <p:cNvSpPr/>
          <p:nvPr/>
        </p:nvSpPr>
        <p:spPr>
          <a:xfrm>
            <a:off x="457200" y="2377440"/>
            <a:ext cx="7863840" cy="73152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2377440"/>
            <a:ext cx="45720"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432304"/>
            <a:ext cx="7589520" cy="182880"/>
          </a:xfrm>
          <a:prstGeom prst="rect">
            <a:avLst/>
          </a:prstGeom>
          <a:noFill/>
        </p:spPr>
        <p:txBody>
          <a:bodyPr wrap="square"/>
          <a:lstStyle/>
          <a:p>
            <a:pPr algn="l">
              <a:spcBef>
                <a:spcPts val="0"/>
              </a:spcBef>
              <a:spcAft>
                <a:spcPts val="0"/>
              </a:spcAft>
            </a:pPr>
            <a:r>
              <a:rPr sz="700" b="1">
                <a:solidFill>
                  <a:srgbClr val="1E293B"/>
                </a:solidFill>
                <a:latin typeface="IPAPGothic"/>
              </a:rPr>
              <a:t>独立性（Independence）について</a:t>
            </a:r>
          </a:p>
        </p:txBody>
      </p:sp>
      <p:sp>
        <p:nvSpPr>
          <p:cNvPr id="24" name="TextBox 23"/>
          <p:cNvSpPr txBox="1"/>
          <p:nvPr/>
        </p:nvSpPr>
        <p:spPr>
          <a:xfrm>
            <a:off x="640080" y="2633472"/>
            <a:ext cx="7589520" cy="411480"/>
          </a:xfrm>
          <a:prstGeom prst="rect">
            <a:avLst/>
          </a:prstGeom>
          <a:noFill/>
        </p:spPr>
        <p:txBody>
          <a:bodyPr wrap="square"/>
          <a:lstStyle/>
          <a:p>
            <a:pPr algn="l">
              <a:spcBef>
                <a:spcPts val="0"/>
              </a:spcBef>
              <a:spcAft>
                <a:spcPts val="0"/>
              </a:spcAft>
            </a:pPr>
            <a:r>
              <a:rPr sz="65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5" name="Rectangle 24"/>
          <p:cNvSpPr/>
          <p:nvPr/>
        </p:nvSpPr>
        <p:spPr>
          <a:xfrm>
            <a:off x="0" y="4823460"/>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48860"/>
            <a:ext cx="3657600" cy="256032"/>
          </a:xfrm>
          <a:prstGeom prst="rect">
            <a:avLst/>
          </a:prstGeom>
          <a:noFill/>
        </p:spPr>
        <p:txBody>
          <a:bodyPr wrap="square"/>
          <a:lstStyle/>
          <a:p>
            <a:pPr algn="l">
              <a:spcBef>
                <a:spcPts val="0"/>
              </a:spcBef>
              <a:spcAft>
                <a:spcPts val="0"/>
              </a:spcAft>
            </a:pPr>
            <a:r>
              <a:rPr sz="650" b="0">
                <a:solidFill>
                  <a:srgbClr val="94A3B8"/>
                </a:solidFill>
                <a:latin typeface="IPAPGothic"/>
              </a:rPr>
              <a:t>TokiStorage — 協業提案</a:t>
            </a:r>
          </a:p>
        </p:txBody>
      </p:sp>
      <p:sp>
        <p:nvSpPr>
          <p:cNvPr id="27" name="TextBox 26"/>
          <p:cNvSpPr txBox="1"/>
          <p:nvPr/>
        </p:nvSpPr>
        <p:spPr>
          <a:xfrm>
            <a:off x="3657600" y="4848860"/>
            <a:ext cx="1828800" cy="256032"/>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28" name="TextBox 27"/>
          <p:cNvSpPr txBox="1"/>
          <p:nvPr/>
        </p:nvSpPr>
        <p:spPr>
          <a:xfrm>
            <a:off x="8229600" y="4848860"/>
            <a:ext cx="457200" cy="256032"/>
          </a:xfrm>
          <a:prstGeom prst="rect">
            <a:avLst/>
          </a:prstGeom>
          <a:noFill/>
        </p:spPr>
        <p:txBody>
          <a:bodyPr wrap="square"/>
          <a:lstStyle/>
          <a:p>
            <a:pPr algn="r">
              <a:spcBef>
                <a:spcPts val="0"/>
              </a:spcBef>
              <a:spcAft>
                <a:spcPts val="0"/>
              </a:spcAft>
            </a:pPr>
            <a:r>
              <a:rPr sz="65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2743200" cy="320040"/>
          </a:xfrm>
          <a:prstGeom prst="rect">
            <a:avLst/>
          </a:prstGeom>
          <a:noFill/>
        </p:spPr>
        <p:txBody>
          <a:bodyPr wrap="square"/>
          <a:lstStyle/>
          <a:p>
            <a:pPr algn="l">
              <a:spcBef>
                <a:spcPts val="0"/>
              </a:spcBef>
              <a:spcAft>
                <a:spcPts val="0"/>
              </a:spcAft>
            </a:pPr>
            <a:r>
              <a:rPr sz="900" b="1">
                <a:solidFill>
                  <a:srgbClr val="FFFFFF"/>
                </a:solidFill>
                <a:latin typeface="IPAPGothic"/>
              </a:rPr>
              <a:t>Next Step</a:t>
            </a:r>
          </a:p>
        </p:txBody>
      </p:sp>
      <p:sp>
        <p:nvSpPr>
          <p:cNvPr id="4" name="TextBox 3"/>
          <p:cNvSpPr txBox="1"/>
          <p:nvPr/>
        </p:nvSpPr>
        <p:spPr>
          <a:xfrm>
            <a:off x="914400" y="1371600"/>
            <a:ext cx="7315200" cy="914400"/>
          </a:xfrm>
          <a:prstGeom prst="rect">
            <a:avLst/>
          </a:prstGeom>
          <a:noFill/>
        </p:spPr>
        <p:txBody>
          <a:bodyPr wrap="square"/>
          <a:lstStyle/>
          <a:p>
            <a:pPr algn="ctr">
              <a:spcBef>
                <a:spcPts val="0"/>
              </a:spcBef>
              <a:spcAft>
                <a:spcPts val="0"/>
              </a:spcAft>
            </a:pPr>
            <a:r>
              <a:rPr sz="1800" b="1">
                <a:solidFill>
                  <a:srgbClr val="FFFFFF"/>
                </a:solidFill>
                <a:latin typeface="IPAPGothic"/>
              </a:rPr>
              <a:t>まずは30分、お話ししませんか。</a:t>
            </a:r>
          </a:p>
        </p:txBody>
      </p:sp>
      <p:sp>
        <p:nvSpPr>
          <p:cNvPr id="5" name="TextBox 4"/>
          <p:cNvSpPr txBox="1"/>
          <p:nvPr/>
        </p:nvSpPr>
        <p:spPr>
          <a:xfrm>
            <a:off x="1371600" y="2560320"/>
            <a:ext cx="6400800" cy="914400"/>
          </a:xfrm>
          <a:prstGeom prst="rect">
            <a:avLst/>
          </a:prstGeom>
          <a:noFill/>
        </p:spPr>
        <p:txBody>
          <a:bodyPr wrap="square"/>
          <a:lstStyle/>
          <a:p>
            <a:pPr algn="ctr">
              <a:spcBef>
                <a:spcPts val="0"/>
              </a:spcBef>
              <a:spcAft>
                <a:spcPts val="0"/>
              </a:spcAft>
            </a:pPr>
            <a:r>
              <a:rPr sz="900" b="0">
                <a:solidFill>
                  <a:srgbClr val="BBBBCC"/>
                </a:solidFill>
                <a:latin typeface="IPAPGothic"/>
              </a:rPr>
              <a:t>提携の形は柔軟に設計できます。
貴社クライアントの具体的な課題から逆算して、
一緒に最適なモデルを見つけましょう。</a:t>
            </a:r>
          </a:p>
        </p:txBody>
      </p:sp>
      <p:sp>
        <p:nvSpPr>
          <p:cNvPr id="6" name="Rectangle 5"/>
          <p:cNvSpPr/>
          <p:nvPr/>
        </p:nvSpPr>
        <p:spPr>
          <a:xfrm>
            <a:off x="0" y="465886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86300"/>
            <a:ext cx="3657600" cy="274320"/>
          </a:xfrm>
          <a:prstGeom prst="rect">
            <a:avLst/>
          </a:prstGeom>
          <a:noFill/>
        </p:spPr>
        <p:txBody>
          <a:bodyPr wrap="square"/>
          <a:lstStyle/>
          <a:p>
            <a:pPr algn="l">
              <a:spcBef>
                <a:spcPts val="0"/>
              </a:spcBef>
              <a:spcAft>
                <a:spcPts val="0"/>
              </a:spcAft>
            </a:pPr>
            <a:r>
              <a:rPr sz="650" b="0">
                <a:solidFill>
                  <a:srgbClr val="94A3B8"/>
                </a:solidFill>
                <a:latin typeface="IPAPGothic"/>
              </a:rPr>
              <a:t>Universal Need株式会社 — TokiStorage</a:t>
            </a:r>
          </a:p>
        </p:txBody>
      </p:sp>
      <p:sp>
        <p:nvSpPr>
          <p:cNvPr id="8" name="TextBox 7"/>
          <p:cNvSpPr txBox="1"/>
          <p:nvPr/>
        </p:nvSpPr>
        <p:spPr>
          <a:xfrm>
            <a:off x="3657600" y="4686300"/>
            <a:ext cx="1828800" cy="274320"/>
          </a:xfrm>
          <a:prstGeom prst="rect">
            <a:avLst/>
          </a:prstGeom>
          <a:noFill/>
        </p:spPr>
        <p:txBody>
          <a:bodyPr wrap="square"/>
          <a:lstStyle/>
          <a:p>
            <a:pPr algn="ctr">
              <a:spcBef>
                <a:spcPts val="0"/>
              </a:spcBef>
              <a:spcAft>
                <a:spcPts val="0"/>
              </a:spcAft>
            </a:pPr>
            <a:r>
              <a:rPr sz="650" b="0">
                <a:solidFill>
                  <a:srgbClr val="94A3B8"/>
                </a:solidFill>
                <a:latin typeface="IPAPGothic"/>
              </a:rPr>
              <a:t>Confidential</a:t>
            </a:r>
          </a:p>
        </p:txBody>
      </p:sp>
      <p:sp>
        <p:nvSpPr>
          <p:cNvPr id="9" name="TextBox 8"/>
          <p:cNvSpPr txBox="1"/>
          <p:nvPr/>
        </p:nvSpPr>
        <p:spPr>
          <a:xfrm>
            <a:off x="8229600" y="4686300"/>
            <a:ext cx="457200" cy="274320"/>
          </a:xfrm>
          <a:prstGeom prst="rect">
            <a:avLst/>
          </a:prstGeom>
          <a:noFill/>
        </p:spPr>
        <p:txBody>
          <a:bodyPr wrap="square"/>
          <a:lstStyle/>
          <a:p>
            <a:pPr algn="r">
              <a:spcBef>
                <a:spcPts val="0"/>
              </a:spcBef>
              <a:spcAft>
                <a:spcPts val="0"/>
              </a:spcAft>
            </a:pPr>
            <a:r>
              <a:rPr sz="650" b="1">
                <a:solidFill>
                  <a:srgbClr val="94A3B8"/>
                </a:solidFill>
                <a:latin typeface="IPAPGothic"/>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